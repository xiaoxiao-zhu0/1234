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市场规模</c:f>
              <c:strCache>
                <c:ptCount val="1"/>
                <c:pt idx="0">
                  <c:v>市场规模</c:v>
                </c:pt>
              </c:strCache>
            </c:strRef>
          </c:tx>
          <c:spPr>
            <a:solidFill>
              <a:srgbClr val="0B7880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{"2019","2024","2029E"}</c:f>
              <c:strCache>
                <c:ptCount val="3"/>
                <c:pt idx="0">
                  <c:v>2019</c:v>
                </c:pt>
                <c:pt idx="1">
                  <c:v>2024</c:v>
                </c:pt>
                <c:pt idx="2">
                  <c:v>2029E</c:v>
                </c:pt>
              </c:strCache>
            </c:strRef>
          </c:cat>
          <c:val>
            <c:numRef>
              <c:f>{151.8,650.68,1710.5}</c:f>
              <c:numCache>
                <c:formatCode>General</c:formatCode>
                <c:ptCount val="3"/>
                <c:pt idx="0">
                  <c:v>151.8</c:v>
                </c:pt>
                <c:pt idx="1">
                  <c:v>650.68</c:v>
                </c:pt>
                <c:pt idx="2">
                  <c:v>1710.5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DE6E1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da1e335b-4dce-484b-9281-689264454e1b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ER经验回放</c:f>
              <c:strCache>
                <c:ptCount val="1"/>
                <c:pt idx="0">
                  <c:v>ER经验回放</c:v>
                </c:pt>
              </c:strCache>
            </c:strRef>
          </c:tx>
          <c:spPr>
            <a:solidFill>
              <a:srgbClr val="A8B7A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{"最终识别率","平均遗忘率"}</c:f>
              <c:strCache>
                <c:ptCount val="2"/>
                <c:pt idx="0">
                  <c:v>最终识别率</c:v>
                </c:pt>
                <c:pt idx="1">
                  <c:v>平均遗忘率</c:v>
                </c:pt>
              </c:strCache>
            </c:strRef>
          </c:cat>
          <c:val>
            <c:numRef>
              <c:f>{31.48,51.32}</c:f>
              <c:numCache>
                <c:formatCode>General</c:formatCode>
                <c:ptCount val="2"/>
                <c:pt idx="0">
                  <c:v>31.48</c:v>
                </c:pt>
                <c:pt idx="1">
                  <c:v>51.32</c:v>
                </c:pt>
              </c:numCache>
            </c:numRef>
          </c:val>
        </c:ser>
        <c:ser>
          <c:idx val="1"/>
          <c:order val="1"/>
          <c:tx>
            <c:strRef>
              <c:f>三层稳健知识回放</c:f>
              <c:strCache>
                <c:ptCount val="1"/>
                <c:pt idx="0">
                  <c:v>三层稳健知识回放</c:v>
                </c:pt>
              </c:strCache>
            </c:strRef>
          </c:tx>
          <c:spPr>
            <a:solidFill>
              <a:srgbClr val="1F8B59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{"最终识别率","平均遗忘率"}</c:f>
              <c:strCache>
                <c:ptCount val="2"/>
                <c:pt idx="0">
                  <c:v>最终识别率</c:v>
                </c:pt>
                <c:pt idx="1">
                  <c:v>平均遗忘率</c:v>
                </c:pt>
              </c:strCache>
            </c:strRef>
          </c:cat>
          <c:val>
            <c:numRef>
              <c:f>{43.59,32.09}</c:f>
              <c:numCache>
                <c:formatCode>General</c:formatCode>
                <c:ptCount val="2"/>
                <c:pt idx="0">
                  <c:v>43.59</c:v>
                </c:pt>
                <c:pt idx="1">
                  <c:v>32.09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BD8D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1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75" b="0" i="0" u="none" strike="noStrike" kern="1200" baseline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5722fa2-0d4b-4ec5-9622-6bb2de1f05e4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positioning and prototype: D:/Desktop/北斗智巡/beidou_competition_shared</a:t>
            </a:r>
          </a:p>
          <a:p>
            <a:r>
              <a:t>- Cover image: https://commons.wikimedia.org/wiki/File:Aerial_view_of_Porvoo_Ilola_electricity_pylons.jpg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- 2024 Government Work Report screenshot and claim: https://www.gov.cn/yaowen/liebiao/202403/content_6939153.htm</a:t>
            </a:r>
          </a:p>
          <a:p>
            <a:r>
              <a:t>- General Aviation Equipment Innovation Application Implementation Plan (2024-2030): https://www.gov.cn/zhengce/zhengceku/202403/content_6942115.htm</a:t>
            </a:r>
          </a:p>
          <a:p>
            <a:r>
              <a:t>- 中国卫星导航定位协会：《2024中国卫星导航与位置服务产业发展白皮书》；2023年产业总体产值5362亿元。</a:t>
            </a:r>
          </a:p>
          <a:p>
            <a:r>
              <a:t>- Boundary: macro figures describe the policy and industry window, not this project's directly addressable market.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市场规模与增速：D:/Program Files (x86)/xwechat_files/wxid_2ntrnvxgy2sy22_cae2/msg/file/2026-08/无人机市场规模(2).docx；原标注来源为弗若斯特沙利文、锐观咨询整理。</a:t>
            </a:r>
          </a:p>
          <a:p>
            <a:r>
              <a:t>- 电力采购案例：国网智能科技股份有限公司配电线路无人机巡检服务项目招标公告，招标编号 SGAI2411-0924-FWKJZB-ZY07。</a:t>
            </a:r>
          </a:p>
          <a:p>
            <a:r>
              <a:t>- 跨行业采购案例：中国政府采购网《长江水域岸线低空无人机智能巡检中标公告》，项目编号 JSZC-320000-XHNJ-G2025-0004。</a:t>
            </a:r>
          </a:p>
          <a:p>
            <a:r>
              <a:t>- Boundary: market figures describe the industry context, not this project's directly addressable revenue.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VisDrone public aerial sample: D:\Desktop\北斗智巡\beidou_competition_shared\assets\aerial\visdrone-road-observation.jpg</a:t>
            </a:r>
          </a:p>
          <a:p>
            <a:r>
              <a:t>- Mountain landslide and construction-zone public aerial images: D:/Desktop/北斗智巡/beidou_competition_shared/assets/aerial/README_CN.md</a:t>
            </a:r>
          </a:p>
          <a:p>
            <a:r>
              <a:t>- Project problem framing and audited result boundary: D:/Desktop/北斗智巡/beidou_competition_shared/data_contract/public_result.json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https://commons.wikimedia.org/wiki/File:Aerial_view_of_Porvoo_Ilola_electricity_pylons.jpg</a:t>
            </a:r>
          </a:p>
          <a:p>
            <a:r>
              <a:t>- https://commons.wikimedia.org/wiki/File:Mud_Creek_Landslide_(southeast_of_Gorda,_California,_USA).jpg</a:t>
            </a:r>
          </a:p>
          <a:p>
            <a:r>
              <a:t>- https://commons.wikimedia.org/wiki/File:Aerial_perspective_of_the_bridge_across_Dongshan_river.jpg</a:t>
            </a:r>
          </a:p>
          <a:p>
            <a:r>
              <a:t>- https://commons.wikimedia.org/wiki/File:Aerial_photo_of_construction_site_of_Akabanedai_tunnel.jpg</a:t>
            </a:r>
          </a:p>
          <a:p>
            <a:r>
              <a:t>- Asset provenance: D:/Desktop/北斗智巡/beidou_competition_shared/assets/aerial/README_CN.md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Workflow content follows the project data contract: D:/Desktop/北斗智巡/beidou_competition_shared/data_contract/public_result.json.</a:t>
            </a:r>
          </a:p>
          <a:p>
            <a:r>
              <a:t>- Updated frontend captured from http://127.0.0.1:8766/frontend/index.html on 2026-08-06.</a:t>
            </a:r>
          </a:p>
          <a:p>
            <a:r>
              <a:t>- VisDrone aerial imagery and the formal diagnostic report are project-local evidence assets.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VisDrone public aerial sample: D:\Desktop\北斗智巡\beidou_competition_shared\assets\aerial\visdrone-parking-observation.jpg</a:t>
            </a:r>
          </a:p>
          <a:p>
            <a:r>
              <a:t>- BeiDou-3 satellite mockup: https://commons.wikimedia.org/wiki/File:Beidou-3_Satellite_Mockup.jpg (CC BY-SA 4.0, AKAMGO yalms).</a:t>
            </a:r>
          </a:p>
          <a:p>
            <a:r>
              <a:t>- Project Beidou/AI technical boundary: D:/Desktop/北斗智巡/beidou_competition_shared/data_contract/public_result.json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private algorithm design summary. Public-facing name: 三层稳健知识回放.</a:t>
            </a:r>
          </a:p>
          <a:p>
            <a:r>
              <a:t>- Audited public result: D:/Desktop/北斗智巡/beidou_competition_shared/data_contract/public_result.json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Innovation claims are bounded by the audited result contract: D:/Desktop/北斗智巡/beidou_competition_shared/data_contract/public_result.json.</a:t>
            </a:r>
          </a:p>
          <a:p>
            <a:r>
              <a:t>- Visual evidence uses the project route map, formal diagnostic report and system framework.</a:t>
            </a:r>
          </a:p>
          <a:p>
            <a:r>
              <a:t>- Dynamic location-budget training improvement remains a planned deeper validation item.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Updated frontend route map captured from http://127.0.0.1:8766/frontend/index.html on 2026-08-06.</a:t>
            </a:r>
          </a:p>
          <a:p>
            <a:r>
              <a:t>- Prototype data source: D:/Desktop/北斗智巡/beidou_competition_shared/data_contract/public_result.json.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Audited experiment result: D:/Desktop/北斗智巡/beidou_competition_shared/data_contract/public_result.json</a:t>
            </a:r>
          </a:p>
          <a:p>
            <a:r>
              <a:t>- ER accuracy 31.4811%; three-layer method 43.5945%; average forgetting 51.3232% vs 32.0917%.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Customer and commercialization statements are project planning assumptions, not signed contracts or realized revenue.</a:t>
            </a:r>
          </a:p>
          <a:p>
            <a:r>
              <a:t>- Procurement-path evidence is summarized from the user-provided market material: D:/Program Files (x86)/xwechat_files/wxid_2ntrnvxgy2sy22_cae2/msg/file/2026-08/无人机市场规模(2).docx.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Current evidence status: D:/Desktop/北斗智巡/beidou_competition_shared/data_contract/public_result.json.</a:t>
            </a:r>
          </a:p>
          <a:p>
            <a:r>
              <a:t>- Updated frontend captured from http://127.0.0.1:8766/frontend/index.html on 2026-08-06.</a:t>
            </a:r>
          </a:p>
          <a:p>
            <a:r>
              <a:t>- Future-stage aerial images are target-scene illustrations, not completed customer deployments.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13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4.xml"/><Relationship Id="rId27" Type="http://schemas.openxmlformats.org/officeDocument/2006/relationships/image" Target="../media/image26.jpeg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image" Target="../media/image25.jpeg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image" Target="../media/image24.png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image" Target="../media/image20.pn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F8B59"/>
          </a:solidFill>
          <a:ln w="0">
            <a:solidFill>
              <a:srgbClr val="1F8B59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4953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第十五届中国创新创业大赛 · 北斗时空信息专业赛</a:t>
            </a:r>
            <a:endParaRPr sz="1200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466850"/>
            <a:ext cx="4857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2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北斗巡知</a:t>
            </a:r>
            <a:endParaRPr sz="42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3638550"/>
            <a:ext cx="48101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面向低空持续巡检的时空局部诊断与模型持续更新平台</a:t>
            </a:r>
            <a:endParaRPr sz="172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4857750"/>
            <a:ext cx="4476750" cy="9525"/>
          </a:xfrm>
          <a:prstGeom prst="rect">
            <a:avLst/>
          </a:prstGeom>
          <a:solidFill>
            <a:srgbClr val="CBD8D0"/>
          </a:solidFill>
          <a:ln w="0">
            <a:solidFill>
              <a:srgbClr val="CBD8D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51244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首个应用场景：输电走廊通道风险巡检</a:t>
            </a:r>
            <a:endParaRPr sz="135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l="18750" r="18750"/>
          <a:stretch>
            <a:fillRect/>
          </a:stretch>
        </p:blipFill>
        <p:spPr>
          <a:xfrm>
            <a:off x="5905500" y="400050"/>
            <a:ext cx="5810250" cy="5810250"/>
          </a:xfrm>
          <a:prstGeom prst="round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00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9FD2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FD2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政策原文证据</a:t>
            </a:r>
            <a:endParaRPr sz="975" b="1">
              <a:solidFill>
                <a:srgbClr val="9FD2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政策不是背景装饰：低空经济与通航装备已进入国家部署</a:t>
            </a:r>
            <a:endParaRPr sz="27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8FB2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FB2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0">
              <a:solidFill>
                <a:srgbClr val="8FB2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67650" y="17335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endParaRPr sz="1050" b="1">
              <a:solidFill>
                <a:srgbClr val="83C9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67650" y="2162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低空经济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67650" y="2552700"/>
            <a:ext cx="1695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首次写入政府工作报告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列为新的增长引擎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696450" y="17335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2030</a:t>
            </a:r>
            <a:endParaRPr sz="1050" b="1">
              <a:solidFill>
                <a:srgbClr val="83C9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696450" y="2162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万亿元级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696450" y="2552700"/>
            <a:ext cx="1695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通航装备形成万亿元级市场规模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67650" y="36385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5362亿</a:t>
            </a:r>
            <a:endParaRPr sz="1050" b="1">
              <a:solidFill>
                <a:srgbClr val="83C9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67650" y="4067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北斗产业基础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67650" y="4457700"/>
            <a:ext cx="1695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2023年卫星导航与位置服务产业产值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696450" y="36385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首个场景</a:t>
            </a:r>
            <a:endParaRPr sz="1050" b="1">
              <a:solidFill>
                <a:srgbClr val="83C9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696450" y="4067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电力巡检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696450" y="4457700"/>
            <a:ext cx="1695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高频、跨区域、结果可进入任务闭环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16002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两份国家文件原文</a:t>
            </a:r>
            <a:endParaRPr sz="1350" b="1">
              <a:solidFill>
                <a:srgbClr val="83C9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483870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1429"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左：2024年政府工作报告  |  右：通用航空装备创新应用实施方案（2024—2030年）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5350" y="590550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0">
                <a:solidFill>
                  <a:srgbClr val="CBE1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BE1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宏观产业规模说明政策与产业窗口，不等同于本项目可直接获得的市场规模。</a:t>
            </a:r>
            <a:endParaRPr sz="1575" b="0">
              <a:solidFill>
                <a:srgbClr val="CBE1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368323"/>
            <a:ext cx="3143250" cy="1721304"/>
          </a:xfrm>
          <a:prstGeom prst="roundRect">
            <a:avLst>
              <a:gd name="adj" fmla="val 2400"/>
            </a:avLst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2330904"/>
            <a:ext cx="3143250" cy="1796143"/>
          </a:xfrm>
          <a:prstGeom prst="roundRect">
            <a:avLst>
              <a:gd name="adj" fmla="val 2400"/>
            </a:avLst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552450" y="4419600"/>
            <a:ext cx="3143250" cy="247650"/>
          </a:xfrm>
          <a:prstGeom prst="rect">
            <a:avLst/>
          </a:prstGeom>
          <a:solidFill>
            <a:srgbClr val="C83B32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中国政府网 · 政府工作报告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095750" y="4419600"/>
            <a:ext cx="3143250" cy="247650"/>
          </a:xfrm>
          <a:prstGeom prst="rect">
            <a:avLst/>
          </a:prstGeom>
          <a:solidFill>
            <a:srgbClr val="0B7880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中国政府网 · 四部门联合文件</a:t>
            </a:r>
            <a:endParaRPr sz="8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市场与采购验证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市场增长不是空泛概念：工业级无人机与巡检采购同步扩张</a:t>
            </a:r>
            <a:endParaRPr sz="29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16573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342B"/>
                </a:solidFill>
              </a:defRPr>
            </a:pPr>
            <a:r>
              <a:rPr sz="1350" b="1">
                <a:solidFill>
                  <a:srgbClr val="0B342B"/>
                </a:solidFill>
              </a:rPr>
              <a:t>工业级无人机市场规模（亿元）</a:t>
            </a:r>
            <a:endParaRPr sz="1350" b="1">
              <a:solidFill>
                <a:srgbClr val="0B342B"/>
              </a:solidFill>
            </a:endParaRPr>
          </a:p>
        </p:txBody>
      </p:sp>
      <p:graphicFrame>
        <p:nvGraphicFramePr>
          <p:cNvPr id="28" name="Chart"/>
          <p:cNvGraphicFramePr/>
          <p:nvPr/>
        </p:nvGraphicFramePr>
        <p:xfrm>
          <a:off x="552450" y="2038350"/>
          <a:ext cx="5334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矩形 16"/>
          <p:cNvSpPr>
            <a:spLocks noGrp="1"/>
          </p:cNvSpPr>
          <p:nvPr/>
        </p:nvSpPr>
        <p:spPr>
          <a:xfrm>
            <a:off x="723900" y="49911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08E59"/>
                </a:solidFill>
              </a:defRPr>
            </a:pPr>
            <a:r>
              <a:rPr sz="1350" b="1">
                <a:solidFill>
                  <a:srgbClr val="208E59"/>
                </a:solidFill>
              </a:rPr>
              <a:t>151.8亿 → 650.68亿 → 1710.5亿（2029E）</a:t>
            </a:r>
            <a:endParaRPr sz="1350" b="1">
              <a:solidFill>
                <a:srgbClr val="208E5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5353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67C75"/>
                </a:solidFill>
              </a:defRPr>
            </a:pPr>
            <a:r>
              <a:rPr sz="825" b="0">
                <a:solidFill>
                  <a:srgbClr val="667C75"/>
                </a:solidFill>
              </a:rPr>
              <a:t>2019-2024年复合增长率约33.79%；数据来源：弗若斯特沙利文，锐观咨询整理</a:t>
            </a:r>
            <a:endParaRPr sz="825" b="0">
              <a:solidFill>
                <a:srgbClr val="667C75"/>
              </a:solidFill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210" y="1752600"/>
            <a:ext cx="2543880" cy="1466850"/>
          </a:xfrm>
          <a:prstGeom prst="roundRect">
            <a:avLst>
              <a:gd name="adj" fmla="val 3896"/>
            </a:avLst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6438900" y="2990850"/>
            <a:ext cx="4762500" cy="228600"/>
          </a:xfrm>
          <a:prstGeom prst="rect">
            <a:avLst/>
          </a:prstGeom>
          <a:solidFill>
            <a:srgbClr val="B85E26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国网配电线路无人机巡检招标：RTK + 可见光 + 红外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040" y="3448050"/>
            <a:ext cx="1730220" cy="1466850"/>
          </a:xfrm>
          <a:prstGeom prst="roundRect">
            <a:avLst>
              <a:gd name="adj" fmla="val 3896"/>
            </a:avLst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6438900" y="4686300"/>
            <a:ext cx="4762500" cy="228600"/>
          </a:xfrm>
          <a:prstGeom prst="rect">
            <a:avLst/>
          </a:prstGeom>
          <a:solidFill>
            <a:srgbClr val="0B7880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长江水域岸线智能巡检采购：监测岸线不少于80km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38900" y="5219700"/>
            <a:ext cx="476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B342B"/>
                </a:solidFill>
              </a:defRPr>
            </a:pPr>
            <a:r>
              <a:rPr sz="1275" b="1">
                <a:solidFill>
                  <a:srgbClr val="0B342B"/>
                </a:solidFill>
              </a:rPr>
              <a:t>宏观市场说明行业在增长，公开采购说明客户正在付费；本项目切入的是巡检软件与持续学习能力，不是无人机整机。</a:t>
            </a:r>
            <a:endParaRPr sz="1275" b="1">
              <a:solidFill>
                <a:srgbClr val="0B342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业务痛点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一次巡检越飞越久，模型会在局部区域先失效</a:t>
            </a:r>
            <a:endParaRPr sz="29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504950"/>
            <a:ext cx="776351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391"/>
          </a:bodyPr>
          <a:lstStyle/>
          <a:p>
            <a:pPr algn="l">
              <a:buNone/>
              <a:def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持续巡检同时面临新类别、跨区域漂移与有限回放预算</a:t>
            </a:r>
            <a:endParaRPr sz="29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2098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传统模型通常先在某些地点失效，而不是所有区域同时下降。</a:t>
            </a:r>
            <a:endParaRPr sz="16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3390900" y="3876675"/>
            <a:ext cx="809625" cy="152400"/>
          </a:xfrm>
          <a:prstGeom prst="rightArrow">
            <a:avLst/>
          </a:prstGeom>
          <a:solidFill>
            <a:srgbClr val="B9CDC0"/>
          </a:solidFill>
          <a:ln w="0">
            <a:solidFill>
              <a:srgbClr val="B9CDC0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7315200" y="3876675"/>
            <a:ext cx="809625" cy="152400"/>
          </a:xfrm>
          <a:prstGeom prst="rightArrow">
            <a:avLst/>
          </a:prstGeom>
          <a:solidFill>
            <a:srgbClr val="B9CDC0"/>
          </a:solidFill>
          <a:ln w="0">
            <a:solidFill>
              <a:srgbClr val="B9CDC0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47700" y="3276600"/>
            <a:ext cx="2724150" cy="1428750"/>
          </a:xfrm>
          <a:prstGeom prst="roundRect">
            <a:avLst>
              <a:gd name="adj" fmla="val 4000"/>
            </a:avLst>
          </a:prstGeom>
          <a:solidFill>
            <a:srgbClr val="F3F6F2"/>
          </a:solidFill>
          <a:ln w="9525">
            <a:solidFill>
              <a:srgbClr val="CBD8D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4133850"/>
            <a:ext cx="2305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新类别持续出现</a:t>
            </a:r>
            <a:endParaRPr sz="165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车辆、施工目标陆续加入</a:t>
            </a:r>
            <a:endParaRPr sz="165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210050" y="3276600"/>
            <a:ext cx="3086100" cy="142875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9525">
            <a:solidFill>
              <a:srgbClr val="9CC7A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19600" y="4133850"/>
            <a:ext cx="266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同类跨区发生漂移</a:t>
            </a:r>
            <a:endParaRPr sz="165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光照、视角与定位噪声</a:t>
            </a:r>
            <a:endParaRPr sz="165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134350" y="3276600"/>
            <a:ext cx="3124200" cy="1428750"/>
          </a:xfrm>
          <a:prstGeom prst="roundRect">
            <a:avLst>
              <a:gd name="adj" fmla="val 4000"/>
            </a:avLst>
          </a:prstGeom>
          <a:solidFill>
            <a:srgbClr val="083727"/>
          </a:solidFill>
          <a:ln w="9525">
            <a:solidFill>
              <a:srgbClr val="08372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343900" y="4133850"/>
            <a:ext cx="2705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历史知识被覆盖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均匀回放忽略重点区域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4350" y="53911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因此必须看分区域遗忘率：全局准确率正常，也可能掩盖山区、边坡和施工区的局部失效。</a:t>
            </a:r>
            <a:endParaRPr sz="18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rcRect t="15473" b="15473"/>
          <a:stretch>
            <a:fillRect/>
          </a:stretch>
        </p:blipFill>
        <p:spPr>
          <a:xfrm>
            <a:off x="857250" y="3143250"/>
            <a:ext cx="2305050" cy="895350"/>
          </a:xfrm>
          <a:prstGeom prst="roundRect">
            <a:avLst>
              <a:gd name="adj" fmla="val 6383"/>
            </a:avLst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857250" y="3810000"/>
            <a:ext cx="2305050" cy="228600"/>
          </a:xfrm>
          <a:prstGeom prst="rect">
            <a:avLst/>
          </a:prstGeom>
          <a:solidFill>
            <a:srgbClr val="0B342B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公开航拍样例｜车辆类别持续进入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rcRect t="27171" b="27171"/>
          <a:stretch>
            <a:fillRect/>
          </a:stretch>
        </p:blipFill>
        <p:spPr>
          <a:xfrm>
            <a:off x="4419600" y="3143250"/>
            <a:ext cx="2667000" cy="895350"/>
          </a:xfrm>
          <a:prstGeom prst="roundRect">
            <a:avLst>
              <a:gd name="adj" fmla="val 6383"/>
            </a:avLst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4419600" y="3810000"/>
            <a:ext cx="2667000" cy="228600"/>
          </a:xfrm>
          <a:prstGeom prst="rect">
            <a:avLst/>
          </a:prstGeom>
          <a:solidFill>
            <a:srgbClr val="0B7880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山区边坡｜地貌与视角显著变化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rcRect t="29972" b="29972"/>
          <a:stretch>
            <a:fillRect/>
          </a:stretch>
        </p:blipFill>
        <p:spPr>
          <a:xfrm>
            <a:off x="8343900" y="3143250"/>
            <a:ext cx="2705100" cy="895350"/>
          </a:xfrm>
          <a:prstGeom prst="roundRect">
            <a:avLst>
              <a:gd name="adj" fmla="val 6383"/>
            </a:avLst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8343900" y="3810000"/>
            <a:ext cx="2705100" cy="228600"/>
          </a:xfrm>
          <a:prstGeom prst="rect">
            <a:avLst/>
          </a:prstGeom>
          <a:solidFill>
            <a:srgbClr val="0B342B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施工区域｜高风险样本更稀少</a:t>
            </a:r>
            <a:endParaRPr sz="8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rcRect t="20909" b="20909"/>
          <a:stretch>
            <a:fillRect/>
          </a:stretch>
        </p:blipFill>
        <p:spPr>
          <a:xfrm>
            <a:off x="666750" y="2564765"/>
            <a:ext cx="2007870" cy="914400"/>
          </a:xfrm>
          <a:prstGeom prst="roundRect">
            <a:avLst>
              <a:gd name="adj" fmla="val 6250"/>
            </a:avLst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2"/>
          <a:srcRect b="41528"/>
          <a:stretch>
            <a:fillRect/>
          </a:stretch>
        </p:blipFill>
        <p:spPr>
          <a:xfrm>
            <a:off x="6080125" y="2567940"/>
            <a:ext cx="2118995" cy="1038225"/>
          </a:xfrm>
          <a:prstGeom prst="roundRect">
            <a:avLst>
              <a:gd name="adj" fmla="val 6250"/>
            </a:avLst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b="15424"/>
          <a:stretch>
            <a:fillRect/>
          </a:stretch>
        </p:blipFill>
        <p:spPr>
          <a:xfrm>
            <a:off x="8801100" y="2516505"/>
            <a:ext cx="2109470" cy="103886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系统把一次无人机巡检变成可执行的诊断闭环</a:t>
            </a:r>
            <a:endParaRPr sz="29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37160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北斗记录每帧时间与位置，AI识别沿线目标，平台定位模型薄弱区域并生成复飞与更新建议。</a:t>
            </a:r>
            <a:endParaRPr sz="187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>
            <a:off x="2667000" y="3171825"/>
            <a:ext cx="619125" cy="133350"/>
          </a:xfrm>
          <a:prstGeom prst="rightArrow">
            <a:avLst/>
          </a:prstGeom>
          <a:solidFill>
            <a:srgbClr val="BDD1C3"/>
          </a:solidFill>
          <a:ln w="0">
            <a:solidFill>
              <a:srgbClr val="BDD1C3"/>
            </a:solidFill>
            <a:prstDash val="solid"/>
          </a:ln>
        </p:spPr>
      </p:sp>
      <p:sp>
        <p:nvSpPr>
          <p:cNvPr id="6" name="右箭头 5"/>
          <p:cNvSpPr>
            <a:spLocks noGrp="1"/>
          </p:cNvSpPr>
          <p:nvPr/>
        </p:nvSpPr>
        <p:spPr>
          <a:xfrm>
            <a:off x="5410200" y="3171825"/>
            <a:ext cx="619125" cy="133350"/>
          </a:xfrm>
          <a:prstGeom prst="rightArrow">
            <a:avLst/>
          </a:prstGeom>
          <a:solidFill>
            <a:srgbClr val="BDD1C3"/>
          </a:solidFill>
          <a:ln w="0">
            <a:solidFill>
              <a:srgbClr val="BDD1C3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8153400" y="3171825"/>
            <a:ext cx="619125" cy="133350"/>
          </a:xfrm>
          <a:prstGeom prst="rightArrow">
            <a:avLst/>
          </a:prstGeom>
          <a:solidFill>
            <a:srgbClr val="BDD1C3"/>
          </a:solidFill>
          <a:ln w="0">
            <a:solidFill>
              <a:srgbClr val="BDD1C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4362450"/>
            <a:ext cx="10210800" cy="9525"/>
          </a:xfrm>
          <a:prstGeom prst="rect">
            <a:avLst/>
          </a:prstGeom>
          <a:solidFill>
            <a:srgbClr val="CBD8D0"/>
          </a:solidFill>
          <a:ln w="0">
            <a:solidFill>
              <a:srgbClr val="CBD8D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46672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最终输出</a:t>
            </a:r>
            <a:endParaRPr sz="1200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5029200"/>
            <a:ext cx="476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区域风险排序、重点复飞坐标、人工复核任务、模型更新建议</a:t>
            </a:r>
            <a:endParaRPr sz="1500" b="0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96050" y="46672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D97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97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北斗不可替代的作用</a:t>
            </a:r>
            <a:endParaRPr sz="1200" b="1">
              <a:solidFill>
                <a:srgbClr val="D978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96050" y="5029200"/>
            <a:ext cx="4476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让每次识别结果可定位、可分区、可回溯，并能直接转化为巡检任务</a:t>
            </a:r>
            <a:endParaRPr sz="1500" b="0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23570" y="2420620"/>
            <a:ext cx="228600" cy="220345"/>
          </a:xfrm>
          <a:prstGeom prst="ellipse">
            <a:avLst/>
          </a:prstGeom>
          <a:solidFill>
            <a:srgbClr val="0B7880"/>
          </a:solidFill>
          <a:ln w="1905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endParaRPr sz="900" b="1">
              <a:solidFill>
                <a:srgbClr val="FFFFFF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3314700" y="2427605"/>
            <a:ext cx="266700" cy="266700"/>
          </a:xfrm>
          <a:prstGeom prst="ellipse">
            <a:avLst/>
          </a:prstGeom>
          <a:solidFill>
            <a:srgbClr val="0B7880"/>
          </a:solidFill>
          <a:ln w="1905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134100" y="2432050"/>
            <a:ext cx="266700" cy="292735"/>
          </a:xfrm>
          <a:prstGeom prst="ellipse">
            <a:avLst/>
          </a:prstGeom>
          <a:solidFill>
            <a:srgbClr val="E87932"/>
          </a:solidFill>
          <a:ln w="1905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8809990" y="2432050"/>
            <a:ext cx="266700" cy="266700"/>
          </a:xfrm>
          <a:prstGeom prst="ellipse">
            <a:avLst/>
          </a:prstGeom>
          <a:solidFill>
            <a:srgbClr val="0B7880"/>
          </a:solidFill>
          <a:ln w="1905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352800"/>
            <a:ext cx="2059940" cy="209550"/>
          </a:xfrm>
          <a:prstGeom prst="rect">
            <a:avLst/>
          </a:prstGeom>
          <a:solidFill>
            <a:srgbClr val="0B342B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真实输电走廊航拍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rcRect t="18264" b="18264"/>
          <a:stretch>
            <a:fillRect/>
          </a:stretch>
        </p:blipFill>
        <p:spPr>
          <a:xfrm>
            <a:off x="3314700" y="2647950"/>
            <a:ext cx="2095500" cy="914400"/>
          </a:xfrm>
          <a:prstGeom prst="roundRect">
            <a:avLst>
              <a:gd name="adj" fmla="val 6250"/>
            </a:avLst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3314700" y="3352800"/>
            <a:ext cx="2095500" cy="209550"/>
          </a:xfrm>
          <a:prstGeom prst="rect">
            <a:avLst/>
          </a:prstGeom>
          <a:solidFill>
            <a:srgbClr val="0B7880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图像、坐标与时间戳关联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57900" y="3352800"/>
            <a:ext cx="2095500" cy="209550"/>
          </a:xfrm>
          <a:prstGeom prst="rect">
            <a:avLst/>
          </a:prstGeom>
          <a:solidFill>
            <a:srgbClr val="E87932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分区域诊断结论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801100" y="3638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342B"/>
                </a:solidFill>
              </a:defRPr>
            </a:pPr>
            <a:r>
              <a:rPr sz="1350" b="1">
                <a:solidFill>
                  <a:srgbClr val="0B342B"/>
                </a:solidFill>
              </a:rPr>
              <a:t>生成可执行任务</a:t>
            </a:r>
            <a:endParaRPr sz="1350" b="1">
              <a:solidFill>
                <a:srgbClr val="0B342B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571750" y="39814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08E59"/>
                </a:solidFill>
              </a:defRPr>
            </a:pPr>
            <a:r>
              <a:rPr sz="1050" b="1">
                <a:solidFill>
                  <a:srgbClr val="208E59"/>
                </a:solidFill>
              </a:rPr>
              <a:t>图像识别、北斗索引、局部诊断和任务输出形成同一条可执行闭环。</a:t>
            </a:r>
            <a:endParaRPr sz="1050" b="1">
              <a:solidFill>
                <a:srgbClr val="208E59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sym typeface="+mn-ea"/>
              </a:rPr>
              <a:t>1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801100" y="3352800"/>
            <a:ext cx="2095500" cy="209550"/>
          </a:xfrm>
          <a:prstGeom prst="rect">
            <a:avLst/>
          </a:prstGeom>
          <a:solidFill>
            <a:srgbClr val="0B342B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复飞与人工复核建议</a:t>
            </a:r>
            <a:endParaRPr sz="8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矩形 42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端到端流程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从一次巡航到复飞决策，形成8步闭环</a:t>
            </a:r>
            <a:endParaRPr sz="29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右箭头 3"/>
          <p:cNvSpPr>
            <a:spLocks noGrp="1"/>
          </p:cNvSpPr>
          <p:nvPr/>
        </p:nvSpPr>
        <p:spPr>
          <a:xfrm>
            <a:off x="2952750" y="2438400"/>
            <a:ext cx="409575" cy="114300"/>
          </a:xfrm>
          <a:prstGeom prst="rightArrow">
            <a:avLst/>
          </a:prstGeom>
          <a:solidFill>
            <a:srgbClr val="C3D3CA"/>
          </a:solidFill>
          <a:ln w="0">
            <a:solidFill>
              <a:srgbClr val="C3D3C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36766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3E88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E88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050" b="1">
              <a:solidFill>
                <a:srgbClr val="3E88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36195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创建任务</a:t>
            </a:r>
            <a:endParaRPr sz="17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40195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确定航线与目标</a:t>
            </a:r>
            <a:endParaRPr sz="1275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5829300" y="2438400"/>
            <a:ext cx="409575" cy="114300"/>
          </a:xfrm>
          <a:prstGeom prst="rightArrow">
            <a:avLst/>
          </a:prstGeom>
          <a:solidFill>
            <a:srgbClr val="C3D3CA"/>
          </a:solidFill>
          <a:ln w="0">
            <a:solidFill>
              <a:srgbClr val="C3D3C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29000" y="36766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3E88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E88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3E88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867150" y="36195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北斗巡航</a:t>
            </a:r>
            <a:endParaRPr sz="17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867150" y="40195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采集图像与坐标</a:t>
            </a:r>
            <a:endParaRPr sz="1275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8705850" y="2438400"/>
            <a:ext cx="409575" cy="114300"/>
          </a:xfrm>
          <a:prstGeom prst="rightArrow">
            <a:avLst/>
          </a:prstGeom>
          <a:solidFill>
            <a:srgbClr val="C3D3CA"/>
          </a:solidFill>
          <a:ln w="0">
            <a:solidFill>
              <a:srgbClr val="C3D3C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05550" y="36766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3E88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E88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3E88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43700" y="36195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时空关联</a:t>
            </a:r>
            <a:endParaRPr sz="17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743700" y="40195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编号 + 时间戳绑定</a:t>
            </a:r>
            <a:endParaRPr sz="1275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182100" y="36766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3E88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E88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3E88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620250" y="36195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目标识别</a:t>
            </a:r>
            <a:endParaRPr sz="17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620250" y="40195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类别与置信度</a:t>
            </a:r>
            <a:endParaRPr sz="1275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2952750" y="4819650"/>
            <a:ext cx="409575" cy="114300"/>
          </a:xfrm>
          <a:prstGeom prst="rightArrow">
            <a:avLst/>
          </a:prstGeom>
          <a:solidFill>
            <a:srgbClr val="C3D3CA"/>
          </a:solidFill>
          <a:ln w="0">
            <a:solidFill>
              <a:srgbClr val="C3D3C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52450" y="47625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90600" y="47053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局部诊断</a:t>
            </a:r>
            <a:endParaRPr sz="17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0600" y="51054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识别薄弱区域</a:t>
            </a:r>
            <a:endParaRPr sz="1275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右箭头 27"/>
          <p:cNvSpPr>
            <a:spLocks noGrp="1"/>
          </p:cNvSpPr>
          <p:nvPr/>
        </p:nvSpPr>
        <p:spPr>
          <a:xfrm>
            <a:off x="5829300" y="4819650"/>
            <a:ext cx="409575" cy="114300"/>
          </a:xfrm>
          <a:prstGeom prst="rightArrow">
            <a:avLst/>
          </a:prstGeom>
          <a:solidFill>
            <a:srgbClr val="C3D3CA"/>
          </a:solidFill>
          <a:ln w="0">
            <a:solidFill>
              <a:srgbClr val="C3D3C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429000" y="47625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867150" y="47053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风险调度</a:t>
            </a:r>
            <a:endParaRPr sz="17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867150" y="51054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建议回放预算</a:t>
            </a:r>
            <a:endParaRPr sz="1275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右箭头 32"/>
          <p:cNvSpPr>
            <a:spLocks noGrp="1"/>
          </p:cNvSpPr>
          <p:nvPr/>
        </p:nvSpPr>
        <p:spPr>
          <a:xfrm>
            <a:off x="8705850" y="4819650"/>
            <a:ext cx="409575" cy="114300"/>
          </a:xfrm>
          <a:prstGeom prst="rightArrow">
            <a:avLst/>
          </a:prstGeom>
          <a:solidFill>
            <a:srgbClr val="C3D3CA"/>
          </a:solidFill>
          <a:ln w="0">
            <a:solidFill>
              <a:srgbClr val="C3D3C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305550" y="47625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743700" y="47053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任务决策</a:t>
            </a:r>
            <a:endParaRPr sz="17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743700" y="51054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复飞与人工复核</a:t>
            </a:r>
            <a:endParaRPr sz="1275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182100" y="47625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620250" y="47053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模型更新</a:t>
            </a:r>
            <a:endParaRPr sz="17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620250" y="51054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新类别确认后启动</a:t>
            </a:r>
            <a:endParaRPr sz="1275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52450" y="59245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D97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前端展示任务状态；训练只在新类别确认或纠错样本积累后，于服务器侧启动。</a:t>
            </a:r>
            <a:endParaRPr sz="1350" b="1">
              <a:solidFill>
                <a:srgbClr val="D978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1"/>
          <a:srcRect t="9873" b="9873"/>
          <a:stretch>
            <a:fillRect/>
          </a:stretch>
        </p:blipFill>
        <p:spPr>
          <a:xfrm>
            <a:off x="552450" y="1809750"/>
            <a:ext cx="3333750" cy="1504950"/>
          </a:xfrm>
          <a:prstGeom prst="roundRect">
            <a:avLst>
              <a:gd name="adj" fmla="val 3797"/>
            </a:avLst>
          </a:prstGeom>
        </p:spPr>
      </p:pic>
      <p:sp>
        <p:nvSpPr>
          <p:cNvPr id="45" name="矩形 44"/>
          <p:cNvSpPr>
            <a:spLocks noGrp="1"/>
          </p:cNvSpPr>
          <p:nvPr/>
        </p:nvSpPr>
        <p:spPr>
          <a:xfrm>
            <a:off x="552450" y="3086100"/>
            <a:ext cx="3333750" cy="228600"/>
          </a:xfrm>
          <a:prstGeom prst="rect">
            <a:avLst/>
          </a:prstGeom>
          <a:solidFill>
            <a:srgbClr val="073D2F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① 航拍采集与目标识别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2"/>
          <a:srcRect l="8091" r="8091"/>
          <a:stretch>
            <a:fillRect/>
          </a:stretch>
        </p:blipFill>
        <p:spPr>
          <a:xfrm>
            <a:off x="4429125" y="1809750"/>
            <a:ext cx="3333750" cy="1504950"/>
          </a:xfrm>
          <a:prstGeom prst="roundRect">
            <a:avLst>
              <a:gd name="adj" fmla="val 3797"/>
            </a:avLst>
          </a:prstGeom>
        </p:spPr>
      </p:pic>
      <p:sp>
        <p:nvSpPr>
          <p:cNvPr id="47" name="矩形 46"/>
          <p:cNvSpPr>
            <a:spLocks noGrp="1"/>
          </p:cNvSpPr>
          <p:nvPr/>
        </p:nvSpPr>
        <p:spPr>
          <a:xfrm>
            <a:off x="4429125" y="3086100"/>
            <a:ext cx="3333750" cy="228600"/>
          </a:xfrm>
          <a:prstGeom prst="rect">
            <a:avLst/>
          </a:prstGeom>
          <a:solidFill>
            <a:srgbClr val="0B7880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② 时空关联与局部诊断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3"/>
          <a:srcRect t="18747" b="18747"/>
          <a:stretch>
            <a:fillRect/>
          </a:stretch>
        </p:blipFill>
        <p:spPr>
          <a:xfrm>
            <a:off x="8305800" y="1809750"/>
            <a:ext cx="3333750" cy="1504950"/>
          </a:xfrm>
          <a:prstGeom prst="roundRect">
            <a:avLst>
              <a:gd name="adj" fmla="val 3797"/>
            </a:avLst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8305800" y="3086100"/>
            <a:ext cx="3333750" cy="228600"/>
          </a:xfrm>
          <a:prstGeom prst="rect">
            <a:avLst/>
          </a:prstGeom>
          <a:solidFill>
            <a:srgbClr val="B85E26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③ 复飞任务与模型更新</a:t>
            </a:r>
            <a:endParaRPr sz="8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9FD2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FD2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北斗与AI融合</a:t>
            </a:r>
            <a:endParaRPr sz="975" b="1">
              <a:solidFill>
                <a:srgbClr val="9FD2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北斗不负责分类，它让模型知道在哪里失效</a:t>
            </a:r>
            <a:endParaRPr sz="27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8FB2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FB2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0">
              <a:solidFill>
                <a:srgbClr val="8FB2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右箭头 3"/>
          <p:cNvSpPr>
            <a:spLocks noGrp="1"/>
          </p:cNvSpPr>
          <p:nvPr/>
        </p:nvSpPr>
        <p:spPr>
          <a:xfrm>
            <a:off x="2667000" y="2457450"/>
            <a:ext cx="838200" cy="152400"/>
          </a:xfrm>
          <a:prstGeom prst="rightArrow">
            <a:avLst/>
          </a:prstGeom>
          <a:solidFill>
            <a:srgbClr val="3A7058"/>
          </a:solidFill>
          <a:ln w="0">
            <a:solidFill>
              <a:srgbClr val="3A7058"/>
            </a:solidFill>
            <a:prstDash val="solid"/>
          </a:ln>
        </p:spPr>
      </p:sp>
      <p:sp>
        <p:nvSpPr>
          <p:cNvPr id="5" name="右箭头 4"/>
          <p:cNvSpPr>
            <a:spLocks noGrp="1"/>
          </p:cNvSpPr>
          <p:nvPr/>
        </p:nvSpPr>
        <p:spPr>
          <a:xfrm>
            <a:off x="5457825" y="2457450"/>
            <a:ext cx="838200" cy="152400"/>
          </a:xfrm>
          <a:prstGeom prst="rightArrow">
            <a:avLst/>
          </a:prstGeom>
          <a:solidFill>
            <a:srgbClr val="3A7058"/>
          </a:solidFill>
          <a:ln w="0">
            <a:solidFill>
              <a:srgbClr val="3A7058"/>
            </a:solidFill>
            <a:prstDash val="solid"/>
          </a:ln>
        </p:spPr>
      </p:sp>
      <p:sp>
        <p:nvSpPr>
          <p:cNvPr id="6" name="右箭头 5"/>
          <p:cNvSpPr>
            <a:spLocks noGrp="1"/>
          </p:cNvSpPr>
          <p:nvPr/>
        </p:nvSpPr>
        <p:spPr>
          <a:xfrm>
            <a:off x="8248650" y="2457450"/>
            <a:ext cx="838200" cy="152400"/>
          </a:xfrm>
          <a:prstGeom prst="rightArrow">
            <a:avLst/>
          </a:prstGeom>
          <a:solidFill>
            <a:srgbClr val="3A7058"/>
          </a:solidFill>
          <a:ln w="0">
            <a:solidFill>
              <a:srgbClr val="3A7058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2667000" y="4267200"/>
            <a:ext cx="838200" cy="152400"/>
          </a:xfrm>
          <a:prstGeom prst="rightArrow">
            <a:avLst/>
          </a:prstGeom>
          <a:solidFill>
            <a:srgbClr val="477B65"/>
          </a:solidFill>
          <a:ln w="0">
            <a:solidFill>
              <a:srgbClr val="477B65"/>
            </a:solidFill>
            <a:prstDash val="solid"/>
          </a:ln>
        </p:spPr>
      </p:sp>
      <p:sp>
        <p:nvSpPr>
          <p:cNvPr id="8" name="右箭头 7"/>
          <p:cNvSpPr>
            <a:spLocks noGrp="1"/>
          </p:cNvSpPr>
          <p:nvPr/>
        </p:nvSpPr>
        <p:spPr>
          <a:xfrm>
            <a:off x="5457825" y="4267200"/>
            <a:ext cx="838200" cy="152400"/>
          </a:xfrm>
          <a:prstGeom prst="rightArrow">
            <a:avLst/>
          </a:prstGeom>
          <a:solidFill>
            <a:srgbClr val="477B65"/>
          </a:solidFill>
          <a:ln w="0">
            <a:solidFill>
              <a:srgbClr val="477B65"/>
            </a:solidFill>
            <a:prstDash val="solid"/>
          </a:ln>
        </p:spPr>
      </p:sp>
      <p:sp>
        <p:nvSpPr>
          <p:cNvPr id="9" name="右箭头 8"/>
          <p:cNvSpPr>
            <a:spLocks noGrp="1"/>
          </p:cNvSpPr>
          <p:nvPr/>
        </p:nvSpPr>
        <p:spPr>
          <a:xfrm>
            <a:off x="8248650" y="4267200"/>
            <a:ext cx="838200" cy="152400"/>
          </a:xfrm>
          <a:prstGeom prst="rightArrow">
            <a:avLst/>
          </a:prstGeom>
          <a:solidFill>
            <a:srgbClr val="477B65"/>
          </a:solidFill>
          <a:ln w="0">
            <a:solidFill>
              <a:srgbClr val="477B65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66750" y="2000250"/>
            <a:ext cx="1952625" cy="1047750"/>
          </a:xfrm>
          <a:prstGeom prst="roundRect">
            <a:avLst>
              <a:gd name="adj" fmla="val 5455"/>
            </a:avLst>
          </a:prstGeom>
          <a:solidFill>
            <a:srgbClr val="F4FAF6"/>
          </a:solidFill>
          <a:ln w="9525">
            <a:solidFill>
              <a:srgbClr val="F4FAF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076450"/>
            <a:ext cx="17240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505200" y="2000250"/>
            <a:ext cx="1952625" cy="1047750"/>
          </a:xfrm>
          <a:prstGeom prst="roundRect">
            <a:avLst>
              <a:gd name="adj" fmla="val 5455"/>
            </a:avLst>
          </a:prstGeom>
          <a:solidFill>
            <a:srgbClr val="DDEEE3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19500" y="2076450"/>
            <a:ext cx="17240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视觉识别模型</a:t>
            </a: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96025" y="2000250"/>
            <a:ext cx="1952625" cy="1047750"/>
          </a:xfrm>
          <a:prstGeom prst="roundRect">
            <a:avLst>
              <a:gd name="adj" fmla="val 5455"/>
            </a:avLst>
          </a:prstGeom>
          <a:solidFill>
            <a:srgbClr val="DDEEE3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10325" y="2076450"/>
            <a:ext cx="17240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 / 置信度</a:t>
            </a: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知识表征</a:t>
            </a: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086850" y="2000250"/>
            <a:ext cx="1952625" cy="1047750"/>
          </a:xfrm>
          <a:prstGeom prst="roundRect">
            <a:avLst>
              <a:gd name="adj" fmla="val 5455"/>
            </a:avLst>
          </a:prstGeom>
          <a:solidFill>
            <a:srgbClr val="8FD1A5"/>
          </a:solidFill>
          <a:ln w="9525">
            <a:solidFill>
              <a:srgbClr val="8FD1A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201150" y="2076450"/>
            <a:ext cx="17240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样本编号 + 时间戳</a:t>
            </a: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66750" y="3810000"/>
            <a:ext cx="1952625" cy="1047750"/>
          </a:xfrm>
          <a:prstGeom prst="roundRect">
            <a:avLst>
              <a:gd name="adj" fmla="val 5455"/>
            </a:avLst>
          </a:prstGeom>
          <a:solidFill>
            <a:srgbClr val="F4FAF6"/>
          </a:solidFill>
          <a:ln w="9525">
            <a:solidFill>
              <a:srgbClr val="F4FAF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3886200"/>
            <a:ext cx="17240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505200" y="3810000"/>
            <a:ext cx="1952625" cy="1047750"/>
          </a:xfrm>
          <a:prstGeom prst="roundRect">
            <a:avLst>
              <a:gd name="adj" fmla="val 5455"/>
            </a:avLst>
          </a:prstGeom>
          <a:solidFill>
            <a:srgbClr val="DDEEE3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619500" y="3886200"/>
            <a:ext cx="17240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时空索引</a:t>
            </a: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区域划分</a:t>
            </a: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296025" y="3810000"/>
            <a:ext cx="1952625" cy="1047750"/>
          </a:xfrm>
          <a:prstGeom prst="roundRect">
            <a:avLst>
              <a:gd name="adj" fmla="val 5455"/>
            </a:avLst>
          </a:prstGeom>
          <a:solidFill>
            <a:srgbClr val="DDEEE3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410325" y="3886200"/>
            <a:ext cx="17240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location_id</a:t>
            </a: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风险标签</a:t>
            </a: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086850" y="3810000"/>
            <a:ext cx="1952625" cy="1047750"/>
          </a:xfrm>
          <a:prstGeom prst="roundRect">
            <a:avLst>
              <a:gd name="adj" fmla="val 5455"/>
            </a:avLst>
          </a:prstGeom>
          <a:solidFill>
            <a:srgbClr val="8FD1A5"/>
          </a:solidFill>
          <a:ln w="9525">
            <a:solidFill>
              <a:srgbClr val="8FD1A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201150" y="3886200"/>
            <a:ext cx="17240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局部风险诊断</a:t>
            </a:r>
            <a:endParaRPr sz="15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276350" y="55816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诊断结果 → 回放预算建议 + 重点复飞坐标 + 人工复核任务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276350" y="6076950"/>
            <a:ext cx="962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A9C9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9C9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经纬度不直接输入视觉分类网络；北斗负责空间索引、定位诊断结果和复飞任务。</a:t>
            </a:r>
            <a:endParaRPr sz="1275" b="0">
              <a:solidFill>
                <a:srgbClr val="A9C9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rcRect t="3837" b="3837"/>
          <a:stretch>
            <a:fillRect/>
          </a:stretch>
        </p:blipFill>
        <p:spPr>
          <a:xfrm>
            <a:off x="781050" y="2076450"/>
            <a:ext cx="1724025" cy="895350"/>
          </a:xfrm>
          <a:prstGeom prst="roundRect">
            <a:avLst>
              <a:gd name="adj" fmla="val 6383"/>
            </a:avLst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781050" y="2724150"/>
            <a:ext cx="1724025" cy="247650"/>
          </a:xfrm>
          <a:prstGeom prst="rect">
            <a:avLst/>
          </a:prstGeom>
          <a:solidFill>
            <a:srgbClr val="0B342B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航拍图像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rcRect t="15395" b="15395"/>
          <a:stretch>
            <a:fillRect/>
          </a:stretch>
        </p:blipFill>
        <p:spPr>
          <a:xfrm>
            <a:off x="781050" y="3886200"/>
            <a:ext cx="1724025" cy="895350"/>
          </a:xfrm>
          <a:prstGeom prst="roundRect">
            <a:avLst>
              <a:gd name="adj" fmla="val 6383"/>
            </a:avLst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781050" y="4533900"/>
            <a:ext cx="1724025" cy="247650"/>
          </a:xfrm>
          <a:prstGeom prst="rect">
            <a:avLst/>
          </a:prstGeom>
          <a:solidFill>
            <a:srgbClr val="0B7880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北斗坐标 · 时间 · 定位质量</a:t>
            </a:r>
            <a:endParaRPr sz="8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核心算法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三层稳健知识回放，在固定预算下同时学新类、保旧类</a:t>
            </a:r>
            <a:endParaRPr sz="29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右箭头 3"/>
          <p:cNvSpPr>
            <a:spLocks noGrp="1"/>
          </p:cNvSpPr>
          <p:nvPr/>
        </p:nvSpPr>
        <p:spPr>
          <a:xfrm>
            <a:off x="3143250" y="3257550"/>
            <a:ext cx="876300" cy="171450"/>
          </a:xfrm>
          <a:prstGeom prst="rightArrow">
            <a:avLst/>
          </a:prstGeom>
          <a:solidFill>
            <a:srgbClr val="C2D3C9"/>
          </a:solidFill>
          <a:ln w="0">
            <a:solidFill>
              <a:srgbClr val="C2D3C9"/>
            </a:solidFill>
            <a:prstDash val="solid"/>
          </a:ln>
        </p:spPr>
      </p:sp>
      <p:sp>
        <p:nvSpPr>
          <p:cNvPr id="5" name="右箭头 4"/>
          <p:cNvSpPr>
            <a:spLocks noGrp="1"/>
          </p:cNvSpPr>
          <p:nvPr/>
        </p:nvSpPr>
        <p:spPr>
          <a:xfrm>
            <a:off x="8172450" y="3257550"/>
            <a:ext cx="876300" cy="171450"/>
          </a:xfrm>
          <a:prstGeom prst="rightArrow">
            <a:avLst/>
          </a:prstGeom>
          <a:solidFill>
            <a:srgbClr val="C2D3C9"/>
          </a:solidFill>
          <a:ln w="0">
            <a:solidFill>
              <a:srgbClr val="C2D3C9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2000250"/>
            <a:ext cx="2628900" cy="2724150"/>
          </a:xfrm>
          <a:prstGeom prst="rect">
            <a:avLst/>
          </a:prstGeom>
          <a:solidFill>
            <a:srgbClr val="F3F6F2"/>
          </a:solidFill>
          <a:ln w="9525">
            <a:solidFill>
              <a:srgbClr val="CBD8D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2479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8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800350"/>
            <a:ext cx="2000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新类别确认样本</a:t>
            </a:r>
            <a:endParaRPr sz="142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历史知识表征</a:t>
            </a:r>
            <a:endParaRPr sz="142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区域风险权重</a:t>
            </a:r>
            <a:endParaRPr sz="142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固定回放预算</a:t>
            </a:r>
            <a:endParaRPr sz="142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19550" y="1657350"/>
            <a:ext cx="4152900" cy="3429000"/>
          </a:xfrm>
          <a:prstGeom prst="rect">
            <a:avLst/>
          </a:prstGeom>
          <a:solidFill>
            <a:srgbClr val="083727"/>
          </a:solidFill>
          <a:ln w="9525">
            <a:solidFill>
              <a:srgbClr val="08372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343400" y="19621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950" b="1">
                <a:solidFill>
                  <a:srgbClr val="99D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99D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私有算法黑盒</a:t>
            </a:r>
            <a:endParaRPr sz="1950" b="1">
              <a:solidFill>
                <a:srgbClr val="99D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43400" y="255270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三层稳健知识回放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76750" y="3295650"/>
            <a:ext cx="3238500" cy="9525"/>
          </a:xfrm>
          <a:prstGeom prst="rect">
            <a:avLst/>
          </a:prstGeom>
          <a:solidFill>
            <a:srgbClr val="3B7059"/>
          </a:solidFill>
          <a:ln w="0">
            <a:solidFill>
              <a:srgbClr val="3B705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476750" y="3543300"/>
            <a:ext cx="3238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CBE1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00" b="0">
              <a:solidFill>
                <a:srgbClr val="CBE1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048750" y="2000250"/>
            <a:ext cx="2628900" cy="2724150"/>
          </a:xfrm>
          <a:prstGeom prst="rect">
            <a:avLst/>
          </a:prstGeom>
          <a:solidFill>
            <a:srgbClr val="E5F3E8"/>
          </a:solidFill>
          <a:ln w="9525">
            <a:solidFill>
              <a:srgbClr val="A7CDB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96400" y="22479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187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96400" y="2800350"/>
            <a:ext cx="2000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候选新模型</a:t>
            </a:r>
            <a:endParaRPr sz="142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准确率与遗忘率</a:t>
            </a:r>
            <a:endParaRPr sz="142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分区诊断结果</a:t>
            </a:r>
            <a:endParaRPr sz="142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发布 / 回滚结论</a:t>
            </a:r>
            <a:endParaRPr sz="142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4350" y="56197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对外提供接口和脱敏结果；训练源码与权重保留在算法负责人侧。</a:t>
            </a:r>
            <a:endParaRPr sz="1800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495800" y="3333750"/>
            <a:ext cx="3124200" cy="419100"/>
          </a:xfrm>
          <a:prstGeom prst="roundRect">
            <a:avLst>
              <a:gd name="adj" fmla="val 4545"/>
            </a:avLst>
          </a:prstGeom>
          <a:solidFill>
            <a:srgbClr val="1E6A50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629150" y="33813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10150" y="3371850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知识保真层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19800" y="3371850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保留类别关键知识，不缓存大量原图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495800" y="3848100"/>
            <a:ext cx="3124200" cy="419100"/>
          </a:xfrm>
          <a:prstGeom prst="roundRect">
            <a:avLst>
              <a:gd name="adj" fmla="val 4545"/>
            </a:avLst>
          </a:prstGeom>
          <a:solidFill>
            <a:srgbClr val="0B7880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629150" y="38957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010150" y="3886200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因果稳健层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19800" y="3886200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抑制光照、视角与背景的虚假关联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495800" y="4362450"/>
            <a:ext cx="3124200" cy="419100"/>
          </a:xfrm>
          <a:prstGeom prst="roundRect">
            <a:avLst>
              <a:gd name="adj" fmla="val 4545"/>
            </a:avLst>
          </a:prstGeom>
          <a:solidFill>
            <a:srgbClr val="B7652A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629150" y="44100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010150" y="4400550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预算调度层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19800" y="4400550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在固定600样本预算内平衡新旧知识</a:t>
            </a:r>
            <a:endParaRPr sz="9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项目创新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三项创新把通用持续学习变成北斗巡检方案</a:t>
            </a:r>
            <a:endParaRPr sz="29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600200"/>
            <a:ext cx="3333750" cy="4095750"/>
          </a:xfrm>
          <a:prstGeom prst="rect">
            <a:avLst/>
          </a:prstGeom>
          <a:solidFill>
            <a:srgbClr val="F3F6F2"/>
          </a:solidFill>
          <a:ln w="9525">
            <a:solidFill>
              <a:srgbClr val="CBD8D0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924050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时空索引与局部诊断</a:t>
            </a:r>
            <a:endParaRPr sz="210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36957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00150" y="36576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北斗坐标绑定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24815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42100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分区域统计性能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48006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47625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输出重点复飞坐标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76700" y="1600200"/>
            <a:ext cx="3695700" cy="4095750"/>
          </a:xfrm>
          <a:prstGeom prst="rect">
            <a:avLst/>
          </a:prstGeom>
          <a:solidFill>
            <a:srgbClr val="E5F3E8"/>
          </a:solidFill>
          <a:ln w="9525">
            <a:solidFill>
              <a:srgbClr val="CBD8D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43400" y="1924050"/>
            <a:ext cx="3162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风险预算与任务调度</a:t>
            </a:r>
            <a:endParaRPr sz="210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43400" y="36957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62500" y="36576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固定预算约束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343400" y="424815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62500" y="421005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高风险区域优先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43400" y="48006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762500" y="47625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输出重点样本清单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0" y="1600200"/>
            <a:ext cx="3676650" cy="4095750"/>
          </a:xfrm>
          <a:prstGeom prst="rect">
            <a:avLst/>
          </a:prstGeom>
          <a:solidFill>
            <a:srgbClr val="083727"/>
          </a:solidFill>
          <a:ln w="9525">
            <a:solidFill>
              <a:srgbClr val="08372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267700" y="19240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三层稳健知识回放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267700" y="36957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91CD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86800" y="36576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类别增量学习</a:t>
            </a:r>
            <a:endParaRPr sz="1350" b="0">
              <a:solidFill>
                <a:srgbClr val="DCEB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267700" y="424815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91CD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686800" y="42100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因果约束抑制干扰</a:t>
            </a:r>
            <a:endParaRPr sz="1350" b="0">
              <a:solidFill>
                <a:srgbClr val="DCEB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67700" y="48006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91CD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686800" y="47625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核心算法黑盒部署</a:t>
            </a:r>
            <a:endParaRPr sz="1350" b="0">
              <a:solidFill>
                <a:srgbClr val="DCEB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14350" y="5981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D97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97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空间索引、风险调度与稳健回放不是三个孤立模块，而是同一巡检决策链。</a:t>
            </a:r>
            <a:endParaRPr sz="1575" b="1">
              <a:solidFill>
                <a:srgbClr val="D978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1"/>
          <a:srcRect b="24821"/>
          <a:stretch>
            <a:fillRect/>
          </a:stretch>
        </p:blipFill>
        <p:spPr>
          <a:xfrm>
            <a:off x="4871720" y="2338070"/>
            <a:ext cx="2053590" cy="956310"/>
          </a:xfrm>
          <a:prstGeom prst="roundRect">
            <a:avLst>
              <a:gd name="adj" fmla="val 5357"/>
            </a:avLst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2"/>
          <a:srcRect t="26692" b="26692"/>
          <a:stretch>
            <a:fillRect/>
          </a:stretch>
        </p:blipFill>
        <p:spPr>
          <a:xfrm>
            <a:off x="781050" y="2381250"/>
            <a:ext cx="2800350" cy="1066800"/>
          </a:xfrm>
          <a:prstGeom prst="roundRect">
            <a:avLst>
              <a:gd name="adj" fmla="val 5357"/>
            </a:avLst>
          </a:prstGeom>
        </p:spPr>
      </p:pic>
      <p:sp>
        <p:nvSpPr>
          <p:cNvPr id="43" name="矩形 42"/>
          <p:cNvSpPr>
            <a:spLocks noGrp="1"/>
          </p:cNvSpPr>
          <p:nvPr/>
        </p:nvSpPr>
        <p:spPr>
          <a:xfrm>
            <a:off x="781050" y="3257550"/>
            <a:ext cx="2800350" cy="190500"/>
          </a:xfrm>
          <a:prstGeom prst="rect">
            <a:avLst/>
          </a:prstGeom>
          <a:solidFill>
            <a:srgbClr val="0B7880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虚拟北斗航线与8个风险分区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343400" y="3257550"/>
            <a:ext cx="3162300" cy="190500"/>
          </a:xfrm>
          <a:prstGeom prst="rect">
            <a:avLst/>
          </a:prstGeom>
          <a:solidFill>
            <a:srgbClr val="B85E26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方法对比与分区域诊断表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058" y="2381250"/>
            <a:ext cx="1896533" cy="1066800"/>
          </a:xfrm>
          <a:prstGeom prst="roundRect">
            <a:avLst>
              <a:gd name="adj" fmla="val 5357"/>
            </a:avLst>
          </a:prstGeom>
        </p:spPr>
      </p:pic>
      <p:sp>
        <p:nvSpPr>
          <p:cNvPr id="47" name="矩形 46"/>
          <p:cNvSpPr>
            <a:spLocks noGrp="1"/>
          </p:cNvSpPr>
          <p:nvPr/>
        </p:nvSpPr>
        <p:spPr>
          <a:xfrm>
            <a:off x="8267700" y="3257550"/>
            <a:ext cx="3143250" cy="190500"/>
          </a:xfrm>
          <a:prstGeom prst="rect">
            <a:avLst/>
          </a:prstGeom>
          <a:solidFill>
            <a:srgbClr val="1E6A50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视觉持续学习与北斗诊断双链路</a:t>
            </a:r>
            <a:endParaRPr sz="8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产品原型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评委可以直接看到：算法结果如何变成巡检决策</a:t>
            </a:r>
            <a:endParaRPr sz="29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504950"/>
            <a:ext cx="4171950" cy="4343400"/>
          </a:xfrm>
          <a:prstGeom prst="rect">
            <a:avLst/>
          </a:prstGeom>
          <a:solidFill>
            <a:srgbClr val="F3F6F2"/>
          </a:solidFill>
          <a:ln w="9525">
            <a:solidFill>
              <a:srgbClr val="CBD8D0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837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837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当前原型已呈现</a:t>
            </a:r>
            <a:endParaRPr sz="2025" b="1">
              <a:solidFill>
                <a:srgbClr val="0837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438400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 虚拟北斗航线与8个区域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3019425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 区域风险与回放预算排序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600450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 ER与三层方法结果对比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181475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 高风险区域复飞建议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4762500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 证据边界与正式诊断报告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105400" y="47053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地图联动</a:t>
            </a:r>
            <a:endParaRPr sz="180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105400" y="5143500"/>
            <a:ext cx="628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航线、观察点、风险等级与复飞建议在同一页面呈现</a:t>
            </a:r>
            <a:endParaRPr sz="1425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rcRect t="5952" b="5952"/>
          <a:stretch>
            <a:fillRect/>
          </a:stretch>
        </p:blipFill>
        <p:spPr>
          <a:xfrm>
            <a:off x="6105525" y="1504950"/>
            <a:ext cx="4572000" cy="2857500"/>
          </a:xfrm>
          <a:prstGeom prst="roundRect">
            <a:avLst>
              <a:gd name="adj" fmla="val 2000"/>
            </a:avLst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6105525" y="4133850"/>
            <a:ext cx="4572000" cy="228600"/>
          </a:xfrm>
          <a:prstGeom prst="rect">
            <a:avLst/>
          </a:prstGeom>
          <a:solidFill>
            <a:srgbClr val="073D2F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最新前端：航线、风险分区、当前观测与定位信息联动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6705600" y="2724150"/>
            <a:ext cx="266700" cy="266700"/>
          </a:xfrm>
          <a:prstGeom prst="ellipse">
            <a:avLst/>
          </a:prstGeom>
          <a:solidFill>
            <a:srgbClr val="0B7880"/>
          </a:solidFill>
          <a:ln w="1905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9563100" y="2324100"/>
            <a:ext cx="266700" cy="266700"/>
          </a:xfrm>
          <a:prstGeom prst="ellipse">
            <a:avLst/>
          </a:prstGeom>
          <a:solidFill>
            <a:srgbClr val="E87932"/>
          </a:solidFill>
          <a:ln w="1905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9982200" y="3638550"/>
            <a:ext cx="266700" cy="266700"/>
          </a:xfrm>
          <a:prstGeom prst="ellipse">
            <a:avLst/>
          </a:prstGeom>
          <a:solidFill>
            <a:srgbClr val="E87932"/>
          </a:solidFill>
          <a:ln w="1905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05400" y="44958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B7880"/>
                </a:solidFill>
              </a:defRPr>
            </a:pPr>
            <a:r>
              <a:rPr sz="975" b="1">
                <a:solidFill>
                  <a:srgbClr val="0B7880"/>
                </a:solidFill>
              </a:rPr>
              <a:t>1 航线与风险分区</a:t>
            </a:r>
            <a:endParaRPr sz="975" b="1">
              <a:solidFill>
                <a:srgbClr val="0B788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086600" y="4495800"/>
            <a:ext cx="179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E87932"/>
                </a:solidFill>
              </a:defRPr>
            </a:pPr>
            <a:r>
              <a:rPr sz="975" b="1">
                <a:solidFill>
                  <a:srgbClr val="E87932"/>
                </a:solidFill>
              </a:rPr>
              <a:t>2 当前航拍观测</a:t>
            </a:r>
            <a:endParaRPr sz="975" b="1">
              <a:solidFill>
                <a:srgbClr val="E8793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15400" y="44958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E87932"/>
                </a:solidFill>
              </a:defRPr>
            </a:pPr>
            <a:r>
              <a:rPr sz="975" b="1">
                <a:solidFill>
                  <a:srgbClr val="E87932"/>
                </a:solidFill>
              </a:rPr>
              <a:t>3 区域诊断与复飞建议</a:t>
            </a:r>
            <a:endParaRPr sz="975" b="1">
              <a:solidFill>
                <a:srgbClr val="E8793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实验验证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同一数据、同一任务、同一600样本预算下，三层方法更稳</a:t>
            </a:r>
            <a:endParaRPr sz="270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457200" y="1581150"/>
          <a:ext cx="6229350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7143750" y="1600200"/>
            <a:ext cx="4095750" cy="1257300"/>
          </a:xfrm>
          <a:prstGeom prst="rect">
            <a:avLst/>
          </a:prstGeom>
          <a:solidFill>
            <a:srgbClr val="E5F3E8"/>
          </a:solidFill>
          <a:ln w="9525">
            <a:solidFill>
              <a:srgbClr val="A7CDB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429500" y="18097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0837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837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+12.11pp</a:t>
            </a:r>
            <a:endParaRPr sz="2700" b="1">
              <a:solidFill>
                <a:srgbClr val="0837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0" y="24003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最终识别率提升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143750" y="3105150"/>
            <a:ext cx="4095750" cy="1257300"/>
          </a:xfrm>
          <a:prstGeom prst="rect">
            <a:avLst/>
          </a:prstGeom>
          <a:solidFill>
            <a:srgbClr val="F3F6F2"/>
          </a:solidFill>
          <a:ln w="9525">
            <a:solidFill>
              <a:srgbClr val="CBD8D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0" y="33147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0837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837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-19.23pp</a:t>
            </a:r>
            <a:endParaRPr sz="2700" b="1">
              <a:solidFill>
                <a:srgbClr val="0837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0" y="39052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平均遗忘率下降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143750" y="472440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数据规模：4301条预测 · 10类 · 5任务 · 固定回放预算600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143750" y="54864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91"/>
          </a:bodyPr>
          <a:lstStyle/>
          <a:p>
            <a:pPr algn="l">
              <a:buNone/>
              <a:defRPr sz="1275" b="1">
                <a:solidFill>
                  <a:srgbClr val="D97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97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边界：公开航拍数据 + 虚拟北斗坐标，不代表真实无人机、北斗终端或商业客户效果。</a:t>
            </a:r>
            <a:endParaRPr sz="1275" b="1">
              <a:solidFill>
                <a:srgbClr val="D978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客户与商业模式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谁付费、买什么、为什么选择我们</a:t>
            </a:r>
            <a:endParaRPr sz="2925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B7E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6B7E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600200"/>
            <a:ext cx="3333750" cy="4095750"/>
          </a:xfrm>
          <a:prstGeom prst="rect">
            <a:avLst/>
          </a:prstGeom>
          <a:solidFill>
            <a:srgbClr val="F3F6F2"/>
          </a:solidFill>
          <a:ln w="9525">
            <a:solidFill>
              <a:srgbClr val="CBD8D0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924050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目标客户</a:t>
            </a:r>
            <a:endParaRPr sz="210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36957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00150" y="36576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电网与能源运维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24815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42100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无人机巡检服务商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48006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47625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低空运营与GIS平台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76700" y="1600200"/>
            <a:ext cx="3695700" cy="4095750"/>
          </a:xfrm>
          <a:prstGeom prst="rect">
            <a:avLst/>
          </a:prstGeom>
          <a:solidFill>
            <a:srgbClr val="E5F3E8"/>
          </a:solidFill>
          <a:ln w="9525">
            <a:solidFill>
              <a:srgbClr val="CBD8D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43400" y="1924050"/>
            <a:ext cx="3162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F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产品交付</a:t>
            </a:r>
            <a:endParaRPr sz="2100" b="1">
              <a:solidFill>
                <a:srgbClr val="102F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43400" y="36957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62500" y="36576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私有化部署平台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343400" y="424815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62500" y="421005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时空诊断API / SDK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43400" y="48006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8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1F8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762500" y="47625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24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年度模型维护服务</a:t>
            </a:r>
            <a:endParaRPr sz="1350" b="0">
              <a:solidFill>
                <a:srgbClr val="324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0" y="1600200"/>
            <a:ext cx="3676650" cy="4095750"/>
          </a:xfrm>
          <a:prstGeom prst="rect">
            <a:avLst/>
          </a:prstGeom>
          <a:solidFill>
            <a:srgbClr val="083727"/>
          </a:solidFill>
          <a:ln w="9525">
            <a:solidFill>
              <a:srgbClr val="08372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267700" y="19240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选择我们的理由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267700" y="36957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91CD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86800" y="36576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不替换现有无人机</a:t>
            </a:r>
            <a:endParaRPr sz="1350" b="0">
              <a:solidFill>
                <a:srgbClr val="DCEB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267700" y="424815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91CD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686800" y="42100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能指出模型失效位置</a:t>
            </a:r>
            <a:endParaRPr sz="1350" b="0">
              <a:solidFill>
                <a:srgbClr val="DCEB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67700" y="48006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1CD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91CD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686800" y="47625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CEB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固定预算持续学新保旧</a:t>
            </a:r>
            <a:endParaRPr sz="1350" b="0">
              <a:solidFill>
                <a:srgbClr val="DCEB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14350" y="5981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D97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97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商业化切入：先服务电力巡检软件与算法需求，再复制到交通、通信和园区。</a:t>
            </a:r>
            <a:endParaRPr sz="1575" b="1">
              <a:solidFill>
                <a:srgbClr val="D978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920" y="2381250"/>
            <a:ext cx="1298610" cy="1066800"/>
          </a:xfrm>
          <a:prstGeom prst="roundRect">
            <a:avLst>
              <a:gd name="adj" fmla="val 5357"/>
            </a:avLst>
          </a:prstGeom>
        </p:spPr>
      </p:pic>
      <p:sp>
        <p:nvSpPr>
          <p:cNvPr id="43" name="矩形 42"/>
          <p:cNvSpPr>
            <a:spLocks noGrp="1"/>
          </p:cNvSpPr>
          <p:nvPr/>
        </p:nvSpPr>
        <p:spPr>
          <a:xfrm>
            <a:off x="781050" y="3257550"/>
            <a:ext cx="2800350" cy="190500"/>
          </a:xfrm>
          <a:prstGeom prst="rect">
            <a:avLst/>
          </a:prstGeom>
          <a:solidFill>
            <a:srgbClr val="0B7880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真实需求：新疆哈密电力无人机巡检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156" y="2381250"/>
            <a:ext cx="754788" cy="1066800"/>
          </a:xfrm>
          <a:prstGeom prst="roundRect">
            <a:avLst>
              <a:gd name="adj" fmla="val 5357"/>
            </a:avLst>
          </a:prstGeom>
        </p:spPr>
      </p:pic>
      <p:sp>
        <p:nvSpPr>
          <p:cNvPr id="45" name="矩形 44"/>
          <p:cNvSpPr>
            <a:spLocks noGrp="1"/>
          </p:cNvSpPr>
          <p:nvPr/>
        </p:nvSpPr>
        <p:spPr>
          <a:xfrm>
            <a:off x="4343400" y="3257550"/>
            <a:ext cx="3162300" cy="190500"/>
          </a:xfrm>
          <a:prstGeom prst="rect">
            <a:avLst/>
          </a:prstGeom>
          <a:solidFill>
            <a:srgbClr val="B85E26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交付物：时空局部风险正式诊断报告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3"/>
          <a:srcRect t="14004" b="14004"/>
          <a:stretch>
            <a:fillRect/>
          </a:stretch>
        </p:blipFill>
        <p:spPr>
          <a:xfrm>
            <a:off x="8267700" y="2381250"/>
            <a:ext cx="3143250" cy="1066800"/>
          </a:xfrm>
          <a:prstGeom prst="roundRect">
            <a:avLst>
              <a:gd name="adj" fmla="val 5357"/>
            </a:avLst>
          </a:prstGeom>
        </p:spPr>
      </p:pic>
      <p:sp>
        <p:nvSpPr>
          <p:cNvPr id="47" name="矩形 46"/>
          <p:cNvSpPr>
            <a:spLocks noGrp="1"/>
          </p:cNvSpPr>
          <p:nvPr/>
        </p:nvSpPr>
        <p:spPr>
          <a:xfrm>
            <a:off x="8267700" y="3257550"/>
            <a:ext cx="3143250" cy="190500"/>
          </a:xfrm>
          <a:prstGeom prst="rect">
            <a:avLst/>
          </a:prstGeom>
          <a:solidFill>
            <a:srgbClr val="1E6A50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固定600样本预算下，三层方法优于ER</a:t>
            </a:r>
            <a:endParaRPr sz="8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514350" y="304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9FD2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FD2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验证与落地路线</a:t>
            </a:r>
            <a:endParaRPr sz="975" b="1">
              <a:solidFill>
                <a:srgbClr val="9FD2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286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从公开数据仿真走向真实巡检验证</a:t>
            </a:r>
            <a:endParaRPr sz="27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8FB2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FB2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8FB2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28650" y="17907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050" b="1">
              <a:solidFill>
                <a:srgbClr val="83C9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2450" y="30099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仿真交互闭环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52450" y="3429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航线、风险分区与观测联动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区域诊断与复飞建议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52450" y="3962400"/>
            <a:ext cx="2381250" cy="9525"/>
          </a:xfrm>
          <a:prstGeom prst="rect">
            <a:avLst/>
          </a:prstGeom>
          <a:solidFill>
            <a:srgbClr val="356B53"/>
          </a:solidFill>
          <a:ln w="0">
            <a:solidFill>
              <a:srgbClr val="356B5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05200" y="17907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83C9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429000" y="30099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实验稳健性补强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429000" y="3429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固定数据协议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报告均值、方差与显著性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429000" y="3962400"/>
            <a:ext cx="2381250" cy="9525"/>
          </a:xfrm>
          <a:prstGeom prst="rect">
            <a:avLst/>
          </a:prstGeom>
          <a:solidFill>
            <a:srgbClr val="356B53"/>
          </a:solidFill>
          <a:ln w="0">
            <a:solidFill>
              <a:srgbClr val="356B5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81750" y="17907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83C9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305550" y="30099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电力巡检试点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305550" y="3429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真实任务包接入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坐标质量与业务目标校准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305550" y="3962400"/>
            <a:ext cx="2381250" cy="9525"/>
          </a:xfrm>
          <a:prstGeom prst="rect">
            <a:avLst/>
          </a:prstGeom>
          <a:solidFill>
            <a:srgbClr val="356B53"/>
          </a:solidFill>
          <a:ln w="0">
            <a:solidFill>
              <a:srgbClr val="356B5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258300" y="17907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83C9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182100" y="30099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场景能力扩展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182100" y="3429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交通、通信与水利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BD4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模型版本与任务管理</a:t>
            </a:r>
            <a:endParaRPr sz="1350" b="0">
              <a:solidFill>
                <a:srgbClr val="BBD4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182100" y="3962400"/>
            <a:ext cx="2381250" cy="9525"/>
          </a:xfrm>
          <a:prstGeom prst="rect">
            <a:avLst/>
          </a:prstGeom>
          <a:solidFill>
            <a:srgbClr val="356B53"/>
          </a:solidFill>
          <a:ln w="0">
            <a:solidFill>
              <a:srgbClr val="356B53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44767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83C9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当前成果</a:t>
            </a:r>
            <a:endParaRPr sz="1350" b="1">
              <a:solidFill>
                <a:srgbClr val="83C9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49149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027"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新版航线风险图、公开数据实验与正式诊断报告已完成 → 近期补齐多种子结果，再进入真实电力任务联调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5350" y="581025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0">
                <a:solidFill>
                  <a:srgbClr val="CBE1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BE1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路线图按证据成熟度推进：已完成部分直接展示，未来阶段明确标注为目标，不包装成已部署成果。</a:t>
            </a:r>
            <a:endParaRPr sz="1575" b="0">
              <a:solidFill>
                <a:srgbClr val="CBE1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rcRect t="16735" b="16735"/>
          <a:stretch>
            <a:fillRect/>
          </a:stretch>
        </p:blipFill>
        <p:spPr>
          <a:xfrm>
            <a:off x="552450" y="1714500"/>
            <a:ext cx="2381250" cy="1123950"/>
          </a:xfrm>
          <a:prstGeom prst="roundRect">
            <a:avLst>
              <a:gd name="adj" fmla="val 5085"/>
            </a:avLst>
          </a:prstGeom>
        </p:spPr>
      </p:pic>
      <p:sp>
        <p:nvSpPr>
          <p:cNvPr id="25" name="矩形 2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552450" y="2647950"/>
            <a:ext cx="2381250" cy="190500"/>
          </a:xfrm>
          <a:prstGeom prst="rect">
            <a:avLst/>
          </a:prstGeom>
          <a:solidFill>
            <a:srgbClr val="0B7880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已完成：航线风险图联动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rcRect t="10413" b="10413"/>
          <a:stretch>
            <a:fillRect/>
          </a:stretch>
        </p:blipFill>
        <p:spPr>
          <a:xfrm>
            <a:off x="3429000" y="1714500"/>
            <a:ext cx="2381250" cy="1123950"/>
          </a:xfrm>
          <a:prstGeom prst="roundRect">
            <a:avLst>
              <a:gd name="adj" fmla="val 5085"/>
            </a:avLst>
          </a:prstGeom>
        </p:spPr>
      </p:pic>
      <p:sp>
        <p:nvSpPr>
          <p:cNvPr id="27" name="矩形 26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3429000" y="2647950"/>
            <a:ext cx="2381250" cy="190500"/>
          </a:xfrm>
          <a:prstGeom prst="rect">
            <a:avLst/>
          </a:prstGeom>
          <a:solidFill>
            <a:srgbClr val="0B7880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近期补齐：多种子统计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58" name="图片 57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rcRect t="8044" b="8044"/>
          <a:stretch>
            <a:fillRect/>
          </a:stretch>
        </p:blipFill>
        <p:spPr>
          <a:xfrm>
            <a:off x="6305550" y="1714500"/>
            <a:ext cx="2381250" cy="1123950"/>
          </a:xfrm>
          <a:prstGeom prst="roundRect">
            <a:avLst>
              <a:gd name="adj" fmla="val 5085"/>
            </a:avLst>
          </a:prstGeom>
        </p:spPr>
      </p:pic>
      <p:sp>
        <p:nvSpPr>
          <p:cNvPr id="29" name="矩形 28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6305550" y="2647950"/>
            <a:ext cx="2381250" cy="190500"/>
          </a:xfrm>
          <a:prstGeom prst="rect">
            <a:avLst/>
          </a:prstGeom>
          <a:solidFill>
            <a:srgbClr val="B85E26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目标阶段：真实任务联调</a:t>
            </a:r>
            <a:endParaRPr sz="825" b="1">
              <a:solidFill>
                <a:srgbClr val="FFFFFF"/>
              </a:solidFill>
            </a:endParaRPr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rcRect t="18533" b="18533"/>
          <a:stretch>
            <a:fillRect/>
          </a:stretch>
        </p:blipFill>
        <p:spPr>
          <a:xfrm>
            <a:off x="9182100" y="1714500"/>
            <a:ext cx="2381250" cy="1123950"/>
          </a:xfrm>
          <a:prstGeom prst="roundRect">
            <a:avLst>
              <a:gd name="adj" fmla="val 5085"/>
            </a:avLst>
          </a:prstGeom>
        </p:spPr>
      </p:pic>
      <p:sp>
        <p:nvSpPr>
          <p:cNvPr id="31" name="矩形 30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9182100" y="2647950"/>
            <a:ext cx="2381250" cy="190500"/>
          </a:xfrm>
          <a:prstGeom prst="rect">
            <a:avLst/>
          </a:prstGeom>
          <a:solidFill>
            <a:srgbClr val="B85E26">
              <a:alpha val="9098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后续阶段：多行业复制</a:t>
            </a:r>
            <a:endParaRPr sz="8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2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3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4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5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6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7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8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9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10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11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12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13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14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15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16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17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18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19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20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21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22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23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ags/tag24.xml><?xml version="1.0" encoding="utf-8"?>
<p:tagLst xmlns:p="http://schemas.openxmlformats.org/presentationml/2006/main">
  <p:tag name="KSO_WM_DIAGRAM_VIRTUALLY_FRAME" val="{&quot;height&quot;:189,&quot;left&quot;:43.5,&quot;top&quot;:135,&quot;width&quot;:867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2582</Words>
  <Application>WPS 演示</Application>
  <PresentationFormat>Converted Presentation</PresentationFormat>
  <Paragraphs>481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</cp:lastModifiedBy>
  <cp:revision>1</cp:revision>
  <dcterms:created xsi:type="dcterms:W3CDTF">2026-08-06T15:34:54Z</dcterms:created>
  <dcterms:modified xsi:type="dcterms:W3CDTF">2026-08-06T15:34:54Z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9F4B98C13BB942538510A8E7B6E6C04A_12</vt:lpwstr>
  </property>
  <property fmtid="{D5CDD505-2E9C-101B-9397-08002B2CF9AE}" pid="3" name="KSOProductBuildVer">
    <vt:lpwstr>2052-12.1.0.21171</vt:lpwstr>
  </property>
</Properties>
</file>