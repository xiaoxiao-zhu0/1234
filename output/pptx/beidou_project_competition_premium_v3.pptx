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cd0815d2724e02" /><Relationship Type="http://schemas.openxmlformats.org/officeDocument/2006/relationships/extended-properties" Target="/docProps/app.xml" Id="Ra54c5f25d8ae4e78" /><Relationship Type="http://schemas.openxmlformats.org/officeDocument/2006/relationships/officeDocument" Target="/ppt/presentation.xml" Id="Rafc4e560419045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a6cd6fb1d423e"/>
  </p:sldMasterIdLst>
  <p:notesMasterIdLst>
    <p:notesMasterId xmlns:r="http://schemas.openxmlformats.org/officeDocument/2006/relationships" r:id="Rf929e33eb16345f1"/>
  </p:notesMasterIdLst>
  <p:sldIdLst>
    <p:sldId xmlns:r="http://schemas.openxmlformats.org/officeDocument/2006/relationships" id="256" r:id="R4fa6976e731f43c9"/>
    <p:sldId xmlns:r="http://schemas.openxmlformats.org/officeDocument/2006/relationships" id="257" r:id="R354507b86ecc4a1b"/>
    <p:sldId xmlns:r="http://schemas.openxmlformats.org/officeDocument/2006/relationships" id="258" r:id="Rdd062bcf74ae44c4"/>
    <p:sldId xmlns:r="http://schemas.openxmlformats.org/officeDocument/2006/relationships" id="259" r:id="Rd29c418f63714332"/>
    <p:sldId xmlns:r="http://schemas.openxmlformats.org/officeDocument/2006/relationships" id="260" r:id="R8d91bada05f149e1"/>
    <p:sldId xmlns:r="http://schemas.openxmlformats.org/officeDocument/2006/relationships" id="261" r:id="Rcfb0f8b5da424a35"/>
    <p:sldId xmlns:r="http://schemas.openxmlformats.org/officeDocument/2006/relationships" id="262" r:id="Rcc21180da8a74a4c"/>
    <p:sldId xmlns:r="http://schemas.openxmlformats.org/officeDocument/2006/relationships" id="263" r:id="R6befb8ba1ffc49de"/>
    <p:sldId xmlns:r="http://schemas.openxmlformats.org/officeDocument/2006/relationships" id="264" r:id="Ra714cd003e3e4f28"/>
    <p:sldId xmlns:r="http://schemas.openxmlformats.org/officeDocument/2006/relationships" id="265" r:id="R95c0483b876440be"/>
    <p:sldId xmlns:r="http://schemas.openxmlformats.org/officeDocument/2006/relationships" id="266" r:id="R343deff4ba5a465d"/>
    <p:sldId xmlns:r="http://schemas.openxmlformats.org/officeDocument/2006/relationships" id="267" r:id="R9f98e3fee7214081"/>
    <p:sldId xmlns:r="http://schemas.openxmlformats.org/officeDocument/2006/relationships" id="268" r:id="R6a48e7c6edf047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fb14fb6717478a" /><Relationship Type="http://schemas.openxmlformats.org/officeDocument/2006/relationships/slideMaster" Target="/ppt/slideMasters/slideMaster1.xml" Id="R31ea6cd6fb1d423e" /><Relationship Type="http://schemas.openxmlformats.org/officeDocument/2006/relationships/notesMaster" Target="/ppt/notesMasters/notesMaster1.xml" Id="Rf929e33eb16345f1" /><Relationship Type="http://schemas.openxmlformats.org/officeDocument/2006/relationships/presProps" Target="/ppt/presProps.xml" Id="R4d0260e2421c4a77" /><Relationship Type="http://schemas.openxmlformats.org/officeDocument/2006/relationships/tableStyles" Target="/ppt/tableStyles.xml" Id="R3cd7454410134667" /><Relationship Type="http://schemas.openxmlformats.org/officeDocument/2006/relationships/slide" Target="/ppt/slides/slide1.xml" Id="R4fa6976e731f43c9" /><Relationship Type="http://schemas.openxmlformats.org/officeDocument/2006/relationships/slide" Target="/ppt/slides/slide2.xml" Id="R354507b86ecc4a1b" /><Relationship Type="http://schemas.openxmlformats.org/officeDocument/2006/relationships/slide" Target="/ppt/slides/slide3.xml" Id="Rdd062bcf74ae44c4" /><Relationship Type="http://schemas.openxmlformats.org/officeDocument/2006/relationships/slide" Target="/ppt/slides/slide4.xml" Id="Rd29c418f63714332" /><Relationship Type="http://schemas.openxmlformats.org/officeDocument/2006/relationships/slide" Target="/ppt/slides/slide5.xml" Id="R8d91bada05f149e1" /><Relationship Type="http://schemas.openxmlformats.org/officeDocument/2006/relationships/slide" Target="/ppt/slides/slide6.xml" Id="Rcfb0f8b5da424a35" /><Relationship Type="http://schemas.openxmlformats.org/officeDocument/2006/relationships/slide" Target="/ppt/slides/slide7.xml" Id="Rcc21180da8a74a4c" /><Relationship Type="http://schemas.openxmlformats.org/officeDocument/2006/relationships/slide" Target="/ppt/slides/slide8.xml" Id="R6befb8ba1ffc49de" /><Relationship Type="http://schemas.openxmlformats.org/officeDocument/2006/relationships/slide" Target="/ppt/slides/slide9.xml" Id="Ra714cd003e3e4f28" /><Relationship Type="http://schemas.openxmlformats.org/officeDocument/2006/relationships/slide" Target="/ppt/slides/slide10.xml" Id="R95c0483b876440be" /><Relationship Type="http://schemas.openxmlformats.org/officeDocument/2006/relationships/slide" Target="/ppt/slides/slide11.xml" Id="R343deff4ba5a465d" /><Relationship Type="http://schemas.openxmlformats.org/officeDocument/2006/relationships/slide" Target="/ppt/slides/slide12.xml" Id="R9f98e3fee7214081" /><Relationship Type="http://schemas.openxmlformats.org/officeDocument/2006/relationships/slide" Target="/ppt/slides/slide13.xml" Id="R6a48e7c6edf0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fea1ca884640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442f93c64748f0" /><Relationship Type="http://schemas.openxmlformats.org/officeDocument/2006/relationships/notesMaster" Target="/ppt/notesMasters/notesMaster1.xml" Id="R6f1c9673667d44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289bd458784635" /><Relationship Type="http://schemas.openxmlformats.org/officeDocument/2006/relationships/notesMaster" Target="/ppt/notesMasters/notesMaster1.xml" Id="Rd9afca9a8a4341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43ec26c34f4bff" /><Relationship Type="http://schemas.openxmlformats.org/officeDocument/2006/relationships/notesMaster" Target="/ppt/notesMasters/notesMaster1.xml" Id="Rd392e13ef32c45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62f09c697840c5" /><Relationship Type="http://schemas.openxmlformats.org/officeDocument/2006/relationships/notesMaster" Target="/ppt/notesMasters/notesMaster1.xml" Id="R4cca7816991241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111517b8b14372" /><Relationship Type="http://schemas.openxmlformats.org/officeDocument/2006/relationships/notesMaster" Target="/ppt/notesMasters/notesMaster1.xml" Id="R6f3575f6690844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90f03d19f24ee5" /><Relationship Type="http://schemas.openxmlformats.org/officeDocument/2006/relationships/notesMaster" Target="/ppt/notesMasters/notesMaster1.xml" Id="Re75c63f1d9d646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ca1adab1f5493c" /><Relationship Type="http://schemas.openxmlformats.org/officeDocument/2006/relationships/notesMaster" Target="/ppt/notesMasters/notesMaster1.xml" Id="Rb876fce03a5e4e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90320f9035408f" /><Relationship Type="http://schemas.openxmlformats.org/officeDocument/2006/relationships/notesMaster" Target="/ppt/notesMasters/notesMaster1.xml" Id="R91deff4ca40a46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d0a27afdc44c8b" /><Relationship Type="http://schemas.openxmlformats.org/officeDocument/2006/relationships/notesMaster" Target="/ppt/notesMasters/notesMaster1.xml" Id="R654f0f34fb264c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eac2264b494bc6" /><Relationship Type="http://schemas.openxmlformats.org/officeDocument/2006/relationships/notesMaster" Target="/ppt/notesMasters/notesMaster1.xml" Id="Rfd6ee5b45f274b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b747367c32494b" /><Relationship Type="http://schemas.openxmlformats.org/officeDocument/2006/relationships/notesMaster" Target="/ppt/notesMasters/notesMaster1.xml" Id="R27c653f159dc40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9ca225be1b40a1" /><Relationship Type="http://schemas.openxmlformats.org/officeDocument/2006/relationships/notesMaster" Target="/ppt/notesMasters/notesMaster1.xml" Id="R052d8d8263b34d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c415304e82420f" /><Relationship Type="http://schemas.openxmlformats.org/officeDocument/2006/relationships/notesMaster" Target="/ppt/notesMasters/notesMaster1.xml" Id="R675f42740f4948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positioning and prototype: D:/Desktop/北斗智巡/beidou_competition_shared</a:t>
            </a:r>
          </a:p>
          <a:p xmlns:a="http://schemas.openxmlformats.org/drawingml/2006/main">
            <a:r>
              <a:t>- Cover image: https://commons.wikimedia.org/wiki/File:Aerial_view_of_Porvoo_Ilola_electricity_pylons.jpg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- 2024 Government Work Report screenshot and claim: https://www.gov.cn/yaowen/liebiao/202403/content_6939153.htm</a:t>
            </a:r>
          </a:p>
          <a:p xmlns:a="http://schemas.openxmlformats.org/drawingml/2006/main">
            <a:r>
              <a:t>- General Aviation Equipment Innovation Application Implementation Plan (2024-2030): https://www.gov.cn/zhengce/zhengceku/202403/content_6942115.htm</a:t>
            </a:r>
          </a:p>
          <a:p xmlns:a="http://schemas.openxmlformats.org/drawingml/2006/main">
            <a:r>
              <a:t>- 中国卫星导航定位协会：《2024中国卫星导航与位置服务产业发展白皮书》；2023年产业总体产值5362亿元。</a:t>
            </a:r>
          </a:p>
          <a:p xmlns:a="http://schemas.openxmlformats.org/drawingml/2006/main">
            <a:r>
              <a:t>- Boundary: macro figures describe the policy and industry window, not this project's directly addressable market.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case evidence image: D:\Desktop\北斗智巡\beidou_competition_shared\docs\evidence\新疆哈密电力无人机巡检_重点标注与佐证说明_正式版.png</a:t>
            </a:r>
          </a:p>
          <a:p xmlns:a="http://schemas.openxmlformats.org/drawingml/2006/main">
            <a:r>
              <a:t>- Source shown in evidence: 国网新疆哈密供电公司，2026-06-17。</a:t>
            </a:r>
          </a:p>
          <a:p xmlns:a="http://schemas.openxmlformats.org/drawingml/2006/main">
            <a:r>
              <a:t>- Boundary: this case proves real UAV inspection demand; it does not prove deployment or algorithm results for this project.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VisDrone public aerial sample: D:\Desktop\北斗智巡\beidou_competition_shared\assets\aerial\visdrone-road-observation.jpg</a:t>
            </a:r>
          </a:p>
          <a:p xmlns:a="http://schemas.openxmlformats.org/drawingml/2006/main">
            <a:r>
              <a:t>- Mountain landslide and construction-zone public aerial images: D:/Desktop/北斗智巡/beidou_competition_shared/assets/aerial/README_CN.md</a:t>
            </a:r>
          </a:p>
          <a:p xmlns:a="http://schemas.openxmlformats.org/drawingml/2006/main">
            <a:r>
              <a:t>- Project problem framing and audited result boundary: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https://commons.wikimedia.org/wiki/File:Aerial_view_of_Porvoo_Ilola_electricity_pylons.jpg</a:t>
            </a:r>
          </a:p>
          <a:p xmlns:a="http://schemas.openxmlformats.org/drawingml/2006/main">
            <a:r>
              <a:t>- https://commons.wikimedia.org/wiki/File:Mud_Creek_Landslide_(southeast_of_Gorda,_California,_USA).jpg</a:t>
            </a:r>
          </a:p>
          <a:p xmlns:a="http://schemas.openxmlformats.org/drawingml/2006/main">
            <a:r>
              <a:t>- https://commons.wikimedia.org/wiki/File:Aerial_perspective_of_the_bridge_across_Dongshan_river.jpg</a:t>
            </a:r>
          </a:p>
          <a:p xmlns:a="http://schemas.openxmlformats.org/drawingml/2006/main">
            <a:r>
              <a:t>- https://commons.wikimedia.org/wiki/File:Aerial_photo_of_construction_site_of_Akabanedai_tunnel.jpg</a:t>
            </a:r>
          </a:p>
          <a:p xmlns:a="http://schemas.openxmlformats.org/drawingml/2006/main">
            <a:r>
              <a:t>- Asset provenance: D:/Desktop/北斗智巡/beidou_competition_shared/assets/aerial/README_CN.md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imagery uses project-local public aerial assets, product screenshots, and architecture diagram.</a:t>
            </a:r>
          </a:p>
          <a:p xmlns:a="http://schemas.openxmlformats.org/drawingml/2006/main">
            <a:r>
              <a:t>- Aerial provenance: D:/Desktop/北斗智巡/beidou_competition_shared/assets/aerial/README_CN.md</a:t>
            </a:r>
          </a:p>
          <a:p xmlns:a="http://schemas.openxmlformats.org/drawingml/2006/main">
            <a:r>
              <a:t>- BeiDou-3 satellite mockup: https://commons.wikimedia.org/wiki/File:Beidou-3_Satellite_Mockup.jpg (CC BY-SA 4.0, AKAMGO yalms).</a:t>
            </a:r>
          </a:p>
          <a:p xmlns:a="http://schemas.openxmlformats.org/drawingml/2006/main">
            <a:r>
              <a:t>- Product and framework assets: D:/Desktop/北斗智巡/beidou_competition_shared/assets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VisDrone public aerial sample: D:\Desktop\北斗智巡\beidou_competition_shared\assets\aerial\visdrone-parking-observation.jpg</a:t>
            </a:r>
          </a:p>
          <a:p xmlns:a="http://schemas.openxmlformats.org/drawingml/2006/main">
            <a:r>
              <a:t>- BeiDou-3 satellite mockup: https://commons.wikimedia.org/wiki/File:Beidou-3_Satellite_Mockup.jpg (CC BY-SA 4.0, AKAMGO yalms).</a:t>
            </a:r>
          </a:p>
          <a:p xmlns:a="http://schemas.openxmlformats.org/drawingml/2006/main">
            <a:r>
              <a:t>- Project Beidou/AI technical boundary: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private algorithm design summary. Public-facing name: 三层稳健知识回放.</a:t>
            </a:r>
          </a:p>
          <a:p xmlns:a="http://schemas.openxmlformats.org/drawingml/2006/main">
            <a:r>
              <a:t>- Audited public result: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screenshots and system framework: D:/Desktop/北斗智巡/beidou_competition_shared/assets</a:t>
            </a:r>
          </a:p>
          <a:p xmlns:a="http://schemas.openxmlformats.org/drawingml/2006/main">
            <a:r>
              <a:t>- Innovation claims are bounded by the audited result contract: D:/Desktop/北斗智巡/beidou_competition_shared/data_contract/public_result.json</a:t>
            </a:r>
          </a:p>
          <a:p xmlns:a="http://schemas.openxmlformats.org/drawingml/2006/main">
            <a:r>
              <a:t>- Dynamic location-budget training improvement remains a planned deeper validation item.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prototype screenshot: D:\Desktop\北斗智巡\beidou_competition_shared\assets\screenshots\beidou_product_board.png</a:t>
            </a:r>
          </a:p>
          <a:p xmlns:a="http://schemas.openxmlformats.org/drawingml/2006/main">
            <a:r>
              <a:t>- Prototype data source: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Audited experiment result: D:/Desktop/北斗智巡/beidou_competition_shared/data_contract/public_result.json</a:t>
            </a:r>
          </a:p>
          <a:p xmlns:a="http://schemas.openxmlformats.org/drawingml/2006/main">
            <a:r>
              <a:t>- ER accuracy 31.4811%; three-layer method 43.5945%; average forgetting 51.3232% vs 32.0917%.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Power corridor and communication tower public aerial images: D:/Desktop/北斗智巡/beidou_competition_shared/assets/aerial/README_CN.md</a:t>
            </a:r>
          </a:p>
          <a:p xmlns:a="http://schemas.openxmlformats.org/drawingml/2006/main">
            <a:r>
              <a:t>- Product screenshot: D:\Desktop\北斗智巡\beidou_competition_shared\assets\screenshots\dashboard_mobile.png</a:t>
            </a:r>
          </a:p>
          <a:p xmlns:a="http://schemas.openxmlformats.org/drawingml/2006/main">
            <a:r>
              <a:t>- Customer and commercialization statements are project planning assumptions, not signed contracts or realized revenue.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Roadmap visuals use project-local public aerial images and product prototype screenshot.</a:t>
            </a:r>
          </a:p>
          <a:p xmlns:a="http://schemas.openxmlformats.org/drawingml/2006/main">
            <a:r>
              <a:t>- Current evidence status: D:/Desktop/北斗智巡/beidou_competition_shared/data_contract/public_result.json</a:t>
            </a:r>
          </a:p>
          <a:p xmlns:a="http://schemas.openxmlformats.org/drawingml/2006/main">
            <a:r>
              <a:t>- The roadmap is a project plan, not a claim of completed deployment.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d2d716dea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ad3cbce434d75" /><Relationship Type="http://schemas.openxmlformats.org/officeDocument/2006/relationships/slideLayout" Target="/ppt/slideLayouts/slideLayout1.xml" Id="R5db7f0894b3b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b7f0894b3b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1de33615a480c" /><Relationship Type="http://schemas.openxmlformats.org/officeDocument/2006/relationships/image" Target="/ppt/media/image.jpeg" Id="Rbafa225e8d5c41f8" /><Relationship Type="http://schemas.openxmlformats.org/officeDocument/2006/relationships/notesSlide" Target="/ppt/notesSlides/notesSlide1.xml" Id="R98b53610c152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54034c8904159" /><Relationship Type="http://schemas.openxmlformats.org/officeDocument/2006/relationships/image" Target="/ppt/media/image.png" Id="R78779c51b0df47cd" /><Relationship Type="http://schemas.openxmlformats.org/officeDocument/2006/relationships/image" Target="/ppt/media/image2.png" Id="Re1feb9c79a8647be" /><Relationship Type="http://schemas.openxmlformats.org/officeDocument/2006/relationships/notesSlide" Target="/ppt/notesSlides/notesSlide2.xml" Id="Reae591cca00043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9bf5c8ff64442" /><Relationship Type="http://schemas.openxmlformats.org/officeDocument/2006/relationships/image" Target="/ppt/media/image3.png" Id="R7b97d8e8c00a4463" /><Relationship Type="http://schemas.openxmlformats.org/officeDocument/2006/relationships/notesSlide" Target="/ppt/notesSlides/notesSlide3.xml" Id="Rd67991f16e0f4d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84bab168541d1" /><Relationship Type="http://schemas.openxmlformats.org/officeDocument/2006/relationships/image" Target="/ppt/media/image2.jpeg" Id="Rff7f12e5e6bd48c3" /><Relationship Type="http://schemas.openxmlformats.org/officeDocument/2006/relationships/image" Target="/ppt/media/image3.jpeg" Id="R925bbc34b09d411f" /><Relationship Type="http://schemas.openxmlformats.org/officeDocument/2006/relationships/image" Target="/ppt/media/image4.jpeg" Id="R4e586d62e5444483" /><Relationship Type="http://schemas.openxmlformats.org/officeDocument/2006/relationships/notesSlide" Target="/ppt/notesSlides/notesSlide4.xml" Id="R2ca1c31cf8814b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d0753377c4b36" /><Relationship Type="http://schemas.openxmlformats.org/officeDocument/2006/relationships/image" Target="/ppt/media/image5.jpeg" Id="R41d546c2ae2a40e6" /><Relationship Type="http://schemas.openxmlformats.org/officeDocument/2006/relationships/image" Target="/ppt/media/image6.jpeg" Id="R4c504c9492d84b60" /><Relationship Type="http://schemas.openxmlformats.org/officeDocument/2006/relationships/image" Target="/ppt/media/image7.jpeg" Id="R23c4c1bccb9e4d4f" /><Relationship Type="http://schemas.openxmlformats.org/officeDocument/2006/relationships/image" Target="/ppt/media/image8.jpeg" Id="Rbcb383239af445be" /><Relationship Type="http://schemas.openxmlformats.org/officeDocument/2006/relationships/notesSlide" Target="/ppt/notesSlides/notesSlide5.xml" Id="R6ecb4a3ed40e4e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404f9a36f4d34" /><Relationship Type="http://schemas.openxmlformats.org/officeDocument/2006/relationships/image" Target="/ppt/media/image9.jpeg" Id="Rcbc5ddd69dff4ff6" /><Relationship Type="http://schemas.openxmlformats.org/officeDocument/2006/relationships/image" Target="/ppt/media/image10.jpeg" Id="R9f214cbc3a184e13" /><Relationship Type="http://schemas.openxmlformats.org/officeDocument/2006/relationships/image" Target="/ppt/media/image11.jpeg" Id="R69a4d3ac3c2b4f11" /><Relationship Type="http://schemas.openxmlformats.org/officeDocument/2006/relationships/image" Target="/ppt/media/image12.jpeg" Id="R640be9922d00439b" /><Relationship Type="http://schemas.openxmlformats.org/officeDocument/2006/relationships/image" Target="/ppt/media/image4.png" Id="Rc31ec91023614077" /><Relationship Type="http://schemas.openxmlformats.org/officeDocument/2006/relationships/image" Target="/ppt/media/image5.png" Id="R68284c9a24234df6" /><Relationship Type="http://schemas.openxmlformats.org/officeDocument/2006/relationships/image" Target="/ppt/media/image13.jpeg" Id="Rb3d46890c69f4f73" /><Relationship Type="http://schemas.openxmlformats.org/officeDocument/2006/relationships/image" Target="/ppt/media/image6.png" Id="R1a77a7323cc54831" /><Relationship Type="http://schemas.openxmlformats.org/officeDocument/2006/relationships/notesSlide" Target="/ppt/notesSlides/notesSlide6.xml" Id="Ra7645449c155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9026433be4e70" /><Relationship Type="http://schemas.openxmlformats.org/officeDocument/2006/relationships/image" Target="/ppt/media/image14.jpeg" Id="Rc9364e8fed8b4e54" /><Relationship Type="http://schemas.openxmlformats.org/officeDocument/2006/relationships/image" Target="/ppt/media/image15.jpeg" Id="Re3007ceba1c74a26" /><Relationship Type="http://schemas.openxmlformats.org/officeDocument/2006/relationships/notesSlide" Target="/ppt/notesSlides/notesSlide7.xml" Id="Rfe83dafa2ce8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597ce04b4259" /><Relationship Type="http://schemas.openxmlformats.org/officeDocument/2006/relationships/notesSlide" Target="/ppt/notesSlides/notesSlide8.xml" Id="Rb663d0a49984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ca3f16bcb4955" /><Relationship Type="http://schemas.openxmlformats.org/officeDocument/2006/relationships/image" Target="/ppt/media/image7.png" Id="Rd6c2c869ed324e31" /><Relationship Type="http://schemas.openxmlformats.org/officeDocument/2006/relationships/image" Target="/ppt/media/image8.png" Id="R1c4310047791403c" /><Relationship Type="http://schemas.openxmlformats.org/officeDocument/2006/relationships/image" Target="/ppt/media/image9.png" Id="Rb6b7f26c285d46b6" /><Relationship Type="http://schemas.openxmlformats.org/officeDocument/2006/relationships/notesSlide" Target="/ppt/notesSlides/notesSlide9.xml" Id="Re48854486f3a42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0fa1a1bf4be2" /><Relationship Type="http://schemas.openxmlformats.org/officeDocument/2006/relationships/image" Target="/ppt/media/image10.png" Id="Rc0781eae687540a2" /><Relationship Type="http://schemas.openxmlformats.org/officeDocument/2006/relationships/notesSlide" Target="/ppt/notesSlides/notesSlide10.xml" Id="Rf394c98328fc40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693d029664f9d" /><Relationship Type="http://schemas.openxmlformats.org/officeDocument/2006/relationships/chart" Target="/ppt/slides/charts/chart1.xml" Id="Ra6a16ef550924491" /><Relationship Type="http://schemas.openxmlformats.org/officeDocument/2006/relationships/notesSlide" Target="/ppt/notesSlides/notesSlide11.xml" Id="R0c28425178224a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16c487f9f4548" /><Relationship Type="http://schemas.openxmlformats.org/officeDocument/2006/relationships/image" Target="/ppt/media/image16.jpeg" Id="R26a490b69c794094" /><Relationship Type="http://schemas.openxmlformats.org/officeDocument/2006/relationships/image" Target="/ppt/media/image11.png" Id="R3d32ef7711754a5b" /><Relationship Type="http://schemas.openxmlformats.org/officeDocument/2006/relationships/image" Target="/ppt/media/image17.jpeg" Id="Reba62dcd217c41cb" /><Relationship Type="http://schemas.openxmlformats.org/officeDocument/2006/relationships/notesSlide" Target="/ppt/notesSlides/notesSlide12.xml" Id="R8954d5d6516249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e9d48a53e4ce6" /><Relationship Type="http://schemas.openxmlformats.org/officeDocument/2006/relationships/image" Target="/ppt/media/image18.jpeg" Id="Rfe54725bf3b34b1a" /><Relationship Type="http://schemas.openxmlformats.org/officeDocument/2006/relationships/image" Target="/ppt/media/image19.jpeg" Id="R95849b3e9db041b0" /><Relationship Type="http://schemas.openxmlformats.org/officeDocument/2006/relationships/image" Target="/ppt/media/image12.png" Id="R80113918d49342ab" /><Relationship Type="http://schemas.openxmlformats.org/officeDocument/2006/relationships/image" Target="/ppt/media/image20.jpeg" Id="Reb852f03557e4800" /><Relationship Type="http://schemas.openxmlformats.org/officeDocument/2006/relationships/notesSlide" Target="/ppt/notesSlides/notesSlide13.xml" Id="R77b1f0337d3e4b5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ER经验回放</c:v>
          </c:tx>
          <c:spPr>
            <a:solidFill xmlns:a="http://schemas.openxmlformats.org/drawingml/2006/main">
              <a:srgbClr val="A8B7AF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31.48</c:v>
              </c:pt>
              <c:pt idx="1">
                <c:v>51.32</c:v>
              </c:pt>
            </c:numLit>
          </c:val>
        </c:ser>
        <c:ser>
          <c:idx val="1"/>
          <c:order val="1"/>
          <c:tx>
            <c:v>三层稳健知识回放</c:v>
          </c:tx>
          <c:spPr>
            <a:solidFill xmlns:a="http://schemas.openxmlformats.org/drawingml/2006/main">
              <a:srgbClr val="1F8B59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43.59</c:v>
              </c:pt>
              <c:pt idx="1">
                <c:v>32.09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F2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8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24B4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E43C-92F2-401C-8990-3B58E30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B59"/>
          </a:solidFill>
          <a:ln xmlns:a="http://schemas.openxmlformats.org/drawingml/2006/main" w="0">
            <a:solidFill>
              <a:srgbClr val="1F8B5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D7BF-5964-45BF-9AF4-0BBD8BF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第十五届中国创新创业大赛 · 北斗时空信息专业赛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06A-81CD-41A7-ADF9-DD318C4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9F88-6C0F-4474-B183-6621900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面向低空持续巡检的时空局部诊断与模型持续更新平台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418CA-9B4C-407A-973F-F2C0F2A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D4BD-C829-45CE-A285-E3CB805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首个应用场景：输电走廊通道风险巡检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a225e8d5c41f8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05500" y="400050"/>
            <a:ext cx="5810250" cy="58102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10E6E-45B8-4C7C-AF86-0599197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9085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政策原文证据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政策不是背景装饰：低空经济与通航装备已进入国家部署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33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62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低空经济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首次写入政府工作报告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列为新的增长引擎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33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2030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62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万亿元级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52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通航装备形成万亿元级市场规模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5362亿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北斗产业基础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2023年卫星导航与位置服务产业产值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首个场景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67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电力巡检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577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高频、跨区域、结果可进入任务闭环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两份国家文件原文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左：2024年政府工作报告  |  右：通用航空装备创新应用实施方案（2024—2030年）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宏观产业规模说明政策与产业窗口，不等同于本项目可直接获得的市场规模。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79c51b0df47cd"/>
          <a:stretch xmlns:a="http://schemas.openxmlformats.org/drawingml/2006/main"/>
        </p:blipFill>
        <p:spPr>
          <a:xfrm xmlns:a="http://schemas.openxmlformats.org/drawingml/2006/main">
            <a:off x="552450" y="2368323"/>
            <a:ext cx="3143250" cy="172130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eb9c79a8647be"/>
          <a:stretch xmlns:a="http://schemas.openxmlformats.org/drawingml/2006/main"/>
        </p:blipFill>
        <p:spPr>
          <a:xfrm xmlns:a="http://schemas.openxmlformats.org/drawingml/2006/main">
            <a:off x="4095750" y="2330904"/>
            <a:ext cx="3143250" cy="1796143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44DDF-CE2B-4143-AB59-1106694D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B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中国政府网 · 政府工作报告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616CAD-4952-4A30-9B6A-E330D881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中国政府网 · 四部门联合文件</a:t>
            </a:r>
          </a:p>
        </p:txBody>
      </p:sp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官方真实案例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真实需求不是概念：新疆哈密已形成规模化无人机巡检作业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425B-ABCD-447D-A9A9-9982053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17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EFD-5237-4E8F-9B2A-02189E8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国网新疆哈密供电公司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488-7586-4922-B77F-24D0AA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611千米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C826-500D-4521-840D-AE73240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无人机线路巡检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474E-FA03-4115-9214-5E4BA1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669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112处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77B6-FDD0-4DEB-B8BA-FD3A25F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发现并消除缺陷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241-C255-47F2-83D2-F6A0574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13座变电站 · 27条输电线路 · 786台次设备带电检测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3A26-CFDC-4C8F-826E-3019E1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证据边界：该案例证明电力无人机巡检需求真实存在，不代表本项目已经在该单位部署。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F29A-D8C7-45F6-998B-FA76A7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来源：国网新疆哈密供电公司，2026-06-17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7d8e8c00a4463"/>
          <a:stretch xmlns:a="http://schemas.openxmlformats.org/drawingml/2006/main"/>
        </p:blipFill>
        <p:spPr>
          <a:xfrm xmlns:a="http://schemas.openxmlformats.org/drawingml/2006/main">
            <a:off x="5982323" y="1409700"/>
            <a:ext cx="5275604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3F12-9FF1-4A68-9DCE-9E3A2DF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业务痛点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471B2-DE20-4329-95B9-919E3BC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一次巡检越飞越久，模型会在局部区域先失效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183A-B4B8-4F0B-9A1C-B33DE9D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3456-622F-4FC4-95EC-5EAF9700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持续巡检同时面临新类别、跨区域漂移与有限回放预算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3057C-58BB-4827-B26E-6327647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传统模型通常先在某些地点失效，而不是所有区域同时下降。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6888-0046-49F8-BDE0-E22085A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948D0-BE00-4050-86DC-2FB08B6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8804-0ACC-45D1-9B71-0BD8FFCD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724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F44E2-EBDA-4683-BF6F-FF86052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① 新类别持续出现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车辆、施工目标陆续加入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6A51-B52C-41B9-9AE4-B780C34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30861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9CC7A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EBB34-6C88-48E1-AF22-EB9178F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② 同类跨区发生漂移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光照、视角与定位噪声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8AB5-7851-47DF-A783-7C75B5C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1242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B1E6-5F6C-48EC-A122-20A2CC2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历史知识被覆盖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均匀回放忽略重点区域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A082B-876A-4B47-BB88-132B329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因此必须看分区域遗忘率：全局准确率正常，也可能掩盖山区、边坡和施工区的局部失效。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f12e5e6bd48c3"/>
          <a:srcRect xmlns:a="http://schemas.openxmlformats.org/drawingml/2006/main" l="0" t="15473" r="0" b="15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43250"/>
            <a:ext cx="2305050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EDD65-6A9F-42AC-AE40-35840A23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公开航拍样例｜车辆类别持续进入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bbc34b09d411f"/>
          <a:srcRect xmlns:a="http://schemas.openxmlformats.org/drawingml/2006/main" l="0" t="27171" r="0" b="27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3143250"/>
            <a:ext cx="2667000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2112D-FAED-4464-85C5-C928D6DA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山区边坡｜地貌与视角显著变化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86d62e5444483"/>
          <a:srcRect xmlns:a="http://schemas.openxmlformats.org/drawingml/2006/main" l="0" t="29972" r="0" b="29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3143250"/>
            <a:ext cx="2705100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04C57-1034-40E4-A619-5C478722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施工区域｜高风险样本更稀少</a:t>
            </a:r>
          </a:p>
        </p:txBody>
      </p:sp>
    </p:spTree>
    <p:extLst>
      <p:ext uri="{BB962C8B-B14F-4D97-AF65-F5344CB8AC3E}">
        <p14:creationId xmlns:p14="http://schemas.microsoft.com/office/powerpoint/2010/main" val="1853281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AD3C3-8D09-46AC-9575-1238038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6162-F26A-4F9B-BC03-06DA40C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系统把一次无人机巡检变成可执行的诊断闭环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0CCA3-95FD-42E4-925F-075A716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BBAF9-3334-416A-AEF8-D398596F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北斗记录每帧时间与位置，AI识别沿线目标，平台定位模型薄弱区域并生成复飞与更新建议。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CEB0-1C91-452E-9531-5E7FF88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9C1F2-4DB9-4AA0-846E-911D38F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9181-5225-457D-9BDF-689AE14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72B16-A42C-46BE-BFD2-09DD752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航拍图像采集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419E5-0CD7-41CC-B502-4918BCC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北斗时空绑定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E95EF-DEAA-42EB-B358-82A5B24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局部风险诊断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00BB7-99B1-461D-BAAE-3749C4E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复飞与模型更新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86793-8C5A-4C39-BF7F-E9FB734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2C0D3-6D78-4319-9EC4-E139146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最终输出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03CF-3BE9-406E-9469-BCBCFC5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区域风险排序、重点复飞坐标、人工复核任务、模型更新建议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A1159-200F-48BD-9D63-4D883DE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北斗不可替代的作用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237D6-839C-45CE-BA8B-1C1E3D8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让每次识别结果可定位、可分区、可回溯，并能直接转化为巡检任务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546c2ae2a40e6"/>
          <a:srcRect xmlns:a="http://schemas.openxmlformats.org/drawingml/2006/main" l="0" t="25641" r="0" b="25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647950"/>
            <a:ext cx="198120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04c9492d84b60"/>
          <a:srcRect xmlns:a="http://schemas.openxmlformats.org/drawingml/2006/main" l="0" t="26293" r="0" b="26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4c1bccb9e4d4f"/>
          <a:srcRect xmlns:a="http://schemas.openxmlformats.org/drawingml/2006/main" l="0" t="19011" r="0" b="19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383239af445be"/>
          <a:srcRect xmlns:a="http://schemas.openxmlformats.org/drawingml/2006/main" l="0" t="28905" r="0" b="28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FF5C8-1E61-425D-A40B-E40248ED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6A4418-CDF4-47BE-A1A7-ABF11291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8ADBC-8F78-428B-9249-4CB2FB6A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CBD85-A89C-48A7-A9E8-2535631A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FCE22-1D75-4B4E-BA18-21EBF6BA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C75"/>
                </a:solidFill>
              </a:defRPr>
            </a:pPr>
            <a:r>
              <a:rPr sz="900" b="1">
                <a:solidFill>
                  <a:srgbClr val="667C75"/>
                </a:solidFill>
              </a:rPr>
              <a:t>真实航拍输入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0061E-C410-4629-8378-A55AAD0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90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C75"/>
                </a:solidFill>
              </a:defRPr>
            </a:pPr>
            <a:r>
              <a:rPr sz="900" b="1">
                <a:solidFill>
                  <a:srgbClr val="667C75"/>
                </a:solidFill>
              </a:rPr>
              <a:t>坐标与时间戳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2DF5F-93F1-446A-8205-A4EAAB4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90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C75"/>
                </a:solidFill>
              </a:defRPr>
            </a:pPr>
            <a:r>
              <a:rPr sz="900" b="1">
                <a:solidFill>
                  <a:srgbClr val="667C75"/>
                </a:solidFill>
              </a:rPr>
              <a:t>定位模型薄弱区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F1CC95-F143-4D9C-975A-311B95B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90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C75"/>
                </a:solidFill>
              </a:defRPr>
            </a:pPr>
            <a:r>
              <a:rPr sz="900" b="1">
                <a:solidFill>
                  <a:srgbClr val="667C75"/>
                </a:solidFill>
              </a:rPr>
              <a:t>生成可执行任务</a:t>
            </a:r>
          </a:p>
        </p:txBody>
      </p:sp>
    </p:spTree>
    <p:extLst>
      <p:ext uri="{BB962C8B-B14F-4D97-AF65-F5344CB8AC3E}">
        <p14:creationId xmlns:p14="http://schemas.microsoft.com/office/powerpoint/2010/main" val="1348404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4529F-3E47-430B-9DA6-16ACED8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39E0B-CF3A-4D54-A7B8-B0E49D0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从一次巡航到复飞决策，形成8步闭环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0E9F-74A9-4F77-B842-D98C808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3F607-20F4-445D-A5AF-71178F7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8025-84C5-4B22-8259-2CCF2F8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41D0-726B-470B-BCEF-AB7B2AD4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创建任务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C59F1-C1CF-47B5-B071-7B02712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确定航线与目标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AB38E-1EDD-4BFA-80EE-2D49C94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B970B-34A8-4CC3-A5C4-2C732E9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046B-5C99-4A9A-9AC2-818CEB9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010B-48AC-4021-9597-F454604E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3D7FB-521A-466A-8AEF-F4C98A5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采集图像与坐标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61E45-3DD2-40A5-B52C-1EAFDC9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177A-E894-4B2E-80FE-E698E6F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3EEBF-CAD1-4EFD-A1CA-EA07110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F6521-9CE3-4769-A267-AE5E09A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时空关联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60EA2-BD99-4934-9326-F3D73BB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编号 + 时间戳绑定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B6FF-E974-4996-867B-183DB69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E739C-70A8-45ED-BA03-DDBC43F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AD41D-E080-43EE-A874-1B16D7A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目标识别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34733-9401-4B66-96EA-3149156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类别与置信度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2F2D4-5E10-4498-AD0E-094356F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CE2DE-48EC-4AEC-A4F6-16421FB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0CF86-AFFF-43DE-BB2A-C40A1F1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B0CCF-0074-4B79-A7BF-41286FF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ADF11-E643-4AA3-91CE-4F8BD82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识别薄弱区域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F1AA6-BA5B-438D-8F81-1B02A1B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C3E2A-DE6B-4CD9-B819-8317078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1AB89-B00A-4DF8-8A97-7D516C3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289BE-5F97-4221-B91F-F69C685F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风险调度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9E811-5FCE-448C-8373-8D925EE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建议回放预算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AEE67-F4E0-423F-9BF4-55272820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ACDDA-0E6D-4D8B-9897-92B6FEF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CF3E3-B46D-4635-94E7-09CA223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E43A2-8553-4C33-AEF4-D4077D2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任务决策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8C891-BC38-4856-BFB0-445512B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复飞与人工复核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01E12-2154-45B7-AA5D-9230744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E63FE-2381-473D-B287-49D89B1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D0798-6DB3-4940-91DE-6C2BACF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模型更新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CE4B5-0C91-4CF3-B18A-00C3DC8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149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新类别确认后启动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D565F-5723-430B-B788-09932CF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ACFDFA-802C-4A47-9625-64C5851F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前端展示任务状态；训练只在新类别确认或纠错样本积累后，于服务器侧启动。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5ddd69dff4ff6"/>
          <a:srcRect xmlns:a="http://schemas.openxmlformats.org/drawingml/2006/main" l="20433" t="0" r="204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14cbc3a184e13"/>
          <a:srcRect xmlns:a="http://schemas.openxmlformats.org/drawingml/2006/main" l="10577" t="0" r="105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4d3ac3c2b4f11"/>
          <a:srcRect xmlns:a="http://schemas.openxmlformats.org/drawingml/2006/main" l="10557" t="0" r="105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be9922d00439b"/>
          <a:srcRect xmlns:a="http://schemas.openxmlformats.org/drawingml/2006/main" l="20433" t="0" r="204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0002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ec91023614077"/>
          <a:srcRect xmlns:a="http://schemas.openxmlformats.org/drawingml/2006/main" l="7044" t="0" r="70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84c9a24234df6"/>
          <a:srcRect xmlns:a="http://schemas.openxmlformats.org/drawingml/2006/main" l="0" t="6194" r="0" b="6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46890c69f4f73"/>
          <a:srcRect xmlns:a="http://schemas.openxmlformats.org/drawingml/2006/main" l="11351" t="0" r="113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7a7323cc54831"/>
          <a:srcRect xmlns:a="http://schemas.openxmlformats.org/drawingml/2006/main" l="20433" t="0" r="204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4362450"/>
            <a:ext cx="781050" cy="7429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</p:spTree>
    <p:extLst>
      <p:ext uri="{BB962C8B-B14F-4D97-AF65-F5344CB8AC3E}">
        <p14:creationId xmlns:p14="http://schemas.microsoft.com/office/powerpoint/2010/main" val="1299247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91885-DE42-4DB4-8127-E826919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北斗与AI融合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9086F-722D-4658-8F51-B734565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北斗不负责分类，它让模型知道在哪里失效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4DF1-1B4D-48BC-AB3B-3A7137C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3ABD4-5414-4C73-9B38-C11CCEE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3D72D-6C88-4CEC-AA30-11BE35F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36A4-0B66-4ADD-98DB-75F1404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52D3-6B54-4581-810D-5A1C76B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0A19-D282-49B8-B851-FA4FBCB2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E97BA-8A2F-4D6C-8836-732A476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7F6D1-F39F-4ED1-AD61-8346C27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EFE18-BD9A-459E-8244-214C8B59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2DA7B-87B0-4D3D-BF67-EF33DE0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BBD5B-8459-415C-9C52-7E5D1026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视觉识别模型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C938-A006-434D-9114-7909C36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CEDC4-81EB-4F69-B76F-099835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类别 / 置信度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知识表征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8FE7-85E1-4073-A5DD-E743B3B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0D2EC-E4E7-4C1E-AF8C-1C367BA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样本编号 + 时间戳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AD47C-7DAB-4C1E-8645-B70AB9D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DF605-9149-445C-8F83-5ADB5C9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73E6C-605F-4F40-A641-5A9029C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D7588-4B3A-4A2B-96FC-811EEC7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区域划分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DCD65-CD77-4124-8F24-BB4654D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6344C-9095-41DE-9C9A-26096EF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location_id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风险标签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EA5BB-6D8C-46CD-8253-100CC34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191C6-FBF1-4910-82F9-D0644548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局部风险诊断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85A14-D81D-4A4C-B0E3-9D61E41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816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诊断结果 → 回放预算建议 + 重点复飞坐标 + 人工复核任务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12541-DAF2-49CC-871B-7C2BDC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76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rPr>
              <a:t>经纬度不直接输入视觉分类网络；北斗负责空间索引、定位诊断结果和复飞任务。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64e8fed8b4e54"/>
          <a:srcRect xmlns:a="http://schemas.openxmlformats.org/drawingml/2006/main" l="0" t="3837" r="0" b="3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76450"/>
            <a:ext cx="1724025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05159F-2CD9-4757-A3B0-6A773F6D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7240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航拍图像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07ceba1c74a26"/>
          <a:srcRect xmlns:a="http://schemas.openxmlformats.org/drawingml/2006/main" l="0" t="15395" r="0" b="15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886200"/>
            <a:ext cx="1724025" cy="8953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81135-3BDA-4C93-9971-FD935A58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7240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北斗坐标 · 时间 · 定位质量</a:t>
            </a:r>
          </a:p>
        </p:txBody>
      </p:sp>
    </p:spTree>
    <p:extLst>
      <p:ext uri="{BB962C8B-B14F-4D97-AF65-F5344CB8AC3E}">
        <p14:creationId xmlns:p14="http://schemas.microsoft.com/office/powerpoint/2010/main" val="123893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A9C40-9AF9-4A67-AA2C-0066FB5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748D-AF9B-4B76-8D8A-2C7ED8E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三层稳健知识回放，在固定预算下同时学新类、保旧类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A5F0F-C7F8-4E7A-B357-B6BE3E12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25661-5C1B-4374-A346-5A48627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D5E92-5600-4292-9265-98712EC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51BD1-CC0B-4CDE-91D9-1F4BFD3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57B46-1BD9-4E52-96DA-5D97BCF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6750-6C31-43D1-841C-003FDB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新类别确认样本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历史知识表征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区域风险权重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固定回放预算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3D203-2091-4EF6-9602-C64CC26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57350"/>
            <a:ext cx="4152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843A-7EF9-472A-A591-744D5BD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rPr>
              <a:t>私有算法黑盒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1AE03-5325-468C-930B-92AD65D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1007C-284A-4C7C-8122-7A60EF1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059"/>
          </a:solidFill>
          <a:ln xmlns:a="http://schemas.openxmlformats.org/drawingml/2006/main" w="0">
            <a:solidFill>
              <a:srgbClr val="3B70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31A1-406C-48FF-B223-FF4DE93C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F6C8B-3E85-4C4A-963B-BDF3046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B25CA-2FDB-499E-AED3-425DA24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0AEAC-A926-4027-BE3C-304F71BF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候选新模型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准确率与遗忘率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分区诊断结果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发布 / 回滚结论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91E06-A1B2-49B4-A21A-55646EA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对外提供接口和脱敏结果；训练源码与权重保留在算法负责人侧。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063F6-17E7-4079-A88F-F2460272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31242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E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2CCA6-54F6-4BB5-A79F-9F4DC984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81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8E27B-7282-4D9B-BD19-62F47C19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知识保真层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03FEB-AEA8-4C13-B210-D6A4FF89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保留类别关键知识，不缓存大量原图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3AE20-4380-4DD3-B99F-497C5026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31242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B7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5D765-7220-4BED-A63E-E63531A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95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ECC63-A568-45AB-A71A-71372125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因果稳健层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6EF3B-EB1A-40B5-8DC2-CC77622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抑制光照、视角与背景的虚假关联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B9E6B-4E44-4177-858C-547F2749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31242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B76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B76D5-74C4-4E4C-A79D-3559A60A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10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4DC220-0675-484B-8C06-217B6D1A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005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预算调度层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5A189-A948-4CD6-9DAF-BFFC890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在固定600样本预算内平衡新旧知识</a:t>
            </a:r>
          </a:p>
        </p:txBody>
      </p:sp>
    </p:spTree>
    <p:extLst>
      <p:ext uri="{BB962C8B-B14F-4D97-AF65-F5344CB8AC3E}">
        <p14:creationId xmlns:p14="http://schemas.microsoft.com/office/powerpoint/2010/main" val="957056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项目创新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三项创新把通用持续学习变成北斗巡检方案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时空索引与局部诊断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北斗坐标绑定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分区域统计性能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输出重点复飞坐标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风险预算与任务调度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固定预算约束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高风险区域优先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输出重点样本清单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类别增量学习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因果约束抑制干扰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核心算法黑盒部署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空间索引、风险调度与稳健回放不是三个孤立模块，而是同一巡检决策链。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2c869ed324e31"/>
          <a:srcRect xmlns:a="http://schemas.openxmlformats.org/drawingml/2006/main" l="0" t="22571" r="0" b="22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381250"/>
            <a:ext cx="2800350" cy="10668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310047791403c"/>
          <a:srcRect xmlns:a="http://schemas.openxmlformats.org/drawingml/2006/main" l="0" t="42206" r="0" b="42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2381250"/>
            <a:ext cx="3162300" cy="10668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7f26c285d46b6"/>
          <a:srcRect xmlns:a="http://schemas.openxmlformats.org/drawingml/2006/main" l="0" t="19832" r="0" b="19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2381250"/>
            <a:ext cx="3143250" cy="10668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产品原型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评委可以直接看到：算法结果如何变成巡检决策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425B-ABCD-447D-A9A9-9982053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17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EFD-5237-4E8F-9B2A-02189E8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当前原型已呈现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488-7586-4922-B77F-24D0AA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虚拟北斗航线与8个区域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C826-500D-4521-840D-AE73240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区域风险与回放预算排序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474E-FA03-4115-9214-5E4BA1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ER与三层方法结果对比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77B6-FDD0-4DEB-B8BA-FD3A25F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高风险区域复飞建议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241-C255-47F2-83D2-F6A0574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证据边界与正式诊断报告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3A26-CFDC-4C8F-826E-3019E1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05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地图联动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F29A-D8C7-45F6-998B-FA76A7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航线、观察点、风险等级与复飞建议在同一页面呈现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81eae687540a2"/>
          <a:stretch xmlns:a="http://schemas.openxmlformats.org/drawingml/2006/main"/>
        </p:blipFill>
        <p:spPr>
          <a:xfrm xmlns:a="http://schemas.openxmlformats.org/drawingml/2006/main">
            <a:off x="6105525" y="1504950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6100-E5C1-4D3A-8BC8-C399B6E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8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CC9D7-7C3A-4225-ADE3-672EC9A5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A0A24-9126-47F1-9D35-BE2F4E3F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90568-404B-4E03-8F43-0F03F644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958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880"/>
                </a:solidFill>
              </a:defRPr>
            </a:pPr>
            <a:r>
              <a:rPr sz="975" b="1">
                <a:solidFill>
                  <a:srgbClr val="0B7880"/>
                </a:solidFill>
              </a:rPr>
              <a:t>1 航线与区域风险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DE090-BB6C-461D-A7EE-B2F9CFA3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32"/>
                </a:solidFill>
              </a:defRPr>
            </a:pPr>
            <a:r>
              <a:rPr sz="975" b="1">
                <a:solidFill>
                  <a:srgbClr val="E87932"/>
                </a:solidFill>
              </a:rPr>
              <a:t>2 方法结果对比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0C6E2-B9A2-4EE2-A102-DEA750A2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95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32"/>
                </a:solidFill>
              </a:defRPr>
            </a:pPr>
            <a:r>
              <a:rPr sz="975" b="1">
                <a:solidFill>
                  <a:srgbClr val="E87932"/>
                </a:solidFill>
              </a:rPr>
              <a:t>3 高风险区复飞建议</a:t>
            </a:r>
          </a:p>
        </p:txBody>
      </p:sp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B29D7-2DB2-4277-BC78-198D724D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7518-9097-42BF-A323-D936284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同一数据、同一任务、同一600样本预算下，三层方法更稳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0C3C7-411B-4768-AD31-39E043E0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62293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a16ef55092449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D4ADF-6A0E-42FC-872B-C789CEE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FDF5F-891B-4FD7-A8B1-90026AF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+12.11pp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2D7D1-D1BC-480C-B0F8-F895380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最终识别率提升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430AA-9D8D-4C0E-954E-C1F041E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30E65-FA73-4909-877E-17C8A2E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-19.23pp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F34A-6AE2-4D89-ACD3-7FA2BD9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平均遗忘率下降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9C599-6961-48C3-A2D7-BB54C74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数据规模：4301条预测 · 10类 · 5任务 · 固定回放预算600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7D65-ECB5-4B4F-A1B7-4DF3F55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边界：公开航拍数据 + 虚拟北斗坐标，不代表真实无人机、北斗终端或商业客户效果。</a:t>
            </a:r>
          </a:p>
        </p:txBody>
      </p:sp>
    </p:spTree>
    <p:extLst>
      <p:ext uri="{BB962C8B-B14F-4D97-AF65-F5344CB8AC3E}">
        <p14:creationId xmlns:p14="http://schemas.microsoft.com/office/powerpoint/2010/main" val="1055524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客户与商业模式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谁付费、买什么、为什么选择我们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目标客户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电网与能源运维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无人机巡检服务商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低空运营与GIS平台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产品交付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私有化部署平台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时空诊断API / SDK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年度模型维护服务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选择我们的理由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不替换现有无人机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能指出模型失效位置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固定预算持续学新保旧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商业化切入：先服务电力巡检软件与算法需求，再复制到交通、通信和园区。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490b69c794094"/>
          <a:srcRect xmlns:a="http://schemas.openxmlformats.org/drawingml/2006/main" l="0" t="24603" r="0" b="24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381250"/>
            <a:ext cx="2800350" cy="10668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2ef7711754a5b"/>
          <a:srcRect xmlns:a="http://schemas.openxmlformats.org/drawingml/2006/main" l="0" t="42206" r="0" b="42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2381250"/>
            <a:ext cx="3162300" cy="10668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62dcd217c41cb"/>
          <a:srcRect xmlns:a="http://schemas.openxmlformats.org/drawingml/2006/main" l="0" t="27374" r="0" b="273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2381250"/>
            <a:ext cx="3143250" cy="10668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验证与落地路线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从公开数据仿真走向真实巡检验证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10类5任务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固定预算对比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B3D91-8A56-4609-8FD8-CA89ADA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真实任务包接入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坐标质量校准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补充电力目标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2CCB1-E6F9-495D-BC3D-95B17B6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工程试点联调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服务器部署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复飞建议验证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F70D-D123-4A7B-8203-E13EBA8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行业场景复制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多航线多区域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模型版本管理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CE58D-B668-4170-8B91-0626203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公开数据与原型验证完成 → 下一阶段获取真实巡检任务包并完成端到端联调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项目不把仿真结果包装成客户部署；每进入下一阶段，都增加一层真实证据。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4725bf3b34b1a"/>
          <a:srcRect xmlns:a="http://schemas.openxmlformats.org/drawingml/2006/main" l="0" t="15867" r="0" b="15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49b3e9db041b0"/>
          <a:srcRect xmlns:a="http://schemas.openxmlformats.org/drawingml/2006/main" l="0" t="24400" r="0" b="2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13918d49342ab"/>
          <a:srcRect xmlns:a="http://schemas.openxmlformats.org/drawingml/2006/main" l="0" t="19280" r="0" b="19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52f03557e4800"/>
          <a:srcRect xmlns:a="http://schemas.openxmlformats.org/drawingml/2006/main" l="0" t="24400" r="0" b="2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1714500"/>
            <a:ext cx="2381250" cy="9144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2026-08-06T12:13:15.0530000Z</dcterms:created>
  <dcterms:modified xsi:type="dcterms:W3CDTF">2026-08-06T12:13:15.0530000Z</dcterms:modified>
</coreProperties>
</file>