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21d71e66c04582" /><Relationship Type="http://schemas.openxmlformats.org/officeDocument/2006/relationships/extended-properties" Target="/docProps/app.xml" Id="R3844dc14a59a413d" /><Relationship Type="http://schemas.openxmlformats.org/officeDocument/2006/relationships/officeDocument" Target="/ppt/presentation.xml" Id="Rdaec33fbfcf442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a96653346d4f0a"/>
  </p:sldMasterIdLst>
  <p:notesMasterIdLst>
    <p:notesMasterId xmlns:r="http://schemas.openxmlformats.org/officeDocument/2006/relationships" r:id="R58eeec5040414e71"/>
  </p:notesMasterIdLst>
  <p:sldIdLst>
    <p:sldId xmlns:r="http://schemas.openxmlformats.org/officeDocument/2006/relationships" id="256" r:id="R2d55c79c51aa45de"/>
    <p:sldId xmlns:r="http://schemas.openxmlformats.org/officeDocument/2006/relationships" id="257" r:id="Rab671e70bdb745dc"/>
    <p:sldId xmlns:r="http://schemas.openxmlformats.org/officeDocument/2006/relationships" id="258" r:id="R331746a8af8d44c7"/>
    <p:sldId xmlns:r="http://schemas.openxmlformats.org/officeDocument/2006/relationships" id="259" r:id="Rbbb3d5d0f2db46b8"/>
    <p:sldId xmlns:r="http://schemas.openxmlformats.org/officeDocument/2006/relationships" id="260" r:id="Re1f2e2586a85425e"/>
    <p:sldId xmlns:r="http://schemas.openxmlformats.org/officeDocument/2006/relationships" id="261" r:id="R12d6f4bdb2de4bc7"/>
    <p:sldId xmlns:r="http://schemas.openxmlformats.org/officeDocument/2006/relationships" id="262" r:id="R38dee3b43e0049ff"/>
    <p:sldId xmlns:r="http://schemas.openxmlformats.org/officeDocument/2006/relationships" id="263" r:id="Rae40ba9c09ee4dd6"/>
    <p:sldId xmlns:r="http://schemas.openxmlformats.org/officeDocument/2006/relationships" id="264" r:id="R70b45ff20666483a"/>
    <p:sldId xmlns:r="http://schemas.openxmlformats.org/officeDocument/2006/relationships" id="265" r:id="R64961e9605d04f10"/>
    <p:sldId xmlns:r="http://schemas.openxmlformats.org/officeDocument/2006/relationships" id="266" r:id="R11a969f2d1f4423e"/>
    <p:sldId xmlns:r="http://schemas.openxmlformats.org/officeDocument/2006/relationships" id="267" r:id="R5dbc1cee441c4ffb"/>
    <p:sldId xmlns:r="http://schemas.openxmlformats.org/officeDocument/2006/relationships" id="268" r:id="Rc9f1f5889b9646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b5a675b16d4c81" /><Relationship Type="http://schemas.openxmlformats.org/officeDocument/2006/relationships/slideMaster" Target="/ppt/slideMasters/slideMaster1.xml" Id="Ra6a96653346d4f0a" /><Relationship Type="http://schemas.openxmlformats.org/officeDocument/2006/relationships/notesMaster" Target="/ppt/notesMasters/notesMaster1.xml" Id="R58eeec5040414e71" /><Relationship Type="http://schemas.openxmlformats.org/officeDocument/2006/relationships/presProps" Target="/ppt/presProps.xml" Id="R1488702b0acf4873" /><Relationship Type="http://schemas.openxmlformats.org/officeDocument/2006/relationships/tableStyles" Target="/ppt/tableStyles.xml" Id="R304e1e460ae44f18" /><Relationship Type="http://schemas.openxmlformats.org/officeDocument/2006/relationships/slide" Target="/ppt/slides/slide1.xml" Id="R2d55c79c51aa45de" /><Relationship Type="http://schemas.openxmlformats.org/officeDocument/2006/relationships/slide" Target="/ppt/slides/slide2.xml" Id="Rab671e70bdb745dc" /><Relationship Type="http://schemas.openxmlformats.org/officeDocument/2006/relationships/slide" Target="/ppt/slides/slide3.xml" Id="R331746a8af8d44c7" /><Relationship Type="http://schemas.openxmlformats.org/officeDocument/2006/relationships/slide" Target="/ppt/slides/slide4.xml" Id="Rbbb3d5d0f2db46b8" /><Relationship Type="http://schemas.openxmlformats.org/officeDocument/2006/relationships/slide" Target="/ppt/slides/slide5.xml" Id="Re1f2e2586a85425e" /><Relationship Type="http://schemas.openxmlformats.org/officeDocument/2006/relationships/slide" Target="/ppt/slides/slide6.xml" Id="R12d6f4bdb2de4bc7" /><Relationship Type="http://schemas.openxmlformats.org/officeDocument/2006/relationships/slide" Target="/ppt/slides/slide7.xml" Id="R38dee3b43e0049ff" /><Relationship Type="http://schemas.openxmlformats.org/officeDocument/2006/relationships/slide" Target="/ppt/slides/slide8.xml" Id="Rae40ba9c09ee4dd6" /><Relationship Type="http://schemas.openxmlformats.org/officeDocument/2006/relationships/slide" Target="/ppt/slides/slide9.xml" Id="R70b45ff20666483a" /><Relationship Type="http://schemas.openxmlformats.org/officeDocument/2006/relationships/slide" Target="/ppt/slides/slide10.xml" Id="R64961e9605d04f10" /><Relationship Type="http://schemas.openxmlformats.org/officeDocument/2006/relationships/slide" Target="/ppt/slides/slide11.xml" Id="R11a969f2d1f4423e" /><Relationship Type="http://schemas.openxmlformats.org/officeDocument/2006/relationships/slide" Target="/ppt/slides/slide12.xml" Id="R5dbc1cee441c4ffb" /><Relationship Type="http://schemas.openxmlformats.org/officeDocument/2006/relationships/slide" Target="/ppt/slides/slide13.xml" Id="Rc9f1f5889b9646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b1bb0b11ec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911ad4c33c4f6a" /><Relationship Type="http://schemas.openxmlformats.org/officeDocument/2006/relationships/notesMaster" Target="/ppt/notesMasters/notesMaster1.xml" Id="R05cfa259313a43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9b6fb6167a4a77" /><Relationship Type="http://schemas.openxmlformats.org/officeDocument/2006/relationships/notesMaster" Target="/ppt/notesMasters/notesMaster1.xml" Id="R332e24da57374d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38609d84cb4cb9" /><Relationship Type="http://schemas.openxmlformats.org/officeDocument/2006/relationships/notesMaster" Target="/ppt/notesMasters/notesMaster1.xml" Id="R4054199198544f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a6eb43b9ad4e9a" /><Relationship Type="http://schemas.openxmlformats.org/officeDocument/2006/relationships/notesMaster" Target="/ppt/notesMasters/notesMaster1.xml" Id="R4fa938bf472240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196ac81cf84123" /><Relationship Type="http://schemas.openxmlformats.org/officeDocument/2006/relationships/notesMaster" Target="/ppt/notesMasters/notesMaster1.xml" Id="Rac04620b524641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85adf106404d5e" /><Relationship Type="http://schemas.openxmlformats.org/officeDocument/2006/relationships/notesMaster" Target="/ppt/notesMasters/notesMaster1.xml" Id="R01687657640049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7f4b9734034833" /><Relationship Type="http://schemas.openxmlformats.org/officeDocument/2006/relationships/notesMaster" Target="/ppt/notesMasters/notesMaster1.xml" Id="Rbe2ebc8d17294a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2db05bf5ba461f" /><Relationship Type="http://schemas.openxmlformats.org/officeDocument/2006/relationships/notesMaster" Target="/ppt/notesMasters/notesMaster1.xml" Id="R463210e136cd4f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ec4babe691448a" /><Relationship Type="http://schemas.openxmlformats.org/officeDocument/2006/relationships/notesMaster" Target="/ppt/notesMasters/notesMaster1.xml" Id="R9b2fa4adcd3d4b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aa1decaec54716" /><Relationship Type="http://schemas.openxmlformats.org/officeDocument/2006/relationships/notesMaster" Target="/ppt/notesMasters/notesMaster1.xml" Id="R1d2a8a7e464240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ac76fb53994098" /><Relationship Type="http://schemas.openxmlformats.org/officeDocument/2006/relationships/notesMaster" Target="/ppt/notesMasters/notesMaster1.xml" Id="R20631d38787644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8d477e7ae24f03" /><Relationship Type="http://schemas.openxmlformats.org/officeDocument/2006/relationships/notesMaster" Target="/ppt/notesMasters/notesMaster1.xml" Id="Rdf9a11d880db4e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0cdb8efacd4ca6" /><Relationship Type="http://schemas.openxmlformats.org/officeDocument/2006/relationships/notesMaster" Target="/ppt/notesMasters/notesMaster1.xml" Id="Ra56ee06c4b9c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positioning and prototype: D:/Desktop/北斗智巡/beidou_competition_shared</a:t>
            </a:r>
          </a:p>
          <a:p xmlns:a="http://schemas.openxmlformats.org/drawingml/2006/main">
            <a:r>
              <a:t>- Cover image: https://commons.wikimedia.org/wiki/File:Aerial_view_of_Porvoo_Ilola_electricity_pylons.jpg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- 2024 Government Work Report: https://www.gov.cn/yaowen/liebiao/202403/content_6939153.htm</a:t>
            </a:r>
          </a:p>
          <a:p xmlns:a="http://schemas.openxmlformats.org/drawingml/2006/main">
            <a:r>
              <a:t>- General Aviation Equipment Innovation Application Implementation Plan (2024-2030): https://www.gov.cn/zhengce/zhengceku/202403/content_6942115.htm</a:t>
            </a:r>
          </a:p>
          <a:p xmlns:a="http://schemas.openxmlformats.org/drawingml/2006/main">
            <a:r>
              <a:t>- 中国卫星导航定位协会：《2024中国卫星导航与位置服务产业发展白皮书》；2023年产业总体产值5362亿元。</a:t>
            </a:r>
          </a:p>
          <a:p xmlns:a="http://schemas.openxmlformats.org/drawingml/2006/main">
            <a:r>
              <a:t>- Boundary: macro industry figures describe the policy and industry window, not this project's directly addressable market.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case evidence image: D:\Desktop\北斗智巡\beidou_competition_shared\docs\evidence\新疆哈密电力无人机巡检_重点标注与佐证说明_正式版.png</a:t>
            </a:r>
          </a:p>
          <a:p xmlns:a="http://schemas.openxmlformats.org/drawingml/2006/main">
            <a:r>
              <a:t>- Source shown in evidence: 国网新疆哈密供电公司，2026-06-17。</a:t>
            </a:r>
          </a:p>
          <a:p xmlns:a="http://schemas.openxmlformats.org/drawingml/2006/main">
            <a:r>
              <a:t>- Boundary: this case proves real UAV inspection demand; it does not prove deployment or algorithm results for this project.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problem framing and audited result boundary: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https://commons.wikimedia.org/wiki/File:Aerial_view_of_Porvoo_Ilola_electricity_pylons.jpg</a:t>
            </a:r>
          </a:p>
          <a:p xmlns:a="http://schemas.openxmlformats.org/drawingml/2006/main">
            <a:r>
              <a:t>- https://commons.wikimedia.org/wiki/File:Mud_Creek_Landslide_(southeast_of_Gorda,_California,_USA).jpg</a:t>
            </a:r>
          </a:p>
          <a:p xmlns:a="http://schemas.openxmlformats.org/drawingml/2006/main">
            <a:r>
              <a:t>- https://commons.wikimedia.org/wiki/File:Aerial_perspective_of_the_bridge_across_Dongshan_river.jpg</a:t>
            </a:r>
          </a:p>
          <a:p xmlns:a="http://schemas.openxmlformats.org/drawingml/2006/main">
            <a:r>
              <a:t>- https://commons.wikimedia.org/wiki/File:Aerial_photo_of_construction_site_of_Akabanedai_tunnel.jpg</a:t>
            </a:r>
          </a:p>
          <a:p xmlns:a="http://schemas.openxmlformats.org/drawingml/2006/main">
            <a:r>
              <a:t>- Asset provenance: D:/Desktop/北斗智巡/beidou_competition_shared/assets/aerial/README_CN.md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workflow and data contract: D:/Desktop/北斗智巡/beidou_competition_shared/data_contract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Beidou/AI technical boundary and location-diagnostics design, 2026-08-06.</a:t>
            </a:r>
          </a:p>
          <a:p xmlns:a="http://schemas.openxmlformats.org/drawingml/2006/main">
            <a:r>
              <a:t>- Audited public result: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private algorithm design summary. Public-facing name: 三层稳健知识回放.</a:t>
            </a:r>
          </a:p>
          <a:p xmlns:a="http://schemas.openxmlformats.org/drawingml/2006/main">
            <a:r>
              <a:t>- Audited public result: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innovation mapping and data contract: D:/Desktop/北斗智巡/beidou_competition_shared/data_contract/public_result.json</a:t>
            </a:r>
          </a:p>
          <a:p xmlns:a="http://schemas.openxmlformats.org/drawingml/2006/main">
            <a:r>
              <a:t>- Dynamic location-budget training improvement is not claimed as completed; the current system outputs risk-linked budget recommendations and retains an interface for deeper validation.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prototype screenshot: D:\Desktop\北斗智巡\beidou_competition_shared\assets\screenshots\beidou_product_board.png</a:t>
            </a:r>
          </a:p>
          <a:p xmlns:a="http://schemas.openxmlformats.org/drawingml/2006/main">
            <a:r>
              <a:t>- Prototype data source: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Audited experiment result: D:/Desktop/北斗智巡/beidou_competition_shared/data_contract/public_result.json</a:t>
            </a:r>
          </a:p>
          <a:p xmlns:a="http://schemas.openxmlformats.org/drawingml/2006/main">
            <a:r>
              <a:t>- ER accuracy 31.4811%; three-layer method 43.5945%; average forgetting 51.3232% vs 32.0917%.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Customer and commercialization assumptions are project planning hypotheses for competition discussion, not signed customer contracts or realized revenue.</a:t>
            </a:r>
          </a:p>
          <a:p xmlns:a="http://schemas.openxmlformats.org/drawingml/2006/main">
            <a:r>
              <a:t>- Project product boundary and deliverables: D:/Desktop/北斗智巡/beidou_competition_shared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phased validation roadmap, 2026-08-06.</a:t>
            </a:r>
          </a:p>
          <a:p xmlns:a="http://schemas.openxmlformats.org/drawingml/2006/main">
            <a:r>
              <a:t>- Current evidence status: D:/Desktop/北斗智巡/beidou_competition_shared/data_contract/public_result.json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9fc7f2f1240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aec9383b794038" /><Relationship Type="http://schemas.openxmlformats.org/officeDocument/2006/relationships/slideLayout" Target="/ppt/slideLayouts/slideLayout1.xml" Id="R3cc3e72c97fe40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c3e72c97fe40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a118327824c3a" /><Relationship Type="http://schemas.openxmlformats.org/officeDocument/2006/relationships/image" Target="/ppt/media/image.jpeg" Id="Rdb9b7582e1f24ecc" /><Relationship Type="http://schemas.openxmlformats.org/officeDocument/2006/relationships/notesSlide" Target="/ppt/notesSlides/notesSlide1.xml" Id="Rf690f152303d43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2b145dcd74f5e" /><Relationship Type="http://schemas.openxmlformats.org/officeDocument/2006/relationships/notesSlide" Target="/ppt/notesSlides/notesSlide2.xml" Id="Rde643669c75c47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12f16a95b46ab" /><Relationship Type="http://schemas.openxmlformats.org/officeDocument/2006/relationships/image" Target="/ppt/media/image.png" Id="Rd15768a5765048e4" /><Relationship Type="http://schemas.openxmlformats.org/officeDocument/2006/relationships/notesSlide" Target="/ppt/notesSlides/notesSlide3.xml" Id="R65b671c57ae04f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4b864806147ed" /><Relationship Type="http://schemas.openxmlformats.org/officeDocument/2006/relationships/notesSlide" Target="/ppt/notesSlides/notesSlide4.xml" Id="R3b66cbda7bf74b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63bc53dd44c70" /><Relationship Type="http://schemas.openxmlformats.org/officeDocument/2006/relationships/image" Target="/ppt/media/image2.jpeg" Id="R2283aeaec418484a" /><Relationship Type="http://schemas.openxmlformats.org/officeDocument/2006/relationships/image" Target="/ppt/media/image3.jpeg" Id="R6174c49a165a4e02" /><Relationship Type="http://schemas.openxmlformats.org/officeDocument/2006/relationships/image" Target="/ppt/media/image4.jpeg" Id="R0a93c41bea6245a0" /><Relationship Type="http://schemas.openxmlformats.org/officeDocument/2006/relationships/image" Target="/ppt/media/image5.jpeg" Id="Rd9a170e317294842" /><Relationship Type="http://schemas.openxmlformats.org/officeDocument/2006/relationships/notesSlide" Target="/ppt/notesSlides/notesSlide5.xml" Id="Rbdcf96874b4548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9e4e6239547bc" /><Relationship Type="http://schemas.openxmlformats.org/officeDocument/2006/relationships/notesSlide" Target="/ppt/notesSlides/notesSlide6.xml" Id="Rc8b0a9d2795741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924ad04a04133" /><Relationship Type="http://schemas.openxmlformats.org/officeDocument/2006/relationships/notesSlide" Target="/ppt/notesSlides/notesSlide7.xml" Id="R0c1dd64daf644e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9a77178f540d5" /><Relationship Type="http://schemas.openxmlformats.org/officeDocument/2006/relationships/notesSlide" Target="/ppt/notesSlides/notesSlide8.xml" Id="Ra396a4bcfd5b4e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76c2ee2e54232" /><Relationship Type="http://schemas.openxmlformats.org/officeDocument/2006/relationships/notesSlide" Target="/ppt/notesSlides/notesSlide9.xml" Id="R1231d775da9441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1b9d729e94dce" /><Relationship Type="http://schemas.openxmlformats.org/officeDocument/2006/relationships/image" Target="/ppt/media/image2.png" Id="R5bbad9e75ad545c8" /><Relationship Type="http://schemas.openxmlformats.org/officeDocument/2006/relationships/notesSlide" Target="/ppt/notesSlides/notesSlide10.xml" Id="R084c681520124a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75edaf9234795" /><Relationship Type="http://schemas.openxmlformats.org/officeDocument/2006/relationships/chart" Target="/ppt/slides/charts/chart1.xml" Id="R80cca12d88f84a87" /><Relationship Type="http://schemas.openxmlformats.org/officeDocument/2006/relationships/notesSlide" Target="/ppt/notesSlides/notesSlide11.xml" Id="R112ac154aace48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bcb3bc4b240aa" /><Relationship Type="http://schemas.openxmlformats.org/officeDocument/2006/relationships/notesSlide" Target="/ppt/notesSlides/notesSlide12.xml" Id="R1148efc4cea54e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9f907a32d4b0e" /><Relationship Type="http://schemas.openxmlformats.org/officeDocument/2006/relationships/notesSlide" Target="/ppt/notesSlides/notesSlide13.xml" Id="Ref469b3a0723412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ER经验回放</c:v>
          </c:tx>
          <c:spPr>
            <a:solidFill xmlns:a="http://schemas.openxmlformats.org/drawingml/2006/main">
              <a:srgbClr val="A8B7AF"/>
            </a:solidFill>
          </c:spPr>
          <c:cat>
            <c:strLit>
              <c:ptCount val="2"/>
              <c:pt idx="0">
                <c:v>最终识别率</c:v>
              </c:pt>
              <c:pt idx="1">
                <c:v>平均遗忘率</c:v>
              </c:pt>
            </c:strLit>
          </c:cat>
          <c:val>
            <c:numLit>
              <c:formatCode>General</c:formatCode>
              <c:ptCount val="2"/>
              <c:pt idx="0">
                <c:v>31.48</c:v>
              </c:pt>
              <c:pt idx="1">
                <c:v>51.32</c:v>
              </c:pt>
            </c:numLit>
          </c:val>
        </c:ser>
        <c:ser>
          <c:idx val="1"/>
          <c:order val="1"/>
          <c:tx>
            <c:v>三层稳健知识回放</c:v>
          </c:tx>
          <c:spPr>
            <a:solidFill xmlns:a="http://schemas.openxmlformats.org/drawingml/2006/main">
              <a:srgbClr val="1F8B59"/>
            </a:solidFill>
          </c:spPr>
          <c:cat>
            <c:strLit>
              <c:ptCount val="2"/>
              <c:pt idx="0">
                <c:v>最终识别率</c:v>
              </c:pt>
              <c:pt idx="1">
                <c:v>平均遗忘率</c:v>
              </c:pt>
            </c:strLit>
          </c:cat>
          <c:val>
            <c:numLit>
              <c:formatCode>General</c:formatCode>
              <c:ptCount val="2"/>
              <c:pt idx="0">
                <c:v>43.59</c:v>
              </c:pt>
              <c:pt idx="1">
                <c:v>32.09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2F2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8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324B43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8E43C-92F2-401C-8990-3B58E30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B59"/>
          </a:solidFill>
          <a:ln xmlns:a="http://schemas.openxmlformats.org/drawingml/2006/main" w="0">
            <a:solidFill>
              <a:srgbClr val="1F8B5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2D7BF-5964-45BF-9AF4-0BBD8BF5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第十五届中国创新创业大赛 · 北斗时空信息专业赛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306A-81CD-41A7-ADF9-DD318C4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北斗巡知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49F88-6C0F-4474-B183-6621900F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481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面向低空持续巡检的时空局部诊断与模型持续更新平台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418CA-9B4C-407A-973F-F2C0F2A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2D4BD-C829-45CE-A285-E3CB8055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首个应用场景：输电走廊通道风险巡检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b7582e1f24ecc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905500" y="400050"/>
            <a:ext cx="5810250" cy="581025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10E6E-45B8-4C7C-AF86-05991970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9085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B4656-9A82-4CF4-8986-D396C40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政策与产业窗口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149DA-A506-41E9-8A37-F5AF1C3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国家政策与产业基础共同打开北斗低空巡检窗口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2316D-C7BE-47C5-AE47-F474204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4ECD0-9361-49C0-961E-7CED7B1D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E312F-B9BE-4428-8D57-829E185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政府工作报告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4C93B-F185-4D39-8AE1-6105EC9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首次将低空经济写入报告，并列为新的增长引擎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B3D91-8A56-4609-8FD8-CA89ADA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5A004-2BD9-4EEB-B1B7-F8A91BC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2024—2030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2681F-583A-47B8-95CE-E1E04180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通用航空装备实施方案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0368C-5F8C-4455-A61B-BD4EC37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提出到2030年形成万亿元级市场规模，推动典型场景规模化应用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2CCB1-E6F9-495D-BC3D-95B17B6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339B8-B822-4857-A872-FB298DD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5362亿元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3520A-B498-4AE7-9BF4-D6918CD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北斗产业基础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21284-7101-47D1-B884-56409E4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2023年我国卫星导航与位置服务产业总体产值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EF70D-D123-4A7B-8203-E13EBA8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452AE-348D-442E-B875-B4E4A54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52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首个切入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6519E-47D1-4097-9A08-E13DD76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电力能源巡检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DB77B-0643-4D27-9151-A7BC8AE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巡检频次高、地域跨度大，适合北斗时空信息与AI持续学习融合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CE58D-B668-4170-8B91-0626203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F69AF-5C89-48D1-9BA1-A8846A4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项目判断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8A7F8-B4DA-441D-83A9-A76EA28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先从电力巡检软件与算法服务切入，再复制到交通、通信和园区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D148E-BDFC-47DA-B338-4B4048A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注：宏观产业规模用于说明政策和产业窗口，不等同于本项目可直接获得的市场规模。</a:t>
            </a:r>
          </a:p>
        </p:txBody>
      </p:sp>
    </p:spTree>
    <p:extLst>
      <p:ext uri="{BB962C8B-B14F-4D97-AF65-F5344CB8AC3E}">
        <p14:creationId xmlns:p14="http://schemas.microsoft.com/office/powerpoint/2010/main" val="1083090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DB3F-C1B7-4444-8B24-812770A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官方真实案例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A270-28AA-411D-9229-08E5278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真实需求不是概念：新疆哈密已形成规模化无人机巡检作业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B210A-DA74-47DE-953E-CF8B5FD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2425B-ABCD-447D-A9A9-99820531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1719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85EFD-5237-4E8F-9B2A-02189E8B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国网新疆哈密供电公司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2C488-7586-4922-B77F-24D0AAC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611千米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C826-500D-4521-840D-AE73240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无人机线路巡检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1474E-FA03-4115-9214-5E4BA1C4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669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112处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677B6-FDD0-4DEB-B8BA-FD3A25F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发现并消除缺陷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18241-C255-47F2-83D2-F6A0574E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13座变电站 · 27条输电线路 · 786台次设备带电检测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D3A26-CFDC-4C8F-826E-3019E1C2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证据边界：该案例证明电力无人机巡检需求真实存在，不代表本项目已经在该单位部署。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3F29A-D8C7-45F6-998B-FA76A78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来源：国网新疆哈密供电公司，2026-06-17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768a5765048e4"/>
          <a:stretch xmlns:a="http://schemas.openxmlformats.org/drawingml/2006/main"/>
        </p:blipFill>
        <p:spPr>
          <a:xfrm xmlns:a="http://schemas.openxmlformats.org/drawingml/2006/main">
            <a:off x="5982323" y="1409700"/>
            <a:ext cx="5275604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36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93F12-9FF1-4A68-9DCE-9E3A2DFA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业务痛点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471B2-DE20-4329-95B9-919E3BCD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一次巡检越飞越久，模型会在局部区域先失效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2183A-B4B8-4F0B-9A1C-B33DE9D9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73456-622F-4FC4-95EC-5EAF9700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13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持续出现新目标、跨区域外观变化和有限存储，让传统模型越学越偏。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3057C-58BB-4827-B26E-6327647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真正的问题不是一次识别，而是长期巡检后的稳定识别。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66888-0046-49F8-BDE0-E22085A1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7667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DC0"/>
          </a:solidFill>
          <a:ln xmlns:a="http://schemas.openxmlformats.org/drawingml/2006/main" w="0">
            <a:solidFill>
              <a:srgbClr val="B9CD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948D0-BE00-4050-86DC-2FB08B6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7667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DC0"/>
          </a:solidFill>
          <a:ln xmlns:a="http://schemas.openxmlformats.org/drawingml/2006/main" w="0">
            <a:solidFill>
              <a:srgbClr val="B9CD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B8804-0ACC-45D1-9B71-0BD8FFCD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2724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F44E2-EBDA-4683-BF6F-FF86052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495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新类别持续出现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车辆、施工等目标陆续加入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E6A51-B52C-41B9-9AE4-B780C34E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30861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9CC7A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EBB34-6C88-48E1-AF22-EB9178F0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52800"/>
            <a:ext cx="285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同类跨区发生漂移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光照、视角、地貌与定位噪声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78AB5-7851-47DF-A783-7C75B5C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1242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EB1E6-5F6C-48EC-A122-20A2CC29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2895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历史知识被覆盖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均匀回放忽略高风险区域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A082B-876A-4B47-BB88-132B3294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全局准确率看似正常，也可能掩盖山区、边坡等局部失效。</a:t>
            </a:r>
          </a:p>
        </p:txBody>
      </p:sp>
    </p:spTree>
    <p:extLst>
      <p:ext uri="{BB962C8B-B14F-4D97-AF65-F5344CB8AC3E}">
        <p14:creationId xmlns:p14="http://schemas.microsoft.com/office/powerpoint/2010/main" val="1853281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AD3C3-8D09-46AC-9575-1238038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66162-F26A-4F9B-BC03-06DA40C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系统把一次无人机巡检变成可执行的诊断闭环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0CCA3-95FD-42E4-925F-075A7168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BBAF9-3334-416A-AEF8-D398596F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北斗记录每帧时间与位置，AI识别沿线目标，平台定位模型薄弱区域并生成复飞与更新建议。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ACEB0-1C91-452E-9531-5E7FF884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9C1F2-4DB9-4AA0-846E-911D38F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E9181-5225-457D-9BDF-689AE14E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72B16-A42C-46BE-BFD2-09DD752D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航拍图像采集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419E5-0CD7-41CC-B502-4918BCC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北斗时空绑定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E95EF-DEAA-42EB-B358-82A5B240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局部风险诊断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00BB7-99B1-461D-BAAE-3749C4E9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复飞与模型更新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86793-8C5A-4C39-BF7F-E9FB734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2C0D3-6D78-4319-9EC4-E1391462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最终输出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103CF-3BE9-406E-9469-BCBCFC5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区域风险排序、重点复飞坐标、人工复核任务、模型更新建议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A1159-200F-48BD-9D63-4D883DE9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北斗不可替代的作用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237D6-839C-45CE-BA8B-1C1E3D89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让每次识别结果可定位、可分区、可回溯，并能直接转化为巡检任务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3aeaec418484a"/>
          <a:srcRect xmlns:a="http://schemas.openxmlformats.org/drawingml/2006/main" l="0" t="25641" r="0" b="25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647950"/>
            <a:ext cx="198120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4c49a165a4e02"/>
          <a:srcRect xmlns:a="http://schemas.openxmlformats.org/drawingml/2006/main" l="0" t="26293" r="0" b="26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2647950"/>
            <a:ext cx="207645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3c41bea6245a0"/>
          <a:srcRect xmlns:a="http://schemas.openxmlformats.org/drawingml/2006/main" l="0" t="19011" r="0" b="190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2647950"/>
            <a:ext cx="207645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170e317294842"/>
          <a:srcRect xmlns:a="http://schemas.openxmlformats.org/drawingml/2006/main" l="0" t="28905" r="0" b="28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2647950"/>
            <a:ext cx="2076450" cy="7239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</p:spTree>
    <p:extLst>
      <p:ext uri="{BB962C8B-B14F-4D97-AF65-F5344CB8AC3E}">
        <p14:creationId xmlns:p14="http://schemas.microsoft.com/office/powerpoint/2010/main" val="1348404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B4529F-3E47-430B-9DA6-16ACED88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端到端流程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39E0B-CF3A-4D54-A7B8-B0E49D03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从一次巡航到复飞决策，形成8步闭环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00E9F-74A9-4F77-B842-D98C8086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3F607-20F4-445D-A5AF-71178F76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98025-84C5-4B22-8259-2CCF2F88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041D0-726B-470B-BCEF-AB7B2AD4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创建任务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C59F1-C1CF-47B5-B071-7B027121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设定航线与目标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AB38E-1EDD-4BFA-80EE-2D49C94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B970B-34A8-4CC3-A5C4-2C732E9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0046B-5C99-4A9A-9AC2-818CEB9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4010B-48AC-4021-9597-F454604E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北斗巡航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3D7FB-521A-466A-8AEF-F4C98A5F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采集图像与坐标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61E45-3DD2-40A5-B52C-1EAFDC9C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4177A-E894-4B2E-80FE-E698E6F4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3EEBF-CAD1-4EFD-A1CA-EA07110F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F6521-9CE3-4769-A267-AE5E09AF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时空关联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60EA2-BD99-4934-9326-F3D73BB1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按编号和时间戳绑定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1B6FF-E974-4996-867B-183DB69C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E739C-70A8-45ED-BA03-DDBC43FB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AD41D-E080-43EE-A874-1B16D7A0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目标识别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34733-9401-4B66-96EA-3149156E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输出类别与置信度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2F2D4-5E10-4498-AD0E-094356F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CE2DE-48EC-4AEC-A4F6-16421FB8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0CF86-AFFF-43DE-BB2A-C40A1F19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B0CCF-0074-4B79-A7BF-41286FF0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ADF11-E643-4AA3-91CE-4F8BD82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发现模型薄弱区域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F1AA6-BA5B-438D-8F81-1B02A1BA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C3E2A-DE6B-4CD9-B819-8317078C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1AB89-B00A-4DF8-8A97-7D516C3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289BE-5F97-4221-B91F-F69C685F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风险调度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9E811-5FCE-448C-8373-8D925EEB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建议重点回放预算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CAEE67-F4E0-423F-9BF4-55272820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DACDDA-0E6D-4D8B-9897-92B6FEF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CF3E3-B46D-4635-94E7-09CA223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E43A2-8553-4C33-AEF4-D4077D2A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任务决策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8C891-BC38-4856-BFB0-445512B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复飞与人工复核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001E12-2154-45B7-AA5D-9230744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2E63FE-2381-473D-B287-49D89B1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0D0798-6DB3-4940-91DE-6C2BACF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模型更新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FCE4B5-0C91-4CF3-B18A-00C3DC81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新类别确认后启动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9D565F-5723-430B-B788-09932CF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ACFDFA-802C-4A47-9625-64C5851F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日常巡检每次执行；模型训练只在新类别确认或纠错样本积累后启动。</a:t>
            </a:r>
          </a:p>
        </p:txBody>
      </p:sp>
    </p:spTree>
    <p:extLst>
      <p:ext uri="{BB962C8B-B14F-4D97-AF65-F5344CB8AC3E}">
        <p14:creationId xmlns:p14="http://schemas.microsoft.com/office/powerpoint/2010/main" val="1299247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91885-DE42-4DB4-8127-E8269194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北斗与AI融合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9086F-722D-4658-8F51-B734565D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北斗不负责分类，它让模型知道在哪里失效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F4DF1-1B4D-48BC-AB3B-3A7137C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3ABD4-5414-4C73-9B38-C11CCEEA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3D72D-6C88-4CEC-AA30-11BE35F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536A4-0B66-4ADD-98DB-75F1404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352D3-6B54-4581-810D-5A1C76B4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C0A19-D282-49B8-B851-FA4FBCB2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E97BA-8A2F-4D6C-8836-732A4769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7F6D1-F39F-4ED1-AD61-8346C27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F4FA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EFE18-BD9A-459E-8244-214C8B59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航拍图像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2DA7B-87B0-4D3D-BF67-EF33DE0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BBD5B-8459-415C-9C52-7E5D1026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视觉识别模型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EC938-A006-434D-9114-7909C361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CEDC4-81EB-4F69-B76F-09983505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类别 / 置信度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知识表征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F8FE7-85E1-4073-A5DD-E743B3B4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8FD1A5"/>
          </a:solidFill>
          <a:ln xmlns:a="http://schemas.openxmlformats.org/drawingml/2006/main" w="9525">
            <a:solidFill>
              <a:srgbClr val="8FD1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0D2EC-E4E7-4C1E-AF8C-1C367BA6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样本编号 + 时间戳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AD47C-7DAB-4C1E-8645-B70AB9D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F4FA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DF605-9149-445C-8F83-5ADB5C97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北斗坐标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时间、定位质量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73E6C-605F-4F40-A641-5A9029C9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D7588-4B3A-4A2B-96FC-811EEC7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时空索引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区域划分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DCD65-CD77-4124-8F24-BB4654DE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6344C-9095-41DE-9C9A-26096EF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location_id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风险标签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EA5BB-6D8C-46CD-8253-100CC34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8FD1A5"/>
          </a:solidFill>
          <a:ln xmlns:a="http://schemas.openxmlformats.org/drawingml/2006/main" w="9525">
            <a:solidFill>
              <a:srgbClr val="8FD1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191C6-FBF1-4910-82F9-D0644548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局部风险诊断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85A14-D81D-4A4C-B0E3-9D61E41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816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诊断结果 → 回放预算建议 + 重点复飞坐标 + 人工复核任务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12541-DAF2-49CC-871B-7C2BDCC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769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C9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C9B8"/>
                </a:solidFill>
                <a:latin typeface="Microsoft YaHei"/>
                <a:ea typeface="Microsoft YaHei"/>
                <a:cs typeface="Microsoft YaHei"/>
              </a:rPr>
              <a:t>经纬度不直接输入分类网络，避免模型把地点当成类别捷径。</a:t>
            </a:r>
          </a:p>
        </p:txBody>
      </p:sp>
    </p:spTree>
    <p:extLst>
      <p:ext uri="{BB962C8B-B14F-4D97-AF65-F5344CB8AC3E}">
        <p14:creationId xmlns:p14="http://schemas.microsoft.com/office/powerpoint/2010/main" val="1238930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A9C40-9AF9-4A67-AA2C-0066FB50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核心算法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6748D-AF9B-4B76-8D8A-2C7ED8E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三层稳健知识回放，在固定预算下同时学新类、保旧类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A5F0F-C7F8-4E7A-B357-B6BE3E12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25661-5C1B-4374-A346-5A486273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3C9"/>
          </a:solidFill>
          <a:ln xmlns:a="http://schemas.openxmlformats.org/drawingml/2006/main" w="0">
            <a:solidFill>
              <a:srgbClr val="C2D3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D5E92-5600-4292-9265-98712EC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3C9"/>
          </a:solidFill>
          <a:ln xmlns:a="http://schemas.openxmlformats.org/drawingml/2006/main" w="0">
            <a:solidFill>
              <a:srgbClr val="C2D3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51BD1-CC0B-4CDE-91D9-1F4BFD3C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628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57B46-1BD9-4E52-96DA-5D97BCFA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36750-6C31-43D1-841C-003FDB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新类别确认样本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历史知识表征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区域风险权重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固定回放预算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3D203-2091-4EF6-9602-C64CC264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57350"/>
            <a:ext cx="4152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8843A-7EF9-472A-A591-744D5BD3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9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9D5AD"/>
                </a:solidFill>
                <a:latin typeface="Microsoft YaHei"/>
                <a:ea typeface="Microsoft YaHei"/>
                <a:cs typeface="Microsoft YaHei"/>
              </a:rPr>
              <a:t>私有算法黑盒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1AE03-5325-468C-930B-92AD65D0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三层稳健知识回放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1007C-284A-4C7C-8122-7A60EF1F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059"/>
          </a:solidFill>
          <a:ln xmlns:a="http://schemas.openxmlformats.org/drawingml/2006/main" w="0">
            <a:solidFill>
              <a:srgbClr val="3B70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131A1-406C-48FF-B223-FF4DE93C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1 语义层：保留类别关键知识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2 因果层：抑制光照与视角干扰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3 调度层：在固定预算内平衡新旧知识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F6C8B-3E85-4C4A-963B-BDF3046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628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B25CA-2FDB-499E-AED3-425DA24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0AEAC-A926-4027-BE3C-304F71BF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00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候选新模型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准确率与遗忘率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分区诊断结果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发布 / 回滚结论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91E06-A1B2-49B4-A21A-55646EA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对外提供接口和脱敏结果；训练源码与权重保留在算法负责人侧。</a:t>
            </a:r>
          </a:p>
        </p:txBody>
      </p:sp>
    </p:spTree>
    <p:extLst>
      <p:ext uri="{BB962C8B-B14F-4D97-AF65-F5344CB8AC3E}">
        <p14:creationId xmlns:p14="http://schemas.microsoft.com/office/powerpoint/2010/main" val="957056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875C16-B683-4F49-9782-AAE9ABB4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项目创新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8EA67-B200-4A21-8C8C-4616539D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三项创新把通用持续学习变成北斗巡检方案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C6446-C816-4EB2-B6D3-D365B22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4F66-D825-4FC7-A3C9-1FAD6B1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A25C-77F7-4176-A429-C5C8865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时空索引与局部诊断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8DA3-D9FB-4308-847E-838A092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F3702-8309-4253-8532-3DDE098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图像与北斗坐标绑定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10C03-FC63-48CA-95E7-AC29905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BBF68-653E-455C-AB09-047B8B7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按地理区域统计性能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EA11-2C67-4994-819F-C17E8B0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7A076-1725-4FA8-995F-35A6BBA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发现局部失效而非只看均值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C2D16-89E3-4E0B-BB81-DE86EC2C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FD395-773D-41E9-92D3-D66D5957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输出重点复飞坐标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8A68E-78BE-4F84-AABF-8B1DF164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6412A-1B59-41C1-A0A7-B67701C9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形成可视化风险地图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22B36-19F6-428B-A390-6065F39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695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E8749-E275-445E-8B3D-13629FED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风险预算与任务调度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7148D-83C5-4B4F-AF24-EE5CCE1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FAB30-B6CE-43FC-A950-3CFD82BC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固定存储预算约束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2B9A6-9059-4201-A0DC-79EE5DB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9E697-6864-4C92-AED1-3CA0CD29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高风险区域优先建议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4D23D-3C92-416D-A2A6-25A857C3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5FB37-E4BD-4456-AC09-3E5A5DF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平衡证据留存与训练曝光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50A34-D932-4526-B553-CA98BC98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8A67D-0CDE-4B73-BDFE-E810B947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输出重点样本清单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20D33-09EB-499F-872C-A77CFA4D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224029-2CF3-4854-8141-4DD1C97B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38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为动态预算验证预留接口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2BE69-75DF-47DF-8299-8B945DCB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3676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9DD98-9784-4B45-8C4E-8F1FD916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三层稳健知识回放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BDC1A-D4F1-4D53-8BD0-8090657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0C7AE-1D03-43E2-A8DE-00F53CFE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类别增量持续学习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F557C-28DF-417F-8610-F8DEAD2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F235A2-28DE-4A4F-A5B8-BD7E0910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轻量知识表征缓存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1C921-042D-48D0-A399-5083399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114984-356B-4B22-916E-15F22E1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因果约束抑制干扰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D96F37-0618-4CE9-B55F-F4F9DD1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74805D-AE5E-48C4-B4C3-49CCF2E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新旧知识平衡更新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7B8A87-B899-4430-A9C9-524EED3B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201EBA-7883-4E2C-AAC4-CF95A1C9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38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核心算法黑盒部署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3D0B84-E94A-4252-A2BC-D2CCAD8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北斗提供空间上下文，算法维持识别能力，平台把诊断转化为巡检任务。</a:t>
            </a:r>
          </a:p>
        </p:txBody>
      </p:sp>
    </p:spTree>
    <p:extLst>
      <p:ext uri="{BB962C8B-B14F-4D97-AF65-F5344CB8AC3E}">
        <p14:creationId xmlns:p14="http://schemas.microsoft.com/office/powerpoint/2010/main" val="1955072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DB3F-C1B7-4444-8B24-812770A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产品原型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A270-28AA-411D-9229-08E5278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评委可以直接看到：算法结果如何变成巡检决策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B210A-DA74-47DE-953E-CF8B5FD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2425B-ABCD-447D-A9A9-99820531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1719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85EFD-5237-4E8F-9B2A-02189E8B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当前原型已呈现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2C488-7586-4922-B77F-24D0AAC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虚拟北斗航线与8个区域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C826-500D-4521-840D-AE73240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区域风险与回放预算排序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1474E-FA03-4115-9214-5E4BA1C4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ER与三层方法结果对比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677B6-FDD0-4DEB-B8BA-FD3A25F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高风险区域复飞建议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18241-C255-47F2-83D2-F6A0574E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证据边界与正式诊断报告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D3A26-CFDC-4C8F-826E-3019E1C2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05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地图联动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3F29A-D8C7-45F6-998B-FA76A78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4350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航线、观察点、风险等级与复飞建议在同一页面呈现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ad9e75ad545c8"/>
          <a:stretch xmlns:a="http://schemas.openxmlformats.org/drawingml/2006/main"/>
        </p:blipFill>
        <p:spPr>
          <a:xfrm xmlns:a="http://schemas.openxmlformats.org/drawingml/2006/main">
            <a:off x="6105525" y="1504950"/>
            <a:ext cx="4572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</p:spTree>
    <p:extLst>
      <p:ext uri="{BB962C8B-B14F-4D97-AF65-F5344CB8AC3E}">
        <p14:creationId xmlns:p14="http://schemas.microsoft.com/office/powerpoint/2010/main" val="1908336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B29D7-2DB2-4277-BC78-198D724D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57518-9097-42BF-A323-D936284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同一数据、同一任务、同一600样本预算下，三层方法更稳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0C3C7-411B-4768-AD31-39E043E0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581150"/>
          <a:ext xmlns:a="http://schemas.openxmlformats.org/drawingml/2006/main" cx="62293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cca12d88f84a8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D4ADF-6A0E-42FC-872B-C789CEE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020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FDF5F-891B-4FD7-A8B1-90026AFD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+12.11pp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2D7D1-D1BC-480C-B0F8-F895380A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最终识别率提升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430AA-9D8D-4C0E-954E-C1F041E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0515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30E65-FA73-4909-877E-17C8A2E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-19.23pp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1F34A-6AE2-4D89-ACD3-7FA2BD9A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平均遗忘率下降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9C599-6961-48C3-A2D7-BB54C749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数据规模：4301条预测 · 10类 · 5任务 · 固定回放预算600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D7D65-ECB5-4B4F-A1B7-4DF3F55A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86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边界：公开航拍数据 + 虚拟北斗坐标，不代表真实无人机、北斗终端或商业客户效果。</a:t>
            </a:r>
          </a:p>
        </p:txBody>
      </p:sp>
    </p:spTree>
    <p:extLst>
      <p:ext uri="{BB962C8B-B14F-4D97-AF65-F5344CB8AC3E}">
        <p14:creationId xmlns:p14="http://schemas.microsoft.com/office/powerpoint/2010/main" val="1055524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875C16-B683-4F49-9782-AAE9ABB4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客户与商业模式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8EA67-B200-4A21-8C8C-4616539D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谁付费、买什么、为什么选择我们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C6446-C816-4EB2-B6D3-D365B22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4F66-D825-4FC7-A3C9-1FAD6B1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A25C-77F7-4176-A429-C5C8865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目标客户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8DA3-D9FB-4308-847E-838A092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F3702-8309-4253-8532-3DDE098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电网与能源运维单位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10C03-FC63-48CA-95E7-AC29905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BBF68-653E-455C-AB09-047B8B7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无人机巡检服务商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EA11-2C67-4994-819F-C17E8B0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7A076-1725-4FA8-995F-35A6BBA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低空运营与GIS平台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C2D16-89E3-4E0B-BB81-DE86EC2C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FD395-773D-41E9-92D3-D66D5957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交通、通信基础设施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8A68E-78BE-4F84-AABF-8B1DF164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6412A-1B59-41C1-A0A7-B67701C9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行业算法集成商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22B36-19F6-428B-A390-6065F39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695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E8749-E275-445E-8B3D-13629FED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产品交付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7148D-83C5-4B4F-AF24-EE5CCE1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FAB30-B6CE-43FC-A950-3CFD82BC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私有化部署平台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2B9A6-9059-4201-A0DC-79EE5DB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9E697-6864-4C92-AED1-3CA0CD29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时空诊断API / SDK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4D23D-3C92-416D-A2A6-25A857C3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5FB37-E4BD-4456-AC09-3E5A5DF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年度模型维护服务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50A34-D932-4526-B553-CA98BC98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8A67D-0CDE-4B73-BDFE-E810B947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场景数据适配与集成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20D33-09EB-499F-872C-A77CFA4D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224029-2CF3-4854-8141-4DD1C97B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38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诊断报告与复飞任务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2BE69-75DF-47DF-8299-8B945DCB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3676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9DD98-9784-4B45-8C4E-8F1FD916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选择我们的理由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BDC1A-D4F1-4D53-8BD0-8090657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0C7AE-1D03-43E2-A8DE-00F53CFE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不替换现有无人机硬件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F557C-28DF-417F-8610-F8DEAD2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F235A2-28DE-4A4F-A5B8-BD7E0910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能指出模型在哪里失效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1C921-042D-48D0-A399-5083399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114984-356B-4B22-916E-15F22E1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持续吸收新增目标类别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D96F37-0618-4CE9-B55F-F4F9DD1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74805D-AE5E-48C4-B4C3-49CCF2E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固定预算下保留旧知识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7B8A87-B899-4430-A9C9-524EED3B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201EBA-7883-4E2C-AAC4-CF95A1C9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38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结果直接进入巡检闭环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3D0B84-E94A-4252-A2BC-D2CCAD8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商业化切入：先做电力巡检软件与算法服务，再向交通、通信和园区复制。</a:t>
            </a:r>
          </a:p>
        </p:txBody>
      </p:sp>
    </p:spTree>
    <p:extLst>
      <p:ext uri="{BB962C8B-B14F-4D97-AF65-F5344CB8AC3E}">
        <p14:creationId xmlns:p14="http://schemas.microsoft.com/office/powerpoint/2010/main" val="19550727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B4656-9A82-4CF4-8986-D396C40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验证与落地路线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149DA-A506-41E9-8A37-F5AF1C3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从公开数据仿真走向真实巡检验证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2316D-C7BE-47C5-AE47-F474204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4ECD0-9361-49C0-961E-7CED7B1D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E312F-B9BE-4428-8D57-829E185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公开数据验证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4C93B-F185-4D39-8AE1-6105EC9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10类5任务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固定预算对比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局部诊断原型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B3D91-8A56-4609-8FD8-CA89ADA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5A004-2BD9-4EEB-B1B7-F8A91BC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2681F-583A-47B8-95CE-E1E04180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场景数据接入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0368C-5F8C-4455-A61B-BD4EC37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接入真实任务包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校准坐标质量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补充电力目标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2CCB1-E6F9-495D-BC3D-95B17B6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339B8-B822-4857-A872-FB298DD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3520A-B498-4AE7-9BF4-D6918CD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工程试点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21284-7101-47D1-B884-56409E4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服务器部署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任务闭环联调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复飞建议验证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EF70D-D123-4A7B-8203-E13EBA8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452AE-348D-442E-B875-B4E4A54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6519E-47D1-4097-9A08-E13DD76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规模化推广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DB77B-0643-4D27-9151-A7BC8AE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多航线多区域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模型版本管理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行业场景复制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CE58D-B668-4170-8B91-0626203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F69AF-5C89-48D1-9BA1-A8846A4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项目主线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8A7F8-B4DA-441D-83A9-A76EA28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公开数据验证 → 场景数据接入 → 工程试点 → 行业复制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D148E-BDFC-47DA-B338-4B4048A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当前成果证明方法可行；下一阶段重点获取真实巡检任务包并完成端到端联调。</a:t>
            </a:r>
          </a:p>
        </p:txBody>
      </p:sp>
    </p:spTree>
    <p:extLst>
      <p:ext uri="{BB962C8B-B14F-4D97-AF65-F5344CB8AC3E}">
        <p14:creationId xmlns:p14="http://schemas.microsoft.com/office/powerpoint/2010/main" val="1083090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2026-08-06T11:03:57.1790000Z</dcterms:created>
  <dcterms:modified xsi:type="dcterms:W3CDTF">2026-08-06T11:03:57.1790000Z</dcterms:modified>
</coreProperties>
</file>