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2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af22a16448d4d4d" /><Relationship Type="http://schemas.openxmlformats.org/officeDocument/2006/relationships/extended-properties" Target="/docProps/app.xml" Id="Rf7ecf418d6674d8c" /><Relationship Type="http://schemas.openxmlformats.org/officeDocument/2006/relationships/officeDocument" Target="/ppt/presentation.xml" Id="R01f6ce55e9b6437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13033c8800949bc"/>
  </p:sldMasterIdLst>
  <p:notesMasterIdLst>
    <p:notesMasterId xmlns:r="http://schemas.openxmlformats.org/officeDocument/2006/relationships" r:id="R201893e433824117"/>
  </p:notesMasterIdLst>
  <p:sldIdLst>
    <p:sldId xmlns:r="http://schemas.openxmlformats.org/officeDocument/2006/relationships" id="256" r:id="R8f3c2f7b7e7c4607"/>
    <p:sldId xmlns:r="http://schemas.openxmlformats.org/officeDocument/2006/relationships" id="257" r:id="R48842badc45343e8"/>
    <p:sldId xmlns:r="http://schemas.openxmlformats.org/officeDocument/2006/relationships" id="258" r:id="R68f31da711a34786"/>
    <p:sldId xmlns:r="http://schemas.openxmlformats.org/officeDocument/2006/relationships" id="259" r:id="R3e7e6430b40544b0"/>
    <p:sldId xmlns:r="http://schemas.openxmlformats.org/officeDocument/2006/relationships" id="260" r:id="R49c622dae0384cd2"/>
    <p:sldId xmlns:r="http://schemas.openxmlformats.org/officeDocument/2006/relationships" id="261" r:id="R1f55feddea124826"/>
    <p:sldId xmlns:r="http://schemas.openxmlformats.org/officeDocument/2006/relationships" id="262" r:id="R34f057dee1d54ab8"/>
    <p:sldId xmlns:r="http://schemas.openxmlformats.org/officeDocument/2006/relationships" id="263" r:id="R75171d9053e24443"/>
    <p:sldId xmlns:r="http://schemas.openxmlformats.org/officeDocument/2006/relationships" id="264" r:id="R817dbf42dcd74b1c"/>
    <p:sldId xmlns:r="http://schemas.openxmlformats.org/officeDocument/2006/relationships" id="265" r:id="R269c1d68022c4f41"/>
    <p:sldId xmlns:r="http://schemas.openxmlformats.org/officeDocument/2006/relationships" id="266" r:id="R9637550f00f24937"/>
    <p:sldId xmlns:r="http://schemas.openxmlformats.org/officeDocument/2006/relationships" id="267" r:id="Rd379aa1f8c504c9d"/>
    <p:sldId xmlns:r="http://schemas.openxmlformats.org/officeDocument/2006/relationships" id="268" r:id="R2e40761d7957488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fc4c50880b4412e" /><Relationship Type="http://schemas.openxmlformats.org/officeDocument/2006/relationships/slideMaster" Target="/ppt/slideMasters/slideMaster1.xml" Id="R413033c8800949bc" /><Relationship Type="http://schemas.openxmlformats.org/officeDocument/2006/relationships/notesMaster" Target="/ppt/notesMasters/notesMaster1.xml" Id="R201893e433824117" /><Relationship Type="http://schemas.openxmlformats.org/officeDocument/2006/relationships/presProps" Target="/ppt/presProps.xml" Id="R44a75d232de044f7" /><Relationship Type="http://schemas.openxmlformats.org/officeDocument/2006/relationships/tableStyles" Target="/ppt/tableStyles.xml" Id="R4fab7c2916ee434f" /><Relationship Type="http://schemas.openxmlformats.org/officeDocument/2006/relationships/slide" Target="/ppt/slides/slide1.xml" Id="R8f3c2f7b7e7c4607" /><Relationship Type="http://schemas.openxmlformats.org/officeDocument/2006/relationships/slide" Target="/ppt/slides/slide2.xml" Id="R48842badc45343e8" /><Relationship Type="http://schemas.openxmlformats.org/officeDocument/2006/relationships/slide" Target="/ppt/slides/slide3.xml" Id="R68f31da711a34786" /><Relationship Type="http://schemas.openxmlformats.org/officeDocument/2006/relationships/slide" Target="/ppt/slides/slide4.xml" Id="R3e7e6430b40544b0" /><Relationship Type="http://schemas.openxmlformats.org/officeDocument/2006/relationships/slide" Target="/ppt/slides/slide5.xml" Id="R49c622dae0384cd2" /><Relationship Type="http://schemas.openxmlformats.org/officeDocument/2006/relationships/slide" Target="/ppt/slides/slide6.xml" Id="R1f55feddea124826" /><Relationship Type="http://schemas.openxmlformats.org/officeDocument/2006/relationships/slide" Target="/ppt/slides/slide7.xml" Id="R34f057dee1d54ab8" /><Relationship Type="http://schemas.openxmlformats.org/officeDocument/2006/relationships/slide" Target="/ppt/slides/slide8.xml" Id="R75171d9053e24443" /><Relationship Type="http://schemas.openxmlformats.org/officeDocument/2006/relationships/slide" Target="/ppt/slides/slide9.xml" Id="R817dbf42dcd74b1c" /><Relationship Type="http://schemas.openxmlformats.org/officeDocument/2006/relationships/slide" Target="/ppt/slides/slide10.xml" Id="R269c1d68022c4f41" /><Relationship Type="http://schemas.openxmlformats.org/officeDocument/2006/relationships/slide" Target="/ppt/slides/slide11.xml" Id="R9637550f00f24937" /><Relationship Type="http://schemas.openxmlformats.org/officeDocument/2006/relationships/slide" Target="/ppt/slides/slide12.xml" Id="Rd379aa1f8c504c9d" /><Relationship Type="http://schemas.openxmlformats.org/officeDocument/2006/relationships/slide" Target="/ppt/slides/slide13.xml" Id="R2e40761d795748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0fc8bbbf0f745a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72c5b53efc342e4" /><Relationship Type="http://schemas.openxmlformats.org/officeDocument/2006/relationships/notesMaster" Target="/ppt/notesMasters/notesMaster1.xml" Id="R9b54cc91193d49a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798f9561bb2462d" /><Relationship Type="http://schemas.openxmlformats.org/officeDocument/2006/relationships/notesMaster" Target="/ppt/notesMasters/notesMaster1.xml" Id="Rcfd46a409103488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d658c5d747948a1" /><Relationship Type="http://schemas.openxmlformats.org/officeDocument/2006/relationships/notesMaster" Target="/ppt/notesMasters/notesMaster1.xml" Id="R2f4cfc06d1d3483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df6cb61e81f46a2" /><Relationship Type="http://schemas.openxmlformats.org/officeDocument/2006/relationships/notesMaster" Target="/ppt/notesMasters/notesMaster1.xml" Id="Rd9f0ac9e157c4f1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51367fb708140f7" /><Relationship Type="http://schemas.openxmlformats.org/officeDocument/2006/relationships/notesMaster" Target="/ppt/notesMasters/notesMaster1.xml" Id="Ra5ca0ddedb4f4e1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9894e22afd3429c" /><Relationship Type="http://schemas.openxmlformats.org/officeDocument/2006/relationships/notesMaster" Target="/ppt/notesMasters/notesMaster1.xml" Id="Red35b662730d49f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b33c289316442bd" /><Relationship Type="http://schemas.openxmlformats.org/officeDocument/2006/relationships/notesMaster" Target="/ppt/notesMasters/notesMaster1.xml" Id="R5b608ada147e4d0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071db261f0e48e7" /><Relationship Type="http://schemas.openxmlformats.org/officeDocument/2006/relationships/notesMaster" Target="/ppt/notesMasters/notesMaster1.xml" Id="Rda80e2800413488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9083860568d4fea" /><Relationship Type="http://schemas.openxmlformats.org/officeDocument/2006/relationships/notesMaster" Target="/ppt/notesMasters/notesMaster1.xml" Id="Rbec4d0935e4e4b8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ba13e9761c74fba" /><Relationship Type="http://schemas.openxmlformats.org/officeDocument/2006/relationships/notesMaster" Target="/ppt/notesMasters/notesMaster1.xml" Id="R16f6b9b099054c5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0c33b99ab924e4a" /><Relationship Type="http://schemas.openxmlformats.org/officeDocument/2006/relationships/notesMaster" Target="/ppt/notesMasters/notesMaster1.xml" Id="R188d577c059f448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bfb1191dc5b4f39" /><Relationship Type="http://schemas.openxmlformats.org/officeDocument/2006/relationships/notesMaster" Target="/ppt/notesMasters/notesMaster1.xml" Id="Rcd36d86230a74f4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3489dd4414645ea" /><Relationship Type="http://schemas.openxmlformats.org/officeDocument/2006/relationships/notesMaster" Target="/ppt/notesMasters/notesMaster1.xml" Id="Rea388965b0e340a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positioning and prototype: D:/Desktop/北斗智巡/beidou_competition_shared</a:t>
            </a:r>
          </a:p>
          <a:p xmlns:a="http://schemas.openxmlformats.org/drawingml/2006/main">
            <a:r>
              <a:t>- Cover image: https://commons.wikimedia.org/wiki/File:Aerial_view_of_Porvoo_Ilola_electricity_pylons.jpg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- 2024 Government Work Report screenshot and claim: https://www.gov.cn/yaowen/liebiao/202403/content_6939153.htm</a:t>
            </a:r>
          </a:p>
          <a:p xmlns:a="http://schemas.openxmlformats.org/drawingml/2006/main">
            <a:r>
              <a:t>- General Aviation Equipment Innovation Application Implementation Plan (2024-2030): https://www.gov.cn/zhengce/zhengceku/202403/content_6942115.htm</a:t>
            </a:r>
          </a:p>
          <a:p xmlns:a="http://schemas.openxmlformats.org/drawingml/2006/main">
            <a:r>
              <a:t>- 中国卫星导航定位协会：《2024中国卫星导航与位置服务产业发展白皮书》；2023年产业总体产值5362亿元。</a:t>
            </a:r>
          </a:p>
          <a:p xmlns:a="http://schemas.openxmlformats.org/drawingml/2006/main">
            <a:r>
              <a:t>- Boundary: macro figures describe the policy and industry window, not this project's directly addressable market.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市场规模与增速：D:/Program Files (x86)/xwechat_files/wxid_2ntrnvxgy2sy22_cae2/msg/file/2026-08/无人机市场规模(2).docx；原标注来源为弗若斯特沙利文、锐观咨询整理。</a:t>
            </a:r>
          </a:p>
          <a:p xmlns:a="http://schemas.openxmlformats.org/drawingml/2006/main">
            <a:r>
              <a:t>- 电力采购案例：国网智能科技股份有限公司配电线路无人机巡检服务项目招标公告，招标编号 SGAI2411-0924-FWKJZB-ZY07。</a:t>
            </a:r>
          </a:p>
          <a:p xmlns:a="http://schemas.openxmlformats.org/drawingml/2006/main">
            <a:r>
              <a:t>- 跨行业采购案例：中国政府采购网《长江水域岸线低空无人机智能巡检中标公告》，项目编号 JSZC-320000-XHNJ-G2025-0004。</a:t>
            </a:r>
          </a:p>
          <a:p xmlns:a="http://schemas.openxmlformats.org/drawingml/2006/main">
            <a:r>
              <a:t>- Boundary: market figures describe the industry context, not this project's directly addressable revenue.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VisDrone public aerial sample: D:\Desktop\北斗智巡\beidou_competition_shared\assets\aerial\visdrone-road-observation.jpg</a:t>
            </a:r>
          </a:p>
          <a:p xmlns:a="http://schemas.openxmlformats.org/drawingml/2006/main">
            <a:r>
              <a:t>- Mountain landslide and construction-zone public aerial images: D:/Desktop/北斗智巡/beidou_competition_shared/assets/aerial/README_CN.md</a:t>
            </a:r>
          </a:p>
          <a:p xmlns:a="http://schemas.openxmlformats.org/drawingml/2006/main">
            <a:r>
              <a:t>- Project problem framing and audited result boundary: D:/Desktop/北斗智巡/beidou_competition_shared/data_contract/public_result.json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https://commons.wikimedia.org/wiki/File:Aerial_view_of_Porvoo_Ilola_electricity_pylons.jpg</a:t>
            </a:r>
          </a:p>
          <a:p xmlns:a="http://schemas.openxmlformats.org/drawingml/2006/main">
            <a:r>
              <a:t>- https://commons.wikimedia.org/wiki/File:Mud_Creek_Landslide_(southeast_of_Gorda,_California,_USA).jpg</a:t>
            </a:r>
          </a:p>
          <a:p xmlns:a="http://schemas.openxmlformats.org/drawingml/2006/main">
            <a:r>
              <a:t>- https://commons.wikimedia.org/wiki/File:Aerial_perspective_of_the_bridge_across_Dongshan_river.jpg</a:t>
            </a:r>
          </a:p>
          <a:p xmlns:a="http://schemas.openxmlformats.org/drawingml/2006/main">
            <a:r>
              <a:t>- https://commons.wikimedia.org/wiki/File:Aerial_photo_of_construction_site_of_Akabanedai_tunnel.jpg</a:t>
            </a:r>
          </a:p>
          <a:p xmlns:a="http://schemas.openxmlformats.org/drawingml/2006/main">
            <a:r>
              <a:t>- Asset provenance: D:/Desktop/北斗智巡/beidou_competition_shared/assets/aerial/README_CN.md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Workflow content follows the project data contract and prototype interaction: D:/Desktop/北斗智巡/beidou_competition_shared/data_contract/public_result.json and D:/Desktop/北斗智巡/beidou_competition_shared/assets/screenshots.</a:t>
            </a:r>
          </a:p>
          <a:p xmlns:a="http://schemas.openxmlformats.org/drawingml/2006/main">
            <a:r>
              <a:t>- Visual frames are intentionally reserved for later real task screenshots; no repeated stock imagery is used on this slide.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VisDrone public aerial sample: D:\Desktop\北斗智巡\beidou_competition_shared\assets\aerial\visdrone-parking-observation.jpg</a:t>
            </a:r>
          </a:p>
          <a:p xmlns:a="http://schemas.openxmlformats.org/drawingml/2006/main">
            <a:r>
              <a:t>- BeiDou-3 satellite mockup: https://commons.wikimedia.org/wiki/File:Beidou-3_Satellite_Mockup.jpg (CC BY-SA 4.0, AKAMGO yalms).</a:t>
            </a:r>
          </a:p>
          <a:p xmlns:a="http://schemas.openxmlformats.org/drawingml/2006/main">
            <a:r>
              <a:t>- Project Beidou/AI technical boundary: D:/Desktop/北斗智巡/beidou_competition_shared/data_contract/public_result.json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private algorithm design summary. Public-facing name: 三层稳健知识回放.</a:t>
            </a:r>
          </a:p>
          <a:p xmlns:a="http://schemas.openxmlformats.org/drawingml/2006/main">
            <a:r>
              <a:t>- Audited public result: D:/Desktop/北斗智巡/beidou_competition_shared/data_contract/public_result.json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Innovation claims are bounded by the audited result contract: D:/Desktop/北斗智巡/beidou_competition_shared/data_contract/public_result.json</a:t>
            </a:r>
          </a:p>
          <a:p xmlns:a="http://schemas.openxmlformats.org/drawingml/2006/main">
            <a:r>
              <a:t>- The three reserved visuals must be filled with distinct project outputs; dynamic location-budget training improvement remains a planned deeper validation item.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prototype screenshot: D:\Desktop\北斗智巡\beidou_competition_shared\assets\screenshots\beidou_product_board.png</a:t>
            </a:r>
          </a:p>
          <a:p xmlns:a="http://schemas.openxmlformats.org/drawingml/2006/main">
            <a:r>
              <a:t>- Prototype data source: D:/Desktop/北斗智巡/beidou_competition_shared/data_contract/public_result.json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Audited experiment result: D:/Desktop/北斗智巡/beidou_competition_shared/data_contract/public_result.json</a:t>
            </a:r>
          </a:p>
          <a:p xmlns:a="http://schemas.openxmlformats.org/drawingml/2006/main">
            <a:r>
              <a:t>- ER accuracy 31.4811%; three-layer method 43.5945%; average forgetting 51.3232% vs 32.0917%.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Customer and commercialization statements are project planning assumptions, not signed contracts or realized revenue.</a:t>
            </a:r>
          </a:p>
          <a:p xmlns:a="http://schemas.openxmlformats.org/drawingml/2006/main">
            <a:r>
              <a:t>- Procurement-path evidence is summarized from the user-provided market material: D:/Program Files (x86)/xwechat_files/wxid_2ntrnvxgy2sy22_cae2/msg/file/2026-08/无人机市场规模(2).docx.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evidence status: D:/Desktop/北斗智巡/beidou_competition_shared/data_contract/public_result.json</a:t>
            </a:r>
          </a:p>
          <a:p xmlns:a="http://schemas.openxmlformats.org/drawingml/2006/main">
            <a:r>
              <a:t>- The roadmap is a project plan, not a claim of completed deployment. Each reserved frame must be replaced only after that stage has real evidence.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6b5a7ba8f443b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f3310c04bf94c0b" /><Relationship Type="http://schemas.openxmlformats.org/officeDocument/2006/relationships/slideLayout" Target="/ppt/slideLayouts/slideLayout1.xml" Id="R3cb1cf64ac514f3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cb1cf64ac514f3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c679899e214338" /><Relationship Type="http://schemas.openxmlformats.org/officeDocument/2006/relationships/image" Target="/ppt/media/image.jpeg" Id="R2a668437e4f74f80" /><Relationship Type="http://schemas.openxmlformats.org/officeDocument/2006/relationships/notesSlide" Target="/ppt/notesSlides/notesSlide1.xml" Id="R70e6fcd8a6c6464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07d5734bb44619" /><Relationship Type="http://schemas.openxmlformats.org/officeDocument/2006/relationships/image" Target="/ppt/media/image.png" Id="Rf0e581484c734eb3" /><Relationship Type="http://schemas.openxmlformats.org/officeDocument/2006/relationships/image" Target="/ppt/media/image2.png" Id="R021157a96825470e" /><Relationship Type="http://schemas.openxmlformats.org/officeDocument/2006/relationships/notesSlide" Target="/ppt/notesSlides/notesSlide2.xml" Id="Rf6771b875fe542a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353b0adf414a96" /><Relationship Type="http://schemas.openxmlformats.org/officeDocument/2006/relationships/chart" Target="/ppt/slides/charts/chart1.xml" Id="R42e1db92cba64e4d" /><Relationship Type="http://schemas.openxmlformats.org/officeDocument/2006/relationships/notesSlide" Target="/ppt/notesSlides/notesSlide3.xml" Id="Rbbcee6f67afb42d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235608de804d77" /><Relationship Type="http://schemas.openxmlformats.org/officeDocument/2006/relationships/image" Target="/ppt/media/image2.jpeg" Id="R22acad8b0daf4879" /><Relationship Type="http://schemas.openxmlformats.org/officeDocument/2006/relationships/image" Target="/ppt/media/image3.jpeg" Id="Ra9726d12f3894f4e" /><Relationship Type="http://schemas.openxmlformats.org/officeDocument/2006/relationships/image" Target="/ppt/media/image4.jpeg" Id="R86ddaf329bbb48e9" /><Relationship Type="http://schemas.openxmlformats.org/officeDocument/2006/relationships/notesSlide" Target="/ppt/notesSlides/notesSlide4.xml" Id="R0220418ace274e2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31ab9d1b284b5f" /><Relationship Type="http://schemas.openxmlformats.org/officeDocument/2006/relationships/notesSlide" Target="/ppt/notesSlides/notesSlide5.xml" Id="R3ecc7332560c4f9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eb4687e02f44a3" /><Relationship Type="http://schemas.openxmlformats.org/officeDocument/2006/relationships/notesSlide" Target="/ppt/notesSlides/notesSlide6.xml" Id="Rdee637dae43d4dd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1ad63018604ca5" /><Relationship Type="http://schemas.openxmlformats.org/officeDocument/2006/relationships/image" Target="/ppt/media/image5.jpeg" Id="Rb896f8e196fc4bcd" /><Relationship Type="http://schemas.openxmlformats.org/officeDocument/2006/relationships/image" Target="/ppt/media/image6.jpeg" Id="Rc7b41d5a561348e4" /><Relationship Type="http://schemas.openxmlformats.org/officeDocument/2006/relationships/notesSlide" Target="/ppt/notesSlides/notesSlide7.xml" Id="Ra59a2cb6587d403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71a5e24d8045dc" /><Relationship Type="http://schemas.openxmlformats.org/officeDocument/2006/relationships/notesSlide" Target="/ppt/notesSlides/notesSlide8.xml" Id="R91c15f345f3d44f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35a34875cf46f9" /><Relationship Type="http://schemas.openxmlformats.org/officeDocument/2006/relationships/notesSlide" Target="/ppt/notesSlides/notesSlide9.xml" Id="R80a5ca3cb388479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2c362b8e70498a" /><Relationship Type="http://schemas.openxmlformats.org/officeDocument/2006/relationships/image" Target="/ppt/media/image3.png" Id="Rfb3831f73abc4d69" /><Relationship Type="http://schemas.openxmlformats.org/officeDocument/2006/relationships/notesSlide" Target="/ppt/notesSlides/notesSlide10.xml" Id="Rb8c61b0534fc4e3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969e130f814917" /><Relationship Type="http://schemas.openxmlformats.org/officeDocument/2006/relationships/chart" Target="/ppt/slides/charts/chart2.xml" Id="Rbe0824f33660441a" /><Relationship Type="http://schemas.openxmlformats.org/officeDocument/2006/relationships/notesSlide" Target="/ppt/notesSlides/notesSlide11.xml" Id="R3f8fcd1855cb4cf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5e1ca892bd4c01" /><Relationship Type="http://schemas.openxmlformats.org/officeDocument/2006/relationships/notesSlide" Target="/ppt/notesSlides/notesSlide12.xml" Id="R4e22117c29e2431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76d97107d04a3a" /><Relationship Type="http://schemas.openxmlformats.org/officeDocument/2006/relationships/notesSlide" Target="/ppt/notesSlides/notesSlide13.xml" Id="R62355534944e4a6f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市场规模</c:v>
          </c:tx>
          <c:spPr>
            <a:solidFill xmlns:a="http://schemas.openxmlformats.org/drawingml/2006/main">
              <a:srgbClr val="0B7880"/>
            </a:solidFill>
          </c:spPr>
          <c:cat>
            <c:strLit>
              <c:ptCount val="3"/>
              <c:pt idx="0">
                <c:v>2019</c:v>
              </c:pt>
              <c:pt idx="1">
                <c:v>2024</c:v>
              </c:pt>
              <c:pt idx="2">
                <c:v>2029E</c:v>
              </c:pt>
            </c:strLit>
          </c:cat>
          <c:val>
            <c:numLit>
              <c:formatCode>General</c:formatCode>
              <c:ptCount val="3"/>
              <c:pt idx="0">
                <c:v>151.8</c:v>
              </c:pt>
              <c:pt idx="1">
                <c:v>650.68</c:v>
              </c:pt>
              <c:pt idx="2">
                <c:v>1710.5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6E1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ER经验回放</c:v>
          </c:tx>
          <c:spPr>
            <a:solidFill xmlns:a="http://schemas.openxmlformats.org/drawingml/2006/main">
              <a:srgbClr val="A8B7AF"/>
            </a:solidFill>
          </c:spPr>
          <c:cat>
            <c:strLit>
              <c:ptCount val="2"/>
              <c:pt idx="0">
                <c:v>最终识别率</c:v>
              </c:pt>
              <c:pt idx="1">
                <c:v>平均遗忘率</c:v>
              </c:pt>
            </c:strLit>
          </c:cat>
          <c:val>
            <c:numLit>
              <c:formatCode>General</c:formatCode>
              <c:ptCount val="2"/>
              <c:pt idx="0">
                <c:v>31.48</c:v>
              </c:pt>
              <c:pt idx="1">
                <c:v>51.32</c:v>
              </c:pt>
            </c:numLit>
          </c:val>
        </c:ser>
        <c:ser>
          <c:idx val="1"/>
          <c:order val="1"/>
          <c:tx>
            <c:v>三层稳健知识回放</c:v>
          </c:tx>
          <c:spPr>
            <a:solidFill xmlns:a="http://schemas.openxmlformats.org/drawingml/2006/main">
              <a:srgbClr val="1F8B59"/>
            </a:solidFill>
          </c:spPr>
          <c:cat>
            <c:strLit>
              <c:ptCount val="2"/>
              <c:pt idx="0">
                <c:v>最终识别率</c:v>
              </c:pt>
              <c:pt idx="1">
                <c:v>平均遗忘率</c:v>
              </c:pt>
            </c:strLit>
          </c:cat>
          <c:val>
            <c:numLit>
              <c:formatCode>General</c:formatCode>
              <c:ptCount val="2"/>
              <c:pt idx="0">
                <c:v>43.59</c:v>
              </c:pt>
              <c:pt idx="1">
                <c:v>32.09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102F26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8D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6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1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324B43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B8E43C-92F2-401C-8990-3B58E30FE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B59"/>
          </a:solidFill>
          <a:ln xmlns:a="http://schemas.openxmlformats.org/drawingml/2006/main" w="0">
            <a:solidFill>
              <a:srgbClr val="1F8B5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D2D7BF-5964-45BF-9AF4-0BBD8BF52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第十五届中国创新创业大赛 · 北斗时空信息专业赛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59306A-81CD-41A7-ADF9-DD318C4AB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66850"/>
            <a:ext cx="4857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2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北斗巡知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249F88-6C0F-4474-B183-6621900FC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38550"/>
            <a:ext cx="4810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面向低空持续巡检的时空局部诊断与模型持续更新平台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6418CA-9B4C-407A-973F-F2C0F2A6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57750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0"/>
          </a:solidFill>
          <a:ln xmlns:a="http://schemas.openxmlformats.org/drawingml/2006/main" w="0">
            <a:solidFill>
              <a:srgbClr val="CBD8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52D4BD-C829-45CE-A285-E3CB8055E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244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首个应用场景：输电走廊通道风险巡检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668437e4f74f80"/>
          <a:srcRect xmlns:a="http://schemas.openxmlformats.org/drawingml/2006/main" l="18750" t="0" r="187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905500" y="400050"/>
            <a:ext cx="5810250" cy="5810250"/>
          </a:xfrm>
          <a:prstGeom xmlns:a="http://schemas.openxmlformats.org/drawingml/2006/main" prst="round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B10E6E-45B8-4C7C-AF86-059919704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790857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3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BB4656-9A82-4CF4-8986-D396C40FC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9FD2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FD2AE"/>
                </a:solidFill>
                <a:latin typeface="Microsoft YaHei"/>
                <a:ea typeface="Microsoft YaHei"/>
                <a:cs typeface="Microsoft YaHei"/>
              </a:rPr>
              <a:t>政策原文证据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E149DA-A506-41E9-8A37-F5AF1C307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政策不是背景装饰：低空经济与通航装备已进入国家部署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A2316D-C7BE-47C5-AE47-F47420480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FB2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FB29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34ECD0-9361-49C0-961E-7CED7B1DA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7335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3C9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3C99C"/>
                </a:solidFill>
                <a:latin typeface="Microsoft YaHei"/>
                <a:ea typeface="Microsoft YaHei"/>
                <a:cs typeface="Microsoft YaHei"/>
              </a:rPr>
              <a:t>2024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4E312F-B9BE-4428-8D57-829E1858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16217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低空经济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24C93B-F185-4D39-8AE1-6105EC90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52700"/>
            <a:ext cx="1695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rPr>
              <a:t>首次写入政府工作报告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rPr>
              <a:t>列为新的增长引擎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F5A004-2BD9-4EEB-B1B7-F8A91BC95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7335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3C9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3C99C"/>
                </a:solidFill>
                <a:latin typeface="Microsoft YaHei"/>
                <a:ea typeface="Microsoft YaHei"/>
                <a:cs typeface="Microsoft YaHei"/>
              </a:rPr>
              <a:t>2030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A2681F-583A-47B8-95CE-E1E04180F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16217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万亿元级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B0368C-5F8C-4455-A61B-BD4EC37E2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552700"/>
            <a:ext cx="1695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rPr>
              <a:t>通航装备形成万亿元级市场规模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B339B8-B822-4857-A872-FB298DDCB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6385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3C9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3C99C"/>
                </a:solidFill>
                <a:latin typeface="Microsoft YaHei"/>
                <a:ea typeface="Microsoft YaHei"/>
                <a:cs typeface="Microsoft YaHei"/>
              </a:rPr>
              <a:t>5362亿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C3520A-B498-4AE7-9BF4-D6918CD46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06717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北斗产业基础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221284-7101-47D1-B884-56409E40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457700"/>
            <a:ext cx="1695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rPr>
              <a:t>2023年卫星导航与位置服务产业产值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2452AE-348D-442E-B875-B4E4A54FE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6385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3C9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3C99C"/>
                </a:solidFill>
                <a:latin typeface="Microsoft YaHei"/>
                <a:ea typeface="Microsoft YaHei"/>
                <a:cs typeface="Microsoft YaHei"/>
              </a:rPr>
              <a:t>首个场景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16519E-47D1-4097-9A08-E13DD760F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06717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电力巡检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4DB77B-0643-4D27-9151-A7BC8AEA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457700"/>
            <a:ext cx="1695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rPr>
              <a:t>高频、跨区域、结果可进入任务闭环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8F69AF-5C89-48D1-9BA1-A8846A4E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83C9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3C99C"/>
                </a:solidFill>
                <a:latin typeface="Microsoft YaHei"/>
                <a:ea typeface="Microsoft YaHei"/>
                <a:cs typeface="Microsoft YaHei"/>
              </a:rPr>
              <a:t>两份国家文件原文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A8A7F8-B4DA-441D-83A9-A76EA2855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387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142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左：2024年政府工作报告  |  右：通用航空装备创新应用实施方案（2024—2030年）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FD148E-BDFC-47DA-B338-4B4048A17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0550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CBE1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CBE1D4"/>
                </a:solidFill>
                <a:latin typeface="Microsoft YaHei"/>
                <a:ea typeface="Microsoft YaHei"/>
                <a:cs typeface="Microsoft YaHei"/>
              </a:rPr>
              <a:t>宏观产业规模说明政策与产业窗口，不等同于本项目可直接获得的市场规模。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e581484c734eb3"/>
          <a:stretch xmlns:a="http://schemas.openxmlformats.org/drawingml/2006/main"/>
        </p:blipFill>
        <p:spPr>
          <a:xfrm xmlns:a="http://schemas.openxmlformats.org/drawingml/2006/main">
            <a:off x="552450" y="2368323"/>
            <a:ext cx="3143250" cy="1721304"/>
          </a:xfrm>
          <a:prstGeom xmlns:a="http://schemas.openxmlformats.org/drawingml/2006/main" prst="roundRect">
            <a:avLst>
              <a:gd name="adj" fmla="val 2400"/>
            </a:avLst>
          </a:prstGeom>
        </p:spPr>
      </p:pic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1157a96825470e"/>
          <a:stretch xmlns:a="http://schemas.openxmlformats.org/drawingml/2006/main"/>
        </p:blipFill>
        <p:spPr>
          <a:xfrm xmlns:a="http://schemas.openxmlformats.org/drawingml/2006/main">
            <a:off x="4095750" y="2330904"/>
            <a:ext cx="3143250" cy="1796143"/>
          </a:xfrm>
          <a:prstGeom xmlns:a="http://schemas.openxmlformats.org/drawingml/2006/main" prst="roundRect">
            <a:avLst>
              <a:gd name="adj" fmla="val 2400"/>
            </a:avLst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DFAC3B-C360-48A5-B059-8B1995047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19600"/>
            <a:ext cx="314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B3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中国政府网 · 政府工作报告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E9294D-0C89-46C5-86AB-416FA9A47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19600"/>
            <a:ext cx="314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88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中国政府网 · 四部门联合文件</a:t>
            </a:r>
          </a:p>
        </p:txBody>
      </p:sp>
    </p:spTree>
    <p:extLst>
      <p:ext uri="{BB962C8B-B14F-4D97-AF65-F5344CB8AC3E}">
        <p14:creationId xmlns:p14="http://schemas.microsoft.com/office/powerpoint/2010/main" val="10830909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AFDB3F-C1B7-4444-8B24-812770A87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市场与采购验证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99A270-28AA-411D-9229-08E5278F2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市场增长不是空泛概念：工业级无人机与巡检采购同步扩张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2B210A-DA74-47DE-953E-CF8B5FDF9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F2D34E-C92D-4138-94D1-E6B84AC61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342B"/>
                </a:solidFill>
              </a:defRPr>
            </a:pPr>
            <a:r>
              <a:rPr sz="1350" b="1">
                <a:solidFill>
                  <a:srgbClr val="0B342B"/>
                </a:solidFill>
              </a:rPr>
              <a:t>工业级无人机市场规模（亿元）</a:t>
            </a:r>
          </a:p>
        </p:txBody>
      </p:sp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552450" y="2038350"/>
          <a:ext xmlns:a="http://schemas.openxmlformats.org/drawingml/2006/main" cx="53340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2e1db92cba64e4d"/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3AC716-3020-4FB5-95B5-E25BC3183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911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8E59"/>
                </a:solidFill>
              </a:defRPr>
            </a:pPr>
            <a:r>
              <a:rPr sz="1350" b="1">
                <a:solidFill>
                  <a:srgbClr val="208E59"/>
                </a:solidFill>
              </a:rPr>
              <a:t>151.8亿 → 650.68亿 → 1710.5亿（2029E）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0A92C5-CB1C-4DB4-8CF1-6F247FAA4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53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C75"/>
                </a:solidFill>
              </a:defRPr>
            </a:pPr>
            <a:r>
              <a:rPr sz="825" b="0">
                <a:solidFill>
                  <a:srgbClr val="667C75"/>
                </a:solidFill>
              </a:rPr>
              <a:t>2019-2024年复合增长率约33.79%；数据来源：弗若斯特沙利文，锐观咨询整理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F743D9-3524-414F-9AED-9E0875426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752600"/>
            <a:ext cx="4762500" cy="1466850"/>
          </a:xfrm>
          <a:prstGeom xmlns:a="http://schemas.openxmlformats.org/drawingml/2006/main" prst="roundRect">
            <a:avLst>
              <a:gd name="adj" fmla="val 3896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A9BBB4"/>
            </a:solidFill>
            <a:prstDash val="dash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46FD1D-76B0-4CEC-A06E-1E8AEA81A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66900"/>
            <a:ext cx="449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87932"/>
                </a:solidFill>
              </a:defRPr>
            </a:pPr>
            <a:r>
              <a:rPr sz="1050" b="1">
                <a:solidFill>
                  <a:srgbClr val="E87932"/>
                </a:solidFill>
              </a:rPr>
              <a:t>待放：电力巡检招标证据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AEDD45-E13B-4E23-A5E0-1B55C9C1D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52650"/>
            <a:ext cx="4495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C75"/>
                </a:solidFill>
              </a:defRPr>
            </a:pPr>
            <a:r>
              <a:rPr sz="825" b="0">
                <a:solidFill>
                  <a:srgbClr val="667C75"/>
                </a:solidFill>
              </a:rPr>
              <a:t>国网配电线路无人机巡检服务</a:t>
            </a:r>
          </a:p>
          <a:p xmlns:a="http://schemas.openxmlformats.org/drawingml/2006/main">
            <a:pPr algn="ctr">
              <a:defRPr sz="825" b="0">
                <a:solidFill>
                  <a:srgbClr val="667C75"/>
                </a:solidFill>
              </a:defRPr>
            </a:pPr>
            <a:r>
              <a:rPr sz="825" b="0">
                <a:solidFill>
                  <a:srgbClr val="667C75"/>
                </a:solidFill>
              </a:rPr>
              <a:t>RTK航线规划 + 可见光 + 红外测温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08858D-B0EA-4195-90AB-31AEB5C37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48050"/>
            <a:ext cx="4762500" cy="1466850"/>
          </a:xfrm>
          <a:prstGeom xmlns:a="http://schemas.openxmlformats.org/drawingml/2006/main" prst="roundRect">
            <a:avLst>
              <a:gd name="adj" fmla="val 3896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A9BBB4"/>
            </a:solidFill>
            <a:prstDash val="dash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85CE9F-ACE6-4C20-B12B-DA18A6A87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62350"/>
            <a:ext cx="449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880"/>
                </a:solidFill>
              </a:defRPr>
            </a:pPr>
            <a:r>
              <a:rPr sz="1050" b="1">
                <a:solidFill>
                  <a:srgbClr val="0B7880"/>
                </a:solidFill>
              </a:rPr>
              <a:t>待放：跨行业采购证据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E2DA7D-E295-4394-B0C0-A3E118B12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48100"/>
            <a:ext cx="4495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C75"/>
                </a:solidFill>
              </a:defRPr>
            </a:pPr>
            <a:r>
              <a:rPr sz="825" b="0">
                <a:solidFill>
                  <a:srgbClr val="667C75"/>
                </a:solidFill>
              </a:rPr>
              <a:t>长江水域岸线低空无人机巡检</a:t>
            </a:r>
          </a:p>
          <a:p xmlns:a="http://schemas.openxmlformats.org/drawingml/2006/main">
            <a:pPr algn="ctr">
              <a:defRPr sz="825" b="0">
                <a:solidFill>
                  <a:srgbClr val="667C75"/>
                </a:solidFill>
              </a:defRPr>
            </a:pPr>
            <a:r>
              <a:rPr sz="825" b="0">
                <a:solidFill>
                  <a:srgbClr val="667C75"/>
                </a:solidFill>
              </a:rPr>
              <a:t>总监测岸线≥80km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A590A3-FFAD-4E52-93B3-BD2ECCE52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21970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342B"/>
                </a:solidFill>
              </a:defRPr>
            </a:pPr>
            <a:r>
              <a:rPr sz="1275" b="1">
                <a:solidFill>
                  <a:srgbClr val="0B342B"/>
                </a:solidFill>
              </a:rPr>
              <a:t>宏观市场说明行业在增长，公开采购说明客户正在付费；本项目切入的是巡检软件与持续学习能力，不是无人机整机。</a:t>
            </a:r>
          </a:p>
        </p:txBody>
      </p:sp>
    </p:spTree>
    <p:extLst>
      <p:ext uri="{BB962C8B-B14F-4D97-AF65-F5344CB8AC3E}">
        <p14:creationId xmlns:p14="http://schemas.microsoft.com/office/powerpoint/2010/main" val="19083365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C93F12-9FF1-4A68-9DCE-9E3A2DFA1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业务痛点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F471B2-DE20-4329-95B9-919E3BCDF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一次巡检越飞越久，模型会在局部区域先失效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02183A-B4B8-4F0B-9A1C-B33DE9D9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573456-622F-4FC4-95EC-5EAF97004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752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391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持续巡检同时面临新类别、跨区域漂移与有限回放预算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53057C-58BB-4827-B26E-6327647D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0980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传统模型通常先在某些地点失效，而不是所有区域同时下降。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866888-0046-49F8-BDE0-E22085A10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876675"/>
            <a:ext cx="80962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9CDC0"/>
          </a:solidFill>
          <a:ln xmlns:a="http://schemas.openxmlformats.org/drawingml/2006/main" w="0">
            <a:solidFill>
              <a:srgbClr val="B9CDC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0948D0-BE00-4050-86DC-2FB08B616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876675"/>
            <a:ext cx="80962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9CDC0"/>
          </a:solidFill>
          <a:ln xmlns:a="http://schemas.openxmlformats.org/drawingml/2006/main" w="0">
            <a:solidFill>
              <a:srgbClr val="B9CDC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7B8804-0ACC-45D1-9B71-0BD8FFCDC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76600"/>
            <a:ext cx="272415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6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FF44E2-EBDA-4683-BF6F-FF86052B9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33850"/>
            <a:ext cx="2305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① 新类别持续出现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车辆、施工目标陆续加入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0E6A51-B52C-41B9-9AE4-B780C34EB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276600"/>
            <a:ext cx="308610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5F3E8"/>
          </a:solidFill>
          <a:ln xmlns:a="http://schemas.openxmlformats.org/drawingml/2006/main" w="9525">
            <a:solidFill>
              <a:srgbClr val="9CC7A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EEBB34-6C88-48E1-AF22-EB9178F0D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133850"/>
            <a:ext cx="266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② 同类跨区发生漂移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光照、视角与定位噪声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678AB5-7851-47DF-A783-7C75B5CF4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76600"/>
            <a:ext cx="312420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83727"/>
          </a:solidFill>
          <a:ln xmlns:a="http://schemas.openxmlformats.org/drawingml/2006/main" w="9525">
            <a:solidFill>
              <a:srgbClr val="08372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5EB1E6-5F6C-48EC-A122-20A2CC299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33850"/>
            <a:ext cx="2705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③ 历史知识被覆盖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均匀回放忽略重点区域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EA082B-876A-4B47-BB88-132B32943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9115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因此必须看分区域遗忘率：全局准确率正常，也可能掩盖山区、边坡和施工区的局部失效。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acad8b0daf4879"/>
          <a:srcRect xmlns:a="http://schemas.openxmlformats.org/drawingml/2006/main" l="0" t="15473" r="0" b="154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7250" y="3143250"/>
            <a:ext cx="2305050" cy="895350"/>
          </a:xfrm>
          <a:prstGeom xmlns:a="http://schemas.openxmlformats.org/drawingml/2006/main" prst="roundRect">
            <a:avLst>
              <a:gd name="adj" fmla="val 6383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FA45FC-052F-4218-B382-0CEAD7633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2305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4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公开航拍样例｜车辆类别持续进入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726d12f3894f4e"/>
          <a:srcRect xmlns:a="http://schemas.openxmlformats.org/drawingml/2006/main" l="0" t="27171" r="0" b="271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19600" y="3143250"/>
            <a:ext cx="2667000" cy="895350"/>
          </a:xfrm>
          <a:prstGeom xmlns:a="http://schemas.openxmlformats.org/drawingml/2006/main" prst="roundRect">
            <a:avLst>
              <a:gd name="adj" fmla="val 6383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C10F47-77FA-4198-B798-07C91A021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8100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88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山区边坡｜地貌与视角显著变化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ddaf329bbb48e9"/>
          <a:srcRect xmlns:a="http://schemas.openxmlformats.org/drawingml/2006/main" l="0" t="29972" r="0" b="299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43900" y="3143250"/>
            <a:ext cx="2705100" cy="895350"/>
          </a:xfrm>
          <a:prstGeom xmlns:a="http://schemas.openxmlformats.org/drawingml/2006/main" prst="roundRect">
            <a:avLst>
              <a:gd name="adj" fmla="val 6383"/>
            </a:avLst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C2AA31-C509-4AEB-8AED-DFC4E8703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10000"/>
            <a:ext cx="2705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4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施工区域｜高风险样本更稀少</a:t>
            </a:r>
          </a:p>
        </p:txBody>
      </p:sp>
    </p:spTree>
    <p:extLst>
      <p:ext uri="{BB962C8B-B14F-4D97-AF65-F5344CB8AC3E}">
        <p14:creationId xmlns:p14="http://schemas.microsoft.com/office/powerpoint/2010/main" val="18532816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AAD3C3-8D09-46AC-9575-123803896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解决方案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466162-F26A-4F9B-BC03-06DA40C38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系统把一次无人机巡检变成可执行的诊断闭环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A0CCA3-95FD-42E4-925F-075A7168A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3BBAF9-3334-416A-AEF8-D398596F1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716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北斗记录每帧时间与位置，AI识别沿线目标，平台定位模型薄弱区域并生成复飞与更新建议。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FACEB0-1C91-452E-9531-5E7FF8841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171825"/>
            <a:ext cx="619125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DD1C3"/>
          </a:solidFill>
          <a:ln xmlns:a="http://schemas.openxmlformats.org/drawingml/2006/main" w="0">
            <a:solidFill>
              <a:srgbClr val="BDD1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99C1F2-4DB9-4AA0-846E-911D38FE2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171825"/>
            <a:ext cx="619125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DD1C3"/>
          </a:solidFill>
          <a:ln xmlns:a="http://schemas.openxmlformats.org/drawingml/2006/main" w="0">
            <a:solidFill>
              <a:srgbClr val="BDD1C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EE9181-5225-457D-9BDF-689AE14EC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71825"/>
            <a:ext cx="619125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DD1C3"/>
          </a:solidFill>
          <a:ln xmlns:a="http://schemas.openxmlformats.org/drawingml/2006/main" w="0">
            <a:solidFill>
              <a:srgbClr val="BDD1C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072B16-A42C-46BE-BFD2-09DD752D5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7185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航拍图像采集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7419E5-0CD7-41CC-B502-4918BCC97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71850"/>
            <a:ext cx="1847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北斗时空绑定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4E95EF-DEAA-42EB-B358-82A5B2400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71850"/>
            <a:ext cx="1847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局部风险诊断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B00BB7-99B1-461D-BAAE-3749C4E98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371850"/>
            <a:ext cx="1847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复飞与模型更新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E86793-8C5A-4C39-BF7F-E9FB73480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62450"/>
            <a:ext cx="10210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0"/>
          </a:solidFill>
          <a:ln xmlns:a="http://schemas.openxmlformats.org/drawingml/2006/main" w="0">
            <a:solidFill>
              <a:srgbClr val="CBD8D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A2C0D3-6D78-4319-9EC4-E1391462D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最终输出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6103CF-3BE9-406E-9469-BCBCFC5C2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29200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区域风险排序、重点复飞坐标、人工复核任务、模型更新建议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DA1159-200F-48BD-9D63-4D883DE9B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6672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D978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97838"/>
                </a:solidFill>
                <a:latin typeface="Microsoft YaHei"/>
                <a:ea typeface="Microsoft YaHei"/>
                <a:cs typeface="Microsoft YaHei"/>
              </a:rPr>
              <a:t>北斗不可替代的作用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1237D6-839C-45CE-BA8B-1C1E3D89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29200"/>
            <a:ext cx="4476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让每次识别结果可定位、可分区、可回溯，并能直接转化为巡检任务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419BA2-34A2-42B8-8CBE-9783DD15A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88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19D94C-9585-473A-A0C6-A706A2479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5336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88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A263F4-D1D5-46C6-99AD-309339465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336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93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D6E013-F0DC-4058-903E-84B036EC8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336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88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16A4BD-8B37-4C58-903C-0FE320AF3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2095500" cy="704850"/>
          </a:xfrm>
          <a:prstGeom xmlns:a="http://schemas.openxmlformats.org/drawingml/2006/main" prst="roundRect">
            <a:avLst>
              <a:gd name="adj" fmla="val 8108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A9BBB4"/>
            </a:solidFill>
            <a:prstDash val="dash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58B654-646D-4584-A133-AF1DF8673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62250"/>
            <a:ext cx="182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880"/>
                </a:solidFill>
              </a:defRPr>
            </a:pPr>
            <a:r>
              <a:rPr sz="1050" b="1">
                <a:solidFill>
                  <a:srgbClr val="0B7880"/>
                </a:solidFill>
              </a:rPr>
              <a:t>航拍输入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FEF9B8-EEEA-4296-AEE4-B48161E77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48000"/>
            <a:ext cx="1828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C75"/>
                </a:solidFill>
              </a:defRPr>
            </a:pPr>
            <a:r>
              <a:rPr sz="825" b="0">
                <a:solidFill>
                  <a:srgbClr val="667C75"/>
                </a:solidFill>
              </a:rPr>
              <a:t>真实电力巡检原图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28D7E7-D78F-4266-BFED-5792518A4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47950"/>
            <a:ext cx="2095500" cy="704850"/>
          </a:xfrm>
          <a:prstGeom xmlns:a="http://schemas.openxmlformats.org/drawingml/2006/main" prst="roundRect">
            <a:avLst>
              <a:gd name="adj" fmla="val 8108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A9BBB4"/>
            </a:solidFill>
            <a:prstDash val="dash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6692F9-0414-4D81-B7C8-B41338B36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762250"/>
            <a:ext cx="182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880"/>
                </a:solidFill>
              </a:defRPr>
            </a:pPr>
            <a:r>
              <a:rPr sz="1050" b="1">
                <a:solidFill>
                  <a:srgbClr val="0B7880"/>
                </a:solidFill>
              </a:rPr>
              <a:t>时空绑定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D64626-39F9-4A95-BFAE-0A5059F96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048000"/>
            <a:ext cx="1828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C75"/>
                </a:solidFill>
              </a:defRPr>
            </a:pPr>
            <a:r>
              <a:rPr sz="825" b="0">
                <a:solidFill>
                  <a:srgbClr val="667C75"/>
                </a:solidFill>
              </a:rPr>
              <a:t>北斗轨迹 / 时间戳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2A08A7D-4F24-4CC9-AEEC-162C37BCE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647950"/>
            <a:ext cx="2095500" cy="704850"/>
          </a:xfrm>
          <a:prstGeom xmlns:a="http://schemas.openxmlformats.org/drawingml/2006/main" prst="roundRect">
            <a:avLst>
              <a:gd name="adj" fmla="val 8108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A9BBB4"/>
            </a:solidFill>
            <a:prstDash val="dash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E3851D7-3640-46B4-B3B4-76F717644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62250"/>
            <a:ext cx="182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87932"/>
                </a:solidFill>
              </a:defRPr>
            </a:pPr>
            <a:r>
              <a:rPr sz="1050" b="1">
                <a:solidFill>
                  <a:srgbClr val="E87932"/>
                </a:solidFill>
              </a:rPr>
              <a:t>局部诊断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42CED4A-2C0D-4B5D-8D07-1927E0E4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48000"/>
            <a:ext cx="1828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C75"/>
                </a:solidFill>
              </a:defRPr>
            </a:pPr>
            <a:r>
              <a:rPr sz="825" b="0">
                <a:solidFill>
                  <a:srgbClr val="667C75"/>
                </a:solidFill>
              </a:rPr>
              <a:t>区域风险热力图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F6E0B74-858C-48B9-BDFF-316DD8073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47950"/>
            <a:ext cx="2095500" cy="704850"/>
          </a:xfrm>
          <a:prstGeom xmlns:a="http://schemas.openxmlformats.org/drawingml/2006/main" prst="roundRect">
            <a:avLst>
              <a:gd name="adj" fmla="val 8108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A9BBB4"/>
            </a:solidFill>
            <a:prstDash val="dash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2D05AFA-BC86-4B20-8E98-DB947022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762250"/>
            <a:ext cx="182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880"/>
                </a:solidFill>
              </a:defRPr>
            </a:pPr>
            <a:r>
              <a:rPr sz="1050" b="1">
                <a:solidFill>
                  <a:srgbClr val="0B7880"/>
                </a:solidFill>
              </a:rPr>
              <a:t>任务输出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464CE2B-3D5A-4661-9268-A4605CCA3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048000"/>
            <a:ext cx="1828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C75"/>
                </a:solidFill>
              </a:defRPr>
            </a:pPr>
            <a:r>
              <a:rPr sz="825" b="0">
                <a:solidFill>
                  <a:srgbClr val="667C75"/>
                </a:solidFill>
              </a:rPr>
              <a:t>复飞任务单 / 工单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BE1D3C9-EFA4-47E5-90D2-FF5DAE6F1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429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342B"/>
                </a:solidFill>
              </a:defRPr>
            </a:pPr>
            <a:r>
              <a:rPr sz="1350" b="1">
                <a:solidFill>
                  <a:srgbClr val="0B342B"/>
                </a:solidFill>
              </a:rPr>
              <a:t>生成可执行任务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72C5402-7DF4-465B-902D-0444C7E1E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943350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08E59"/>
                </a:solidFill>
              </a:defRPr>
            </a:pPr>
            <a:r>
              <a:rPr sz="1050" b="1">
                <a:solidFill>
                  <a:srgbClr val="208E59"/>
                </a:solidFill>
              </a:rPr>
              <a:t>每个留图位只承担一种证据角色，后续不再重复使用同一张航拍图。</a:t>
            </a:r>
          </a:p>
        </p:txBody>
      </p:sp>
    </p:spTree>
    <p:extLst>
      <p:ext uri="{BB962C8B-B14F-4D97-AF65-F5344CB8AC3E}">
        <p14:creationId xmlns:p14="http://schemas.microsoft.com/office/powerpoint/2010/main" val="13484049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8B4529F-3E47-430B-9DA6-16ACED88C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端到端流程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139E0B-CF3A-4D54-A7B8-B0E49D03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从一次巡航到复飞决策，形成8步闭环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800E9F-74A9-4F77-B842-D98C8086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C3F607-20F4-445D-A5AF-71178F763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38400"/>
            <a:ext cx="409575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3D3CA"/>
          </a:solidFill>
          <a:ln xmlns:a="http://schemas.openxmlformats.org/drawingml/2006/main" w="0">
            <a:solidFill>
              <a:srgbClr val="C3D3C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198025-84C5-4B22-8259-2CCF2F88D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E88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E88A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F041D0-726B-470B-BCEF-AB7B2AD4E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114550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创建任务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6C59F1-C1CF-47B5-B071-7B027121F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552700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确定航线与目标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3AB38E-1EDD-4BFA-80EE-2D49C94B4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5E0"/>
          </a:solidFill>
          <a:ln xmlns:a="http://schemas.openxmlformats.org/drawingml/2006/main" w="0">
            <a:solidFill>
              <a:srgbClr val="BBD5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5B970B-34A8-4CC3-A5C4-2C732E91C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438400"/>
            <a:ext cx="409575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3D3CA"/>
          </a:solidFill>
          <a:ln xmlns:a="http://schemas.openxmlformats.org/drawingml/2006/main" w="0">
            <a:solidFill>
              <a:srgbClr val="C3D3C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C0046B-5C99-4A9A-9AC2-818CEB9B6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145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E88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E88A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94010B-48AC-4021-9597-F454604EC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14550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北斗巡航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C3D7FB-521A-466A-8AEF-F4C98A5F3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52700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采集图像与坐标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361E45-3DD2-40A5-B52C-1EAFDC9CC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3850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5E0"/>
          </a:solidFill>
          <a:ln xmlns:a="http://schemas.openxmlformats.org/drawingml/2006/main" w="0">
            <a:solidFill>
              <a:srgbClr val="BBD5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94177A-E894-4B2E-80FE-E698E6F43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38400"/>
            <a:ext cx="409575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3D3CA"/>
          </a:solidFill>
          <a:ln xmlns:a="http://schemas.openxmlformats.org/drawingml/2006/main" w="0">
            <a:solidFill>
              <a:srgbClr val="C3D3C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83EEBF-CAD1-4EFD-A1CA-EA07110FA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145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E88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E88A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FF6521-9CE3-4769-A267-AE5E09AF1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114550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时空关联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660EA2-BD99-4934-9326-F3D73BB17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552700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编号 + 时间戳绑定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11B6FF-E974-4996-867B-183DB69CD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3850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5E0"/>
          </a:solidFill>
          <a:ln xmlns:a="http://schemas.openxmlformats.org/drawingml/2006/main" w="0">
            <a:solidFill>
              <a:srgbClr val="BBD5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8E739C-70A8-45ED-BA03-DDBC43FB5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7145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E88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E88A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8AD41D-E080-43EE-A874-1B16D7A0F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14550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目标识别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B34733-9401-4B66-96EA-3149156E7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552700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类别与置信度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A2F2D4-5E10-4498-AD0E-094356FDD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23850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5E0"/>
          </a:solidFill>
          <a:ln xmlns:a="http://schemas.openxmlformats.org/drawingml/2006/main" w="0">
            <a:solidFill>
              <a:srgbClr val="BBD5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4CE2DE-48EC-4AEC-A4F6-16421FB8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19650"/>
            <a:ext cx="409575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3D3CA"/>
          </a:solidFill>
          <a:ln xmlns:a="http://schemas.openxmlformats.org/drawingml/2006/main" w="0">
            <a:solidFill>
              <a:srgbClr val="C3D3C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90CF86-AFFF-43DE-BB2A-C40A1F198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767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8B0CCF-0074-4B79-A7BF-41286FF00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76750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局部诊断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AADF11-E643-4AA3-91CE-4F8BD82E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914900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识别薄弱区域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6F1AA6-BA5B-438D-8F81-1B02A1BAD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1975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D3BF"/>
          </a:solidFill>
          <a:ln xmlns:a="http://schemas.openxmlformats.org/drawingml/2006/main" w="0">
            <a:solidFill>
              <a:srgbClr val="B4D3B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9C3E2A-DE6B-4CD9-B819-8317078CF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819650"/>
            <a:ext cx="409575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3D3CA"/>
          </a:solidFill>
          <a:ln xmlns:a="http://schemas.openxmlformats.org/drawingml/2006/main" w="0">
            <a:solidFill>
              <a:srgbClr val="C3D3C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41AB89-B00A-4DF8-8A97-7D516C302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767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8289BE-5F97-4221-B91F-F69C685F8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476750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风险调度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E9E811-5FCE-448C-8373-8D925EEB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914900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建议回放预算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CAEE67-F4E0-423F-9BF4-55272820C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61975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D3BF"/>
          </a:solidFill>
          <a:ln xmlns:a="http://schemas.openxmlformats.org/drawingml/2006/main" w="0">
            <a:solidFill>
              <a:srgbClr val="B4D3B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8DACDDA-0E6D-4D8B-9897-92B6FEFB3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819650"/>
            <a:ext cx="409575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3D3CA"/>
          </a:solidFill>
          <a:ln xmlns:a="http://schemas.openxmlformats.org/drawingml/2006/main" w="0">
            <a:solidFill>
              <a:srgbClr val="C3D3C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84CF3E3-B46D-4635-94E7-09CA223BC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767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D5E43A2-8553-4C33-AEF4-D4077D2A5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476750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任务决策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C18C891-BC38-4856-BFB0-445512B12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914900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复飞与人工复核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6001E12-2154-45B7-AA5D-92307447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61975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D3BF"/>
          </a:solidFill>
          <a:ln xmlns:a="http://schemas.openxmlformats.org/drawingml/2006/main" w="0">
            <a:solidFill>
              <a:srgbClr val="B4D3B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82E63FE-2381-473D-B287-49D89B18A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0767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F0D0798-6DB3-4940-91DE-6C2BACF89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476750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模型更新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3FCE4B5-0C91-4CF3-B18A-00C3DC815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14900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新类别确认后启动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A9D565F-5723-430B-B788-09932CF1B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61975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D3BF"/>
          </a:solidFill>
          <a:ln xmlns:a="http://schemas.openxmlformats.org/drawingml/2006/main" w="0">
            <a:solidFill>
              <a:srgbClr val="B4D3B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3ACFDFA-802C-4A47-9625-64C5851F1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626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978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97838"/>
                </a:solidFill>
                <a:latin typeface="Microsoft YaHei"/>
                <a:ea typeface="Microsoft YaHei"/>
                <a:cs typeface="Microsoft YaHei"/>
              </a:rPr>
              <a:t>前端展示任务状态；训练只在新类别确认或纠错样本积累后，于服务器侧启动。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39AB3EC-9C58-41D7-93FD-9FC258731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781050" cy="742950"/>
          </a:xfrm>
          <a:prstGeom xmlns:a="http://schemas.openxmlformats.org/drawingml/2006/main" prst="roundRect">
            <a:avLst>
              <a:gd name="adj" fmla="val 7692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A9BBB4"/>
            </a:solidFill>
            <a:prstDash val="dash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B1499E6-C1DE-43BA-9EBE-54BD97A14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880"/>
                </a:solidFill>
              </a:defRPr>
            </a:pPr>
            <a:r>
              <a:rPr sz="1050" b="1">
                <a:solidFill>
                  <a:srgbClr val="0B7880"/>
                </a:solidFill>
              </a:rPr>
              <a:t>任务界面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AC17521-7D3B-47C2-867A-A392B06EE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C75"/>
                </a:solidFill>
              </a:defRPr>
            </a:pPr>
            <a:r>
              <a:rPr sz="825" b="0">
                <a:solidFill>
                  <a:srgbClr val="667C75"/>
                </a:solidFill>
              </a:rPr>
              <a:t>待补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395BB17-C49A-4950-9EC0-19B20E61C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00250"/>
            <a:ext cx="781050" cy="742950"/>
          </a:xfrm>
          <a:prstGeom xmlns:a="http://schemas.openxmlformats.org/drawingml/2006/main" prst="roundRect">
            <a:avLst>
              <a:gd name="adj" fmla="val 7692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A9BBB4"/>
            </a:solidFill>
            <a:prstDash val="dash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94C658A-F316-4A83-A034-88E59DEDA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1145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880"/>
                </a:solidFill>
              </a:defRPr>
            </a:pPr>
            <a:r>
              <a:rPr sz="1050" b="1">
                <a:solidFill>
                  <a:srgbClr val="0B7880"/>
                </a:solidFill>
              </a:rPr>
              <a:t>地图轨迹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FE9ACA4-5E8C-47CA-B51C-D07BC239A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003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C75"/>
                </a:solidFill>
              </a:defRPr>
            </a:pPr>
            <a:r>
              <a:rPr sz="825" b="0">
                <a:solidFill>
                  <a:srgbClr val="667C75"/>
                </a:solidFill>
              </a:rPr>
              <a:t>待补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B2CC37B-E222-44F0-84BE-FA1B0062A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00250"/>
            <a:ext cx="781050" cy="742950"/>
          </a:xfrm>
          <a:prstGeom xmlns:a="http://schemas.openxmlformats.org/drawingml/2006/main" prst="roundRect">
            <a:avLst>
              <a:gd name="adj" fmla="val 7692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A9BBB4"/>
            </a:solidFill>
            <a:prstDash val="dash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7A1EAB9-7B6D-4FE7-AB56-445C73F59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145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880"/>
                </a:solidFill>
              </a:defRPr>
            </a:pPr>
            <a:r>
              <a:rPr sz="1050" b="1">
                <a:solidFill>
                  <a:srgbClr val="0B7880"/>
                </a:solidFill>
              </a:rPr>
              <a:t>数据契约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A1C9957-F95D-449B-8449-FE035F9F3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003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C75"/>
                </a:solidFill>
              </a:defRPr>
            </a:pPr>
            <a:r>
              <a:rPr sz="825" b="0">
                <a:solidFill>
                  <a:srgbClr val="667C75"/>
                </a:solidFill>
              </a:rPr>
              <a:t>待补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9996370-A958-4B90-A0A1-7126B08A6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000250"/>
            <a:ext cx="781050" cy="742950"/>
          </a:xfrm>
          <a:prstGeom xmlns:a="http://schemas.openxmlformats.org/drawingml/2006/main" prst="roundRect">
            <a:avLst>
              <a:gd name="adj" fmla="val 7692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A9BBB4"/>
            </a:solidFill>
            <a:prstDash val="dash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28EBACF-2F47-4CCD-9A04-37EEFA7EE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1145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880"/>
                </a:solidFill>
              </a:defRPr>
            </a:pPr>
            <a:r>
              <a:rPr sz="1050" b="1">
                <a:solidFill>
                  <a:srgbClr val="0B7880"/>
                </a:solidFill>
              </a:rPr>
              <a:t>识别结果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E69EEA1-575D-40F4-A6E5-E0745124B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4003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C75"/>
                </a:solidFill>
              </a:defRPr>
            </a:pPr>
            <a:r>
              <a:rPr sz="825" b="0">
                <a:solidFill>
                  <a:srgbClr val="667C75"/>
                </a:solidFill>
              </a:rPr>
              <a:t>待补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4710340-C835-433B-9257-DF2C9E49E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62450"/>
            <a:ext cx="781050" cy="742950"/>
          </a:xfrm>
          <a:prstGeom xmlns:a="http://schemas.openxmlformats.org/drawingml/2006/main" prst="roundRect">
            <a:avLst>
              <a:gd name="adj" fmla="val 7692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A9BBB4"/>
            </a:solidFill>
            <a:prstDash val="dash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042E2C5-245D-4004-987A-93DAB5B62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87932"/>
                </a:solidFill>
              </a:defRPr>
            </a:pPr>
            <a:r>
              <a:rPr sz="1050" b="1">
                <a:solidFill>
                  <a:srgbClr val="E87932"/>
                </a:solidFill>
              </a:rPr>
              <a:t>风险地图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F25A135-CD62-4216-BFCE-C0B2C0EC3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C75"/>
                </a:solidFill>
              </a:defRPr>
            </a:pPr>
            <a:r>
              <a:rPr sz="825" b="0">
                <a:solidFill>
                  <a:srgbClr val="667C75"/>
                </a:solidFill>
              </a:rPr>
              <a:t>待补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C401EE1-BD62-4495-90D1-D29F4101E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62450"/>
            <a:ext cx="781050" cy="742950"/>
          </a:xfrm>
          <a:prstGeom xmlns:a="http://schemas.openxmlformats.org/drawingml/2006/main" prst="roundRect">
            <a:avLst>
              <a:gd name="adj" fmla="val 7692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A9BBB4"/>
            </a:solidFill>
            <a:prstDash val="dash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6DE4A89-4989-4B5E-A61B-0770A0371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4767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87932"/>
                </a:solidFill>
              </a:defRPr>
            </a:pPr>
            <a:r>
              <a:rPr sz="1050" b="1">
                <a:solidFill>
                  <a:srgbClr val="E87932"/>
                </a:solidFill>
              </a:rPr>
              <a:t>预算排序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C856BE3-40CE-4FB1-A488-C557B6A33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762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C75"/>
                </a:solidFill>
              </a:defRPr>
            </a:pPr>
            <a:r>
              <a:rPr sz="825" b="0">
                <a:solidFill>
                  <a:srgbClr val="667C75"/>
                </a:solidFill>
              </a:rPr>
              <a:t>待补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C8CF641-D3AD-4690-B75A-63D2E52BE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362450"/>
            <a:ext cx="781050" cy="742950"/>
          </a:xfrm>
          <a:prstGeom xmlns:a="http://schemas.openxmlformats.org/drawingml/2006/main" prst="roundRect">
            <a:avLst>
              <a:gd name="adj" fmla="val 7692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A9BBB4"/>
            </a:solidFill>
            <a:prstDash val="dash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4DE038E-128E-4D55-8821-5F91DBD16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767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87932"/>
                </a:solidFill>
              </a:defRPr>
            </a:pPr>
            <a:r>
              <a:rPr sz="1050" b="1">
                <a:solidFill>
                  <a:srgbClr val="E87932"/>
                </a:solidFill>
              </a:rPr>
              <a:t>任务工单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294A981-3961-43DB-8C4F-6BBB05689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762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C75"/>
                </a:solidFill>
              </a:defRPr>
            </a:pPr>
            <a:r>
              <a:rPr sz="825" b="0">
                <a:solidFill>
                  <a:srgbClr val="667C75"/>
                </a:solidFill>
              </a:rPr>
              <a:t>待补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D0E61BA-D3E8-44AA-968B-A9BF10394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362450"/>
            <a:ext cx="781050" cy="742950"/>
          </a:xfrm>
          <a:prstGeom xmlns:a="http://schemas.openxmlformats.org/drawingml/2006/main" prst="roundRect">
            <a:avLst>
              <a:gd name="adj" fmla="val 7692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A9BBB4"/>
            </a:solidFill>
            <a:prstDash val="dash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3111BAA-710B-446C-AA2F-B2BB8EE9D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4767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87932"/>
                </a:solidFill>
              </a:defRPr>
            </a:pPr>
            <a:r>
              <a:rPr sz="1050" b="1">
                <a:solidFill>
                  <a:srgbClr val="E87932"/>
                </a:solidFill>
              </a:rPr>
              <a:t>版本记录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936EC0F-0452-4395-A282-5B159C7EF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762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C75"/>
                </a:solidFill>
              </a:defRPr>
            </a:pPr>
            <a:r>
              <a:rPr sz="825" b="0">
                <a:solidFill>
                  <a:srgbClr val="667C75"/>
                </a:solidFill>
              </a:rPr>
              <a:t>待补</a:t>
            </a:r>
          </a:p>
        </p:txBody>
      </p:sp>
    </p:spTree>
    <p:extLst>
      <p:ext uri="{BB962C8B-B14F-4D97-AF65-F5344CB8AC3E}">
        <p14:creationId xmlns:p14="http://schemas.microsoft.com/office/powerpoint/2010/main" val="12992474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3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391885-DE42-4DB4-8127-E8269194F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9FD2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FD2AE"/>
                </a:solidFill>
                <a:latin typeface="Microsoft YaHei"/>
                <a:ea typeface="Microsoft YaHei"/>
                <a:cs typeface="Microsoft YaHei"/>
              </a:rPr>
              <a:t>北斗与AI融合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59086F-722D-4658-8F51-B734565D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北斗不负责分类，它让模型知道在哪里失效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FF4DF1-1B4D-48BC-AB3B-3A7137CA2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FB2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FB29F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A3ABD4-5414-4C73-9B38-C11CCEEA9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457450"/>
            <a:ext cx="8382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A7058"/>
          </a:solidFill>
          <a:ln xmlns:a="http://schemas.openxmlformats.org/drawingml/2006/main" w="0">
            <a:solidFill>
              <a:srgbClr val="3A705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03D72D-6C88-4CEC-AA30-11BE35F9D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457450"/>
            <a:ext cx="8382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A7058"/>
          </a:solidFill>
          <a:ln xmlns:a="http://schemas.openxmlformats.org/drawingml/2006/main" w="0">
            <a:solidFill>
              <a:srgbClr val="3A705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4536A4-0B66-4ADD-98DB-75F14040A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57450"/>
            <a:ext cx="8382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A7058"/>
          </a:solidFill>
          <a:ln xmlns:a="http://schemas.openxmlformats.org/drawingml/2006/main" w="0">
            <a:solidFill>
              <a:srgbClr val="3A705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3352D3-6B54-4581-810D-5A1C76B43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267200"/>
            <a:ext cx="8382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77B65"/>
          </a:solidFill>
          <a:ln xmlns:a="http://schemas.openxmlformats.org/drawingml/2006/main" w="0">
            <a:solidFill>
              <a:srgbClr val="477B6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1C0A19-D282-49B8-B851-FA4FBCB23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267200"/>
            <a:ext cx="8382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77B65"/>
          </a:solidFill>
          <a:ln xmlns:a="http://schemas.openxmlformats.org/drawingml/2006/main" w="0">
            <a:solidFill>
              <a:srgbClr val="477B6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0E97BA-8A2F-4D6C-8836-732A4769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267200"/>
            <a:ext cx="8382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77B65"/>
          </a:solidFill>
          <a:ln xmlns:a="http://schemas.openxmlformats.org/drawingml/2006/main" w="0">
            <a:solidFill>
              <a:srgbClr val="477B6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57F6D1-F39F-4ED1-AD61-8346C270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1952625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4FAF6"/>
          </a:solidFill>
          <a:ln xmlns:a="http://schemas.openxmlformats.org/drawingml/2006/main" w="9525">
            <a:solidFill>
              <a:srgbClr val="F4FAF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2EFE18-BD9A-459E-8244-214C8B599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17240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52DA7B-87B0-4D3D-BF67-EF33DE02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00250"/>
            <a:ext cx="1952625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DDEEE3"/>
          </a:solidFill>
          <a:ln xmlns:a="http://schemas.openxmlformats.org/drawingml/2006/main" w="9525">
            <a:solidFill>
              <a:srgbClr val="DDEE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2BBD5B-8459-415C-9C52-7E5D10262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76450"/>
            <a:ext cx="17240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视觉识别模型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0EC938-A006-434D-9114-7909C3611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00250"/>
            <a:ext cx="1952625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DDEEE3"/>
          </a:solidFill>
          <a:ln xmlns:a="http://schemas.openxmlformats.org/drawingml/2006/main" w="9525">
            <a:solidFill>
              <a:srgbClr val="DDEE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7CEDC4-81EB-4F69-B76F-099835052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076450"/>
            <a:ext cx="17240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类别 / 置信度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知识表征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3F8FE7-85E1-4073-A5DD-E743B3B44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000250"/>
            <a:ext cx="1952625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8FD1A5"/>
          </a:solidFill>
          <a:ln xmlns:a="http://schemas.openxmlformats.org/drawingml/2006/main" w="9525">
            <a:solidFill>
              <a:srgbClr val="8FD1A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00D2EC-E4E7-4C1E-AF8C-1C367BA6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76450"/>
            <a:ext cx="17240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样本编号 + 时间戳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9AD47C-7DAB-4C1E-8645-B70AB9DAA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1952625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4FAF6"/>
          </a:solidFill>
          <a:ln xmlns:a="http://schemas.openxmlformats.org/drawingml/2006/main" w="9525">
            <a:solidFill>
              <a:srgbClr val="F4FAF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1DF605-9149-445C-8F83-5ADB5C97E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17240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373E6C-605F-4F40-A641-5A9029C9C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810000"/>
            <a:ext cx="1952625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DDEEE3"/>
          </a:solidFill>
          <a:ln xmlns:a="http://schemas.openxmlformats.org/drawingml/2006/main" w="9525">
            <a:solidFill>
              <a:srgbClr val="DDEE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8D7588-4B3A-4A2B-96FC-811EEC751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886200"/>
            <a:ext cx="17240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时空索引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区域划分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9DCD65-CD77-4124-8F24-BB4654DE3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810000"/>
            <a:ext cx="1952625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DDEEE3"/>
          </a:solidFill>
          <a:ln xmlns:a="http://schemas.openxmlformats.org/drawingml/2006/main" w="9525">
            <a:solidFill>
              <a:srgbClr val="DDEE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26344C-9095-41DE-9C9A-26096EF59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886200"/>
            <a:ext cx="17240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location_id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风险标签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6EA5BB-6D8C-46CD-8253-100CC34D3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810000"/>
            <a:ext cx="1952625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8FD1A5"/>
          </a:solidFill>
          <a:ln xmlns:a="http://schemas.openxmlformats.org/drawingml/2006/main" w="9525">
            <a:solidFill>
              <a:srgbClr val="8FD1A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E191C6-FBF1-4910-82F9-D0644548D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886200"/>
            <a:ext cx="17240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局部风险诊断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185A14-D81D-4A4C-B0E3-9D61E415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581650"/>
            <a:ext cx="962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诊断结果 → 回放预算建议 + 重点复飞坐标 + 人工复核任务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E12541-DAF2-49CC-871B-7C2BDCCA2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6076950"/>
            <a:ext cx="962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A9C9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9C9B8"/>
                </a:solidFill>
                <a:latin typeface="Microsoft YaHei"/>
                <a:ea typeface="Microsoft YaHei"/>
                <a:cs typeface="Microsoft YaHei"/>
              </a:rPr>
              <a:t>经纬度不直接输入视觉分类网络；北斗负责空间索引、定位诊断结果和复飞任务。</a:t>
            </a:r>
          </a:p>
        </p:txBody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96f8e196fc4bcd"/>
          <a:srcRect xmlns:a="http://schemas.openxmlformats.org/drawingml/2006/main" l="0" t="3837" r="0" b="38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" y="2076450"/>
            <a:ext cx="1724025" cy="895350"/>
          </a:xfrm>
          <a:prstGeom xmlns:a="http://schemas.openxmlformats.org/drawingml/2006/main" prst="roundRect">
            <a:avLst>
              <a:gd name="adj" fmla="val 6383"/>
            </a:avLst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19CA76-78EE-4FFB-8AF3-0D55D57A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17240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4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航拍图像</a:t>
            </a:r>
          </a:p>
        </p:txBody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b41d5a561348e4"/>
          <a:srcRect xmlns:a="http://schemas.openxmlformats.org/drawingml/2006/main" l="0" t="15395" r="0" b="153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" y="3886200"/>
            <a:ext cx="1724025" cy="895350"/>
          </a:xfrm>
          <a:prstGeom xmlns:a="http://schemas.openxmlformats.org/drawingml/2006/main" prst="roundRect">
            <a:avLst>
              <a:gd name="adj" fmla="val 6383"/>
            </a:avLst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8FE997-4D8D-4D4D-A6F0-2A5250133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33900"/>
            <a:ext cx="17240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88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北斗坐标 · 时间 · 定位质量</a:t>
            </a:r>
          </a:p>
        </p:txBody>
      </p:sp>
    </p:spTree>
    <p:extLst>
      <p:ext uri="{BB962C8B-B14F-4D97-AF65-F5344CB8AC3E}">
        <p14:creationId xmlns:p14="http://schemas.microsoft.com/office/powerpoint/2010/main" val="12389302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5A9C40-9AF9-4A67-AA2C-0066FB501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核心算法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56748D-AF9B-4B76-8D8A-2C7ED8ED5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三层稳健知识回放，在固定预算下同时学新类、保旧类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DA5F0F-C7F8-4E7A-B357-B6BE3E12B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D25661-5C1B-4374-A346-5A4862735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57550"/>
            <a:ext cx="8763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2D3C9"/>
          </a:solidFill>
          <a:ln xmlns:a="http://schemas.openxmlformats.org/drawingml/2006/main" w="0">
            <a:solidFill>
              <a:srgbClr val="C2D3C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7D5E92-5600-4292-9265-98712EC8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57550"/>
            <a:ext cx="8763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2D3C9"/>
          </a:solidFill>
          <a:ln xmlns:a="http://schemas.openxmlformats.org/drawingml/2006/main" w="0">
            <a:solidFill>
              <a:srgbClr val="C2D3C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A51BD1-CC0B-4CDE-91D9-1F4BFD3C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00250"/>
            <a:ext cx="26289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157B46-1BD9-4E52-96DA-5D97BCFA7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479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936750-6C31-43D1-841C-003FDB3E5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2000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• 新类别确认样本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• 历史知识表征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• 区域风险权重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• 固定回放预算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B3D203-2091-4EF6-9602-C64CC2643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657350"/>
            <a:ext cx="41529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727"/>
          </a:solidFill>
          <a:ln xmlns:a="http://schemas.openxmlformats.org/drawingml/2006/main" w="9525">
            <a:solidFill>
              <a:srgbClr val="08372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F8843A-7EF9-472A-A591-744D5BD3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621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99D5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99D5AD"/>
                </a:solidFill>
                <a:latin typeface="Microsoft YaHei"/>
                <a:ea typeface="Microsoft YaHei"/>
                <a:cs typeface="Microsoft YaHei"/>
              </a:rPr>
              <a:t>私有算法黑盒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D1AE03-5325-468C-930B-92AD65D04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52700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三层稳健知识回放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41007C-284A-4C7C-8122-7A60EF1F7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95650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7059"/>
          </a:solidFill>
          <a:ln xmlns:a="http://schemas.openxmlformats.org/drawingml/2006/main" w="0">
            <a:solidFill>
              <a:srgbClr val="3B705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E131A1-406C-48FF-B223-FF4DE93C2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43300"/>
            <a:ext cx="3238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CBE1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CBE1D4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1F6C8B-3E85-4C4A-963B-BDF30460F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00250"/>
            <a:ext cx="26289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3E8"/>
          </a:solidFill>
          <a:ln xmlns:a="http://schemas.openxmlformats.org/drawingml/2006/main" w="9525">
            <a:solidFill>
              <a:srgbClr val="A7CDB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2B25CA-2FDB-499E-AED3-425DA246B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2479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90AEAC-A926-4027-BE3C-304F71BFD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800350"/>
            <a:ext cx="2000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• 候选新模型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• 准确率与遗忘率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• 分区诊断结果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• 发布 / 回滚结论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691E06-A1B2-49B4-A21A-55646EA98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对外提供接口和脱敏结果；训练源码与权重保留在算法负责人侧。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CF7EB3-F8B9-43CB-96F7-E49E273BB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333750"/>
            <a:ext cx="3124200" cy="4191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E6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125D81-97E5-4BBD-B8FB-09423FDB3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3813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224DB9-D04A-4CFD-836E-C0CD02CA0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371850"/>
            <a:ext cx="1028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知识保真层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217BE8-BAB9-4E4A-A61F-C320A60E2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37185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</a:defRPr>
            </a:pPr>
            <a:r>
              <a:rPr sz="900" b="0">
                <a:solidFill>
                  <a:srgbClr val="FFFFFF"/>
                </a:solidFill>
              </a:rPr>
              <a:t>保留类别关键知识，不缓存大量原图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52D26B-3BC7-4F8B-8101-560521AD7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848100"/>
            <a:ext cx="3124200" cy="4191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0B78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797FA2-A91B-4B58-850B-1E550E705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8957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E562C8-D463-4E64-858F-5084C95CC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886200"/>
            <a:ext cx="1028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因果稳健层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06E0AB-2825-492D-BD4B-DEB90A7A3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8620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</a:defRPr>
            </a:pPr>
            <a:r>
              <a:rPr sz="900" b="0">
                <a:solidFill>
                  <a:srgbClr val="FFFFFF"/>
                </a:solidFill>
              </a:rPr>
              <a:t>抑制光照、视角与背景的虚假关联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394D86-9E88-4A08-ACF1-A89BBF984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362450"/>
            <a:ext cx="3124200" cy="4191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B765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D2E258-0D41-4022-90B2-308900849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4100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E05E71-C86E-4578-A7CE-3F8507C28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400550"/>
            <a:ext cx="1028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预算调度层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E917A2-BE83-4845-A303-4EF3021F2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0055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</a:defRPr>
            </a:pPr>
            <a:r>
              <a:rPr sz="900" b="0">
                <a:solidFill>
                  <a:srgbClr val="FFFFFF"/>
                </a:solidFill>
              </a:rPr>
              <a:t>在固定600样本预算内平衡新旧知识</a:t>
            </a:r>
          </a:p>
        </p:txBody>
      </p:sp>
    </p:spTree>
    <p:extLst>
      <p:ext uri="{BB962C8B-B14F-4D97-AF65-F5344CB8AC3E}">
        <p14:creationId xmlns:p14="http://schemas.microsoft.com/office/powerpoint/2010/main" val="9570566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7875C16-B683-4F49-9782-AAE9ABB4C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项目创新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38EA67-B200-4A21-8C8C-4616539DA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三项创新把通用持续学习变成北斗巡检方案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AC6446-C816-4EB2-B6D3-D365B220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744F66-D825-4FC7-A3C9-1FAD6B12F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0200"/>
            <a:ext cx="33337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6FA25C-77F7-4176-A429-C5C8865B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2800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时空索引与局部诊断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8F8DA3-D9FB-4308-847E-838A092E8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CF3702-8309-4253-8532-3DDE09846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576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北斗坐标绑定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E10C03-FC63-48CA-95E7-AC2990552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4815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5BBF68-653E-455C-AB09-047B8B79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100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分区域统计性能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8CEA11-2C67-4994-819F-C17E8B07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0060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07A076-1725-4FA8-995F-35A6BBA7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625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输出重点复飞坐标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222B36-19F6-428B-A390-6065F3953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600200"/>
            <a:ext cx="36957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3E8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2E8749-E275-445E-8B3D-13629FED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24050"/>
            <a:ext cx="3162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风险预算与任务调度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F7148D-83C5-4B4F-AF24-EE5CCE16C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69570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7FAB30-B6CE-43FC-A950-3CFD82BC3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5760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固定预算约束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02B9A6-9059-4201-A0DC-79EE5DB6C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24815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C9E697-6864-4C92-AED1-3CA0CD297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1005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高风险区域优先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34D23D-3C92-416D-A2A6-25A857C3B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80060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55FB37-E4BD-4456-AC09-3E5A5DFF7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76250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输出重点样本清单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E2BE69-75DF-47DF-8299-8B945DCB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00200"/>
            <a:ext cx="36766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727"/>
          </a:solidFill>
          <a:ln xmlns:a="http://schemas.openxmlformats.org/drawingml/2006/main" w="9525">
            <a:solidFill>
              <a:srgbClr val="08372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B9DD98-9784-4B45-8C4E-8F1FD916B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240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三层稳健知识回放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CBDC1A-D4F1-4D53-8BD0-80906571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9570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91CD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1CDA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20C7AE-1D03-43E2-A8DE-00F53CFE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6576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CEB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CEBE2"/>
                </a:solidFill>
                <a:latin typeface="Microsoft YaHei"/>
                <a:ea typeface="Microsoft YaHei"/>
                <a:cs typeface="Microsoft YaHei"/>
              </a:rPr>
              <a:t>类别增量学习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6F557C-28DF-417F-8610-F8DEAD2F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24815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91CD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1CDA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6F235A2-28DE-4A4F-A5B8-BD7E0910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100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CEB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CEBE2"/>
                </a:solidFill>
                <a:latin typeface="Microsoft YaHei"/>
                <a:ea typeface="Microsoft YaHei"/>
                <a:cs typeface="Microsoft YaHei"/>
              </a:rPr>
              <a:t>因果约束抑制干扰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9B1C921-042D-48D0-A399-50833990A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80060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91CD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1CDA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F114984-356B-4B22-916E-15F22E199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7625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CEB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CEBE2"/>
                </a:solidFill>
                <a:latin typeface="Microsoft YaHei"/>
                <a:ea typeface="Microsoft YaHei"/>
                <a:cs typeface="Microsoft YaHei"/>
              </a:rPr>
              <a:t>核心算法黑盒部署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63D0B84-E94A-4252-A2BC-D2CCAD84D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817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D978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D97838"/>
                </a:solidFill>
                <a:latin typeface="Microsoft YaHei"/>
                <a:ea typeface="Microsoft YaHei"/>
                <a:cs typeface="Microsoft YaHei"/>
              </a:rPr>
              <a:t>空间索引、风险调度与稳健回放不是三个孤立模块，而是同一巡检决策链。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E8200AA-6DF6-43A5-AD44-539C70326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2800350" cy="1066800"/>
          </a:xfrm>
          <a:prstGeom xmlns:a="http://schemas.openxmlformats.org/drawingml/2006/main" prst="roundRect">
            <a:avLst>
              <a:gd name="adj" fmla="val 5357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A9BBB4"/>
            </a:solidFill>
            <a:prstDash val="dash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558A7FD-6FD7-4C92-90EB-0785D70D9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95550"/>
            <a:ext cx="2533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880"/>
                </a:solidFill>
              </a:defRPr>
            </a:pPr>
            <a:r>
              <a:rPr sz="1050" b="1">
                <a:solidFill>
                  <a:srgbClr val="0B7880"/>
                </a:solidFill>
              </a:rPr>
              <a:t>待补：区域风险热力图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058E667-F6AE-4192-8713-FE266830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2533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C75"/>
                </a:solidFill>
              </a:defRPr>
            </a:pPr>
            <a:r>
              <a:rPr sz="825" b="0">
                <a:solidFill>
                  <a:srgbClr val="667C75"/>
                </a:solidFill>
              </a:rPr>
              <a:t>证明北斗坐标如何定位模型薄弱区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DD7E36A-6647-4850-AA71-3EE0AB87E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81250"/>
            <a:ext cx="3162300" cy="1066800"/>
          </a:xfrm>
          <a:prstGeom xmlns:a="http://schemas.openxmlformats.org/drawingml/2006/main" prst="roundRect">
            <a:avLst>
              <a:gd name="adj" fmla="val 5357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A9BBB4"/>
            </a:solidFill>
            <a:prstDash val="dash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B611903-C022-4A86-9BB1-683F01872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95550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87932"/>
                </a:solidFill>
              </a:defRPr>
            </a:pPr>
            <a:r>
              <a:rPr sz="1050" b="1">
                <a:solidFill>
                  <a:srgbClr val="E87932"/>
                </a:solidFill>
              </a:rPr>
              <a:t>待补：预算排序结果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DCFCD73-7660-47C5-AEA9-35C700CBC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81300"/>
            <a:ext cx="2895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C75"/>
                </a:solidFill>
              </a:defRPr>
            </a:pPr>
            <a:r>
              <a:rPr sz="825" b="0">
                <a:solidFill>
                  <a:srgbClr val="667C75"/>
                </a:solidFill>
              </a:rPr>
              <a:t>证明高风险区域如何获得更多回放资源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01580E4-E626-42DC-A9F1-BF6E50AF8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81250"/>
            <a:ext cx="3143250" cy="1066800"/>
          </a:xfrm>
          <a:prstGeom xmlns:a="http://schemas.openxmlformats.org/drawingml/2006/main" prst="roundRect">
            <a:avLst>
              <a:gd name="adj" fmla="val 5357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A9BBB4"/>
            </a:solidFill>
            <a:prstDash val="dash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F0E0C01-E7A3-40FB-AC85-8FC7ECA87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9555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08E59"/>
                </a:solidFill>
              </a:defRPr>
            </a:pPr>
            <a:r>
              <a:rPr sz="1050" b="1">
                <a:solidFill>
                  <a:srgbClr val="208E59"/>
                </a:solidFill>
              </a:rPr>
              <a:t>待补：三层算法框架图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FF66529-1E17-4F71-9FEE-3DBAD476C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81300"/>
            <a:ext cx="2876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C75"/>
                </a:solidFill>
              </a:defRPr>
            </a:pPr>
            <a:r>
              <a:rPr sz="825" b="0">
                <a:solidFill>
                  <a:srgbClr val="667C75"/>
                </a:solidFill>
              </a:rPr>
              <a:t>证明核心算法如何封装成黑盒接口</a:t>
            </a:r>
          </a:p>
        </p:txBody>
      </p:sp>
    </p:spTree>
    <p:extLst>
      <p:ext uri="{BB962C8B-B14F-4D97-AF65-F5344CB8AC3E}">
        <p14:creationId xmlns:p14="http://schemas.microsoft.com/office/powerpoint/2010/main" val="19550727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AFDB3F-C1B7-4444-8B24-812770A87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产品原型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99A270-28AA-411D-9229-08E5278F2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评委可以直接看到：算法结果如何变成巡检决策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2B210A-DA74-47DE-953E-CF8B5FDF9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42425B-ABCD-447D-A9A9-998205311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417195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385EFD-5237-4E8F-9B2A-02189E8BA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837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83727"/>
                </a:solidFill>
                <a:latin typeface="Microsoft YaHei"/>
                <a:ea typeface="Microsoft YaHei"/>
                <a:cs typeface="Microsoft YaHei"/>
              </a:rPr>
              <a:t>当前原型已呈现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C2C488-7586-4922-B77F-24D0AACFC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✓  虚拟北斗航线与8个区域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43C826-500D-4521-840D-AE732407F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19425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✓  区域风险与回放预算排序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B1474E-FA03-4115-9214-5E4BA1C40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04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✓  ER与三层方法结果对比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2677B6-FDD0-4DEB-B8BA-FD3A25F83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✓  高风险区域复飞建议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018241-C255-47F2-83D2-F6A0574E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✓  证据边界与正式诊断报告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AD3A26-CFDC-4C8F-826E-3019E1C29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7053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地图联动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F3F29A-D8C7-45F6-998B-FA76A7841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143500"/>
            <a:ext cx="628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航线、观察点、风险等级与复飞建议在同一页面呈现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3831f73abc4d69"/>
          <a:stretch xmlns:a="http://schemas.openxmlformats.org/drawingml/2006/main"/>
        </p:blipFill>
        <p:spPr>
          <a:xfrm xmlns:a="http://schemas.openxmlformats.org/drawingml/2006/main">
            <a:off x="6105525" y="1504950"/>
            <a:ext cx="4572000" cy="285750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810121-1EC7-4D0A-9189-286A652A8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28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88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04B7FB-6BC8-4A76-9B59-022A87C6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247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93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9B5187-DD45-4622-A27C-C51145998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657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93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36290F-FC3E-4DA7-9FC0-B68F2ECC9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4958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7880"/>
                </a:solidFill>
              </a:defRPr>
            </a:pPr>
            <a:r>
              <a:rPr sz="975" b="1">
                <a:solidFill>
                  <a:srgbClr val="0B7880"/>
                </a:solidFill>
              </a:rPr>
              <a:t>1 航线与区域风险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8EF999-751D-42C4-8240-36453A55C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4958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87932"/>
                </a:solidFill>
              </a:defRPr>
            </a:pPr>
            <a:r>
              <a:rPr sz="975" b="1">
                <a:solidFill>
                  <a:srgbClr val="E87932"/>
                </a:solidFill>
              </a:rPr>
              <a:t>2 方法结果对比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D786ED-2FD2-4EC8-AF59-5E0D527F2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4958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87932"/>
                </a:solidFill>
              </a:defRPr>
            </a:pPr>
            <a:r>
              <a:rPr sz="975" b="1">
                <a:solidFill>
                  <a:srgbClr val="E87932"/>
                </a:solidFill>
              </a:rPr>
              <a:t>3 高风险区复飞建议</a:t>
            </a:r>
          </a:p>
        </p:txBody>
      </p:sp>
    </p:spTree>
    <p:extLst>
      <p:ext uri="{BB962C8B-B14F-4D97-AF65-F5344CB8AC3E}">
        <p14:creationId xmlns:p14="http://schemas.microsoft.com/office/powerpoint/2010/main" val="190833650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2B29D7-2DB2-4277-BC78-198D724D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实验验证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057518-9097-42BF-A323-D93628412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同一数据、同一任务、同一600样本预算下，三层方法更稳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70C3C7-411B-4768-AD31-39E043E0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457200" y="1581150"/>
          <a:ext xmlns:a="http://schemas.openxmlformats.org/drawingml/2006/main" cx="6229350" cy="4171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e0824f33660441a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AD4ADF-6A0E-42FC-872B-C789CEE31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600200"/>
            <a:ext cx="4095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3E8"/>
          </a:solidFill>
          <a:ln xmlns:a="http://schemas.openxmlformats.org/drawingml/2006/main" w="9525">
            <a:solidFill>
              <a:srgbClr val="A7CDB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BFDF5F-891B-4FD7-A8B1-90026AFDB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0975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837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83727"/>
                </a:solidFill>
                <a:latin typeface="Microsoft YaHei"/>
                <a:ea typeface="Microsoft YaHei"/>
                <a:cs typeface="Microsoft YaHei"/>
              </a:rPr>
              <a:t>+12.11pp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22D7D1-D1BC-480C-B0F8-F895380A7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003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最终识别率提升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6430AA-9D8D-4C0E-954E-C1F041E16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05150"/>
            <a:ext cx="4095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830E65-FA73-4909-877E-17C8A2E4D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1470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837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83727"/>
                </a:solidFill>
                <a:latin typeface="Microsoft YaHei"/>
                <a:ea typeface="Microsoft YaHei"/>
                <a:cs typeface="Microsoft YaHei"/>
              </a:rPr>
              <a:t>-19.23pp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A1F34A-6AE2-4D89-ACD3-7FA2BD9AE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9052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平均遗忘率下降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C9C599-6961-48C3-A2D7-BB54C749D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244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数据规模：4301条预测 · 10类 · 5任务 · 固定回放预算600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CD7D65-ECB5-4B4F-A1B7-4DF3F55A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4864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691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D978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97838"/>
                </a:solidFill>
                <a:latin typeface="Microsoft YaHei"/>
                <a:ea typeface="Microsoft YaHei"/>
                <a:cs typeface="Microsoft YaHei"/>
              </a:rPr>
              <a:t>边界：公开航拍数据 + 虚拟北斗坐标，不代表真实无人机、北斗终端或商业客户效果。</a:t>
            </a:r>
          </a:p>
        </p:txBody>
      </p:sp>
    </p:spTree>
    <p:extLst>
      <p:ext uri="{BB962C8B-B14F-4D97-AF65-F5344CB8AC3E}">
        <p14:creationId xmlns:p14="http://schemas.microsoft.com/office/powerpoint/2010/main" val="105552421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7875C16-B683-4F49-9782-AAE9ABB4C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客户与商业模式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38EA67-B200-4A21-8C8C-4616539DA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谁付费、买什么、为什么选择我们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AC6446-C816-4EB2-B6D3-D365B220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744F66-D825-4FC7-A3C9-1FAD6B12F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0200"/>
            <a:ext cx="33337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6FA25C-77F7-4176-A429-C5C8865B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2800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目标客户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8F8DA3-D9FB-4308-847E-838A092E8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CF3702-8309-4253-8532-3DDE09846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576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电网与能源运维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E10C03-FC63-48CA-95E7-AC2990552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4815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5BBF68-653E-455C-AB09-047B8B79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100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无人机巡检服务商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8CEA11-2C67-4994-819F-C17E8B07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0060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07A076-1725-4FA8-995F-35A6BBA7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625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低空运营与GIS平台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222B36-19F6-428B-A390-6065F3953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600200"/>
            <a:ext cx="36957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3E8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2E8749-E275-445E-8B3D-13629FED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24050"/>
            <a:ext cx="3162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产品交付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F7148D-83C5-4B4F-AF24-EE5CCE16C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69570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7FAB30-B6CE-43FC-A950-3CFD82BC3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5760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私有化部署平台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02B9A6-9059-4201-A0DC-79EE5DB6C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24815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C9E697-6864-4C92-AED1-3CA0CD297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1005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时空诊断API / SDK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34D23D-3C92-416D-A2A6-25A857C3B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80060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55FB37-E4BD-4456-AC09-3E5A5DFF7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76250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年度模型维护服务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E2BE69-75DF-47DF-8299-8B945DCB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00200"/>
            <a:ext cx="36766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727"/>
          </a:solidFill>
          <a:ln xmlns:a="http://schemas.openxmlformats.org/drawingml/2006/main" w="9525">
            <a:solidFill>
              <a:srgbClr val="08372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B9DD98-9784-4B45-8C4E-8F1FD916B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240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选择我们的理由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CBDC1A-D4F1-4D53-8BD0-80906571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9570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91CD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1CDA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20C7AE-1D03-43E2-A8DE-00F53CFE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6576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CEB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CEBE2"/>
                </a:solidFill>
                <a:latin typeface="Microsoft YaHei"/>
                <a:ea typeface="Microsoft YaHei"/>
                <a:cs typeface="Microsoft YaHei"/>
              </a:rPr>
              <a:t>不替换现有无人机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6F557C-28DF-417F-8610-F8DEAD2F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24815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91CD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1CDA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6F235A2-28DE-4A4F-A5B8-BD7E0910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100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CEB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CEBE2"/>
                </a:solidFill>
                <a:latin typeface="Microsoft YaHei"/>
                <a:ea typeface="Microsoft YaHei"/>
                <a:cs typeface="Microsoft YaHei"/>
              </a:rPr>
              <a:t>能指出模型失效位置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9B1C921-042D-48D0-A399-50833990A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80060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91CD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1CDA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F114984-356B-4B22-916E-15F22E199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7625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CEB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CEBE2"/>
                </a:solidFill>
                <a:latin typeface="Microsoft YaHei"/>
                <a:ea typeface="Microsoft YaHei"/>
                <a:cs typeface="Microsoft YaHei"/>
              </a:rPr>
              <a:t>固定预算持续学新保旧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63D0B84-E94A-4252-A2BC-D2CCAD84D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817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D978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D97838"/>
                </a:solidFill>
                <a:latin typeface="Microsoft YaHei"/>
                <a:ea typeface="Microsoft YaHei"/>
                <a:cs typeface="Microsoft YaHei"/>
              </a:rPr>
              <a:t>商业化切入：先服务电力巡检软件与算法需求，再复制到交通、通信和园区。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54F5207-CD89-4E9E-AAC3-4CCB70F29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2800350" cy="1066800"/>
          </a:xfrm>
          <a:prstGeom xmlns:a="http://schemas.openxmlformats.org/drawingml/2006/main" prst="roundRect">
            <a:avLst>
              <a:gd name="adj" fmla="val 5357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A9BBB4"/>
            </a:solidFill>
            <a:prstDash val="dash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C6AA1F9-085E-47F5-9F1E-C7E3554ED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95550"/>
            <a:ext cx="2533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880"/>
                </a:solidFill>
              </a:defRPr>
            </a:pPr>
            <a:r>
              <a:rPr sz="1050" b="1">
                <a:solidFill>
                  <a:srgbClr val="0B7880"/>
                </a:solidFill>
              </a:rPr>
              <a:t>待补：目标客户现场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2223038-E6A8-4C9A-BC8A-6BD260CDF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2533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C75"/>
                </a:solidFill>
              </a:defRPr>
            </a:pPr>
            <a:r>
              <a:rPr sz="825" b="0">
                <a:solidFill>
                  <a:srgbClr val="667C75"/>
                </a:solidFill>
              </a:rPr>
              <a:t>优先使用电网输电走廊或巡检中心真实照片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EF49658-CAC3-4248-BCFC-18E1EE17F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81250"/>
            <a:ext cx="3162300" cy="1066800"/>
          </a:xfrm>
          <a:prstGeom xmlns:a="http://schemas.openxmlformats.org/drawingml/2006/main" prst="roundRect">
            <a:avLst>
              <a:gd name="adj" fmla="val 5357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A9BBB4"/>
            </a:solidFill>
            <a:prstDash val="dash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3154555-7981-4C28-940C-9D6437283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95550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87932"/>
                </a:solidFill>
              </a:defRPr>
            </a:pPr>
            <a:r>
              <a:rPr sz="1050" b="1">
                <a:solidFill>
                  <a:srgbClr val="E87932"/>
                </a:solidFill>
              </a:rPr>
              <a:t>待补：交付物截图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9EEFDCD-132F-483D-9E3A-88639E50D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81300"/>
            <a:ext cx="2895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C75"/>
                </a:solidFill>
              </a:defRPr>
            </a:pPr>
            <a:r>
              <a:rPr sz="825" b="0">
                <a:solidFill>
                  <a:srgbClr val="667C75"/>
                </a:solidFill>
              </a:rPr>
              <a:t>平台、API结果或正式诊断报告选其一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225D1C5-3820-4E09-876B-B6FC9CBF8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81250"/>
            <a:ext cx="3143250" cy="1066800"/>
          </a:xfrm>
          <a:prstGeom xmlns:a="http://schemas.openxmlformats.org/drawingml/2006/main" prst="roundRect">
            <a:avLst>
              <a:gd name="adj" fmla="val 5357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A9BBB4"/>
            </a:solidFill>
            <a:prstDash val="dash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2621211-B427-4078-A508-EF3092F6E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9555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08E59"/>
                </a:solidFill>
              </a:defRPr>
            </a:pPr>
            <a:r>
              <a:rPr sz="1050" b="1">
                <a:solidFill>
                  <a:srgbClr val="208E59"/>
                </a:solidFill>
              </a:rPr>
              <a:t>待补：差异化对比图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A54F567-A206-4B0B-9AC9-C4DB0BE88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81300"/>
            <a:ext cx="2876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C75"/>
                </a:solidFill>
              </a:defRPr>
            </a:pPr>
            <a:r>
              <a:rPr sz="825" b="0">
                <a:solidFill>
                  <a:srgbClr val="667C75"/>
                </a:solidFill>
              </a:rPr>
              <a:t>传统识别 vs 可定位失效并持续更新</a:t>
            </a:r>
          </a:p>
        </p:txBody>
      </p:sp>
    </p:spTree>
    <p:extLst>
      <p:ext uri="{BB962C8B-B14F-4D97-AF65-F5344CB8AC3E}">
        <p14:creationId xmlns:p14="http://schemas.microsoft.com/office/powerpoint/2010/main" val="195507277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83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BB4656-9A82-4CF4-8986-D396C40FC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9FD2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FD2AE"/>
                </a:solidFill>
                <a:latin typeface="Microsoft YaHei"/>
                <a:ea typeface="Microsoft YaHei"/>
                <a:cs typeface="Microsoft YaHei"/>
              </a:rPr>
              <a:t>验证与落地路线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E149DA-A506-41E9-8A37-F5AF1C307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从公开数据仿真走向真实巡检验证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A2316D-C7BE-47C5-AE47-F47420480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FB2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FB29F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34ECD0-9361-49C0-961E-7CED7B1DA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3C9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3C99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4E312F-B9BE-4428-8D57-829E1858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公开数据验证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24C93B-F185-4D39-8AE1-6105EC90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1945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rPr>
              <a:t>10类5任务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rPr>
              <a:t>固定预算对比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3B3D91-8A56-4609-8FD8-CA89ADA7B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624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53"/>
          </a:solidFill>
          <a:ln xmlns:a="http://schemas.openxmlformats.org/drawingml/2006/main" w="0">
            <a:solidFill>
              <a:srgbClr val="356B5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F5A004-2BD9-4EEB-B1B7-F8A91BC95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7907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3C9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3C99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A2681F-583A-47B8-95CE-E1E04180F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813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真实任务包接入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B0368C-5F8C-4455-A61B-BD4EC37E2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1945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rPr>
              <a:t>坐标质量校准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rPr>
              <a:t>补充电力目标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62CCB1-E6F9-495D-BC3D-95B17B652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624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53"/>
          </a:solidFill>
          <a:ln xmlns:a="http://schemas.openxmlformats.org/drawingml/2006/main" w="0">
            <a:solidFill>
              <a:srgbClr val="356B5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B339B8-B822-4857-A872-FB298DDCB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907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3C9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3C99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C3520A-B498-4AE7-9BF4-D6918CD46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813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工程试点联调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221284-7101-47D1-B884-56409E40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1945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rPr>
              <a:t>服务器部署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rPr>
              <a:t>复飞建议验证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BEF70D-D123-4A7B-8203-E13EBA836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624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53"/>
          </a:solidFill>
          <a:ln xmlns:a="http://schemas.openxmlformats.org/drawingml/2006/main" w="0">
            <a:solidFill>
              <a:srgbClr val="356B5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2452AE-348D-442E-B875-B4E4A54FE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7907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3C9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3C99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16519E-47D1-4097-9A08-E13DD760F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7813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行业场景复制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4DB77B-0643-4D27-9151-A7BC8AEA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21945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rPr>
              <a:t>多航线多区域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rPr>
              <a:t>模型版本管理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BCE58D-B668-4170-8B91-0626203A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9624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53"/>
          </a:solidFill>
          <a:ln xmlns:a="http://schemas.openxmlformats.org/drawingml/2006/main" w="0">
            <a:solidFill>
              <a:srgbClr val="356B5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8F69AF-5C89-48D1-9BA1-A8846A4E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83C9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3C99C"/>
                </a:solidFill>
                <a:latin typeface="Microsoft YaHei"/>
                <a:ea typeface="Microsoft YaHei"/>
                <a:cs typeface="Microsoft YaHei"/>
              </a:rPr>
              <a:t>当前成果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A8A7F8-B4DA-441D-83A9-A76EA2855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149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公开数据与原型验证完成 → 下一阶段获取真实巡检任务包并完成端到端联调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FD148E-BDFC-47DA-B338-4B4048A17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1025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CBE1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CBE1D4"/>
                </a:solidFill>
                <a:latin typeface="Microsoft YaHei"/>
                <a:ea typeface="Microsoft YaHei"/>
                <a:cs typeface="Microsoft YaHei"/>
              </a:rPr>
              <a:t>项目不把仿真结果包装成客户部署；每进入下一阶段，都增加一层真实证据。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24D010-F1FE-42F9-A18D-BCB54F11A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2381250" cy="914400"/>
          </a:xfrm>
          <a:prstGeom xmlns:a="http://schemas.openxmlformats.org/drawingml/2006/main" prst="roundRect">
            <a:avLst>
              <a:gd name="adj" fmla="val 6250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A9BBB4"/>
            </a:solidFill>
            <a:prstDash val="dash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7F6547-061A-42A2-A750-D76BDD912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880"/>
                </a:solidFill>
              </a:defRPr>
            </a:pPr>
            <a:r>
              <a:rPr sz="1050" b="1">
                <a:solidFill>
                  <a:srgbClr val="0B7880"/>
                </a:solidFill>
              </a:rPr>
              <a:t>实验曲线 / 结果表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EF8D3D-BC7D-4007-82EF-B1AA6869F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211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C75"/>
                </a:solidFill>
              </a:defRPr>
            </a:pPr>
            <a:r>
              <a:rPr sz="825" b="0">
                <a:solidFill>
                  <a:srgbClr val="667C75"/>
                </a:solidFill>
              </a:rPr>
              <a:t>该阶段完成后替换为真实证据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6A64B8-428B-409F-9ACF-147BF5792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14500"/>
            <a:ext cx="2381250" cy="914400"/>
          </a:xfrm>
          <a:prstGeom xmlns:a="http://schemas.openxmlformats.org/drawingml/2006/main" prst="roundRect">
            <a:avLst>
              <a:gd name="adj" fmla="val 6250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A9BBB4"/>
            </a:solidFill>
            <a:prstDash val="dash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7CC878-303C-4B11-AE38-FBE67CF67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82880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880"/>
                </a:solidFill>
              </a:defRPr>
            </a:pPr>
            <a:r>
              <a:rPr sz="1050" b="1">
                <a:solidFill>
                  <a:srgbClr val="0B7880"/>
                </a:solidFill>
              </a:rPr>
              <a:t>真实任务数据清单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95978D-97DD-4FBE-9E41-0C34015F8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114550"/>
            <a:ext cx="211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C75"/>
                </a:solidFill>
              </a:defRPr>
            </a:pPr>
            <a:r>
              <a:rPr sz="825" b="0">
                <a:solidFill>
                  <a:srgbClr val="667C75"/>
                </a:solidFill>
              </a:rPr>
              <a:t>该阶段完成后替换为真实证据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0591A7-EA79-4CAE-ACA8-A8E49A7A0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14500"/>
            <a:ext cx="2381250" cy="914400"/>
          </a:xfrm>
          <a:prstGeom xmlns:a="http://schemas.openxmlformats.org/drawingml/2006/main" prst="roundRect">
            <a:avLst>
              <a:gd name="adj" fmla="val 6250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A9BBB4"/>
            </a:solidFill>
            <a:prstDash val="dash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7B8773-A94D-4632-AF62-DCD174D85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2880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87932"/>
                </a:solidFill>
              </a:defRPr>
            </a:pPr>
            <a:r>
              <a:rPr sz="1050" b="1">
                <a:solidFill>
                  <a:srgbClr val="E87932"/>
                </a:solidFill>
              </a:rPr>
              <a:t>试点联调现场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19C5EE7-4910-4D61-8D62-6D9EBF14E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14550"/>
            <a:ext cx="211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C75"/>
                </a:solidFill>
              </a:defRPr>
            </a:pPr>
            <a:r>
              <a:rPr sz="825" b="0">
                <a:solidFill>
                  <a:srgbClr val="667C75"/>
                </a:solidFill>
              </a:rPr>
              <a:t>该阶段完成后替换为真实证据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B7D1563-7929-4F34-9A0B-CA293335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714500"/>
            <a:ext cx="2381250" cy="914400"/>
          </a:xfrm>
          <a:prstGeom xmlns:a="http://schemas.openxmlformats.org/drawingml/2006/main" prst="roundRect">
            <a:avLst>
              <a:gd name="adj" fmla="val 6250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A9BBB4"/>
            </a:solidFill>
            <a:prstDash val="dash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BBC5091-BCE8-46AE-8ABF-298836A4B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82880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87932"/>
                </a:solidFill>
              </a:defRPr>
            </a:pPr>
            <a:r>
              <a:rPr sz="1050" b="1">
                <a:solidFill>
                  <a:srgbClr val="E87932"/>
                </a:solidFill>
              </a:rPr>
              <a:t>新场景案例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80917A9-6A88-4279-A7FF-BBC26602E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114550"/>
            <a:ext cx="211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C75"/>
                </a:solidFill>
              </a:defRPr>
            </a:pPr>
            <a:r>
              <a:rPr sz="825" b="0">
                <a:solidFill>
                  <a:srgbClr val="667C75"/>
                </a:solidFill>
              </a:rPr>
              <a:t>该阶段完成后替换为真实证据</a:t>
            </a:r>
          </a:p>
        </p:txBody>
      </p:sp>
    </p:spTree>
    <p:extLst>
      <p:ext uri="{BB962C8B-B14F-4D97-AF65-F5344CB8AC3E}">
        <p14:creationId xmlns:p14="http://schemas.microsoft.com/office/powerpoint/2010/main" val="10830909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2026-08-06T13:10:16.5500000Z</dcterms:created>
  <dcterms:modified xsi:type="dcterms:W3CDTF">2026-08-06T13:10:16.5500000Z</dcterms:modified>
</coreProperties>
</file>