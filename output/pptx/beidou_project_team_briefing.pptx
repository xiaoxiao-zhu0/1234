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aeca8c19f24af8" /><Relationship Type="http://schemas.openxmlformats.org/officeDocument/2006/relationships/extended-properties" Target="/docProps/app.xml" Id="R12d3855c41344a0e" /><Relationship Type="http://schemas.openxmlformats.org/officeDocument/2006/relationships/officeDocument" Target="/ppt/presentation.xml" Id="R5eccff37fc3b41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710f3b5a784f3a"/>
  </p:sldMasterIdLst>
  <p:notesMasterIdLst>
    <p:notesMasterId xmlns:r="http://schemas.openxmlformats.org/officeDocument/2006/relationships" r:id="Rad4335c3a299475f"/>
  </p:notesMasterIdLst>
  <p:sldIdLst>
    <p:sldId xmlns:r="http://schemas.openxmlformats.org/officeDocument/2006/relationships" id="256" r:id="R45c38ca6d75a483e"/>
    <p:sldId xmlns:r="http://schemas.openxmlformats.org/officeDocument/2006/relationships" id="257" r:id="Rfd16193778804d74"/>
    <p:sldId xmlns:r="http://schemas.openxmlformats.org/officeDocument/2006/relationships" id="258" r:id="R5b122064f9d14fc3"/>
    <p:sldId xmlns:r="http://schemas.openxmlformats.org/officeDocument/2006/relationships" id="259" r:id="R1bdcaf69469a4e26"/>
    <p:sldId xmlns:r="http://schemas.openxmlformats.org/officeDocument/2006/relationships" id="260" r:id="Rfde40e498cc846cb"/>
    <p:sldId xmlns:r="http://schemas.openxmlformats.org/officeDocument/2006/relationships" id="261" r:id="Rd322f3154dcf4234"/>
    <p:sldId xmlns:r="http://schemas.openxmlformats.org/officeDocument/2006/relationships" id="262" r:id="Rc2c1586b4a204740"/>
    <p:sldId xmlns:r="http://schemas.openxmlformats.org/officeDocument/2006/relationships" id="263" r:id="Rcc05d8f255fe4564"/>
    <p:sldId xmlns:r="http://schemas.openxmlformats.org/officeDocument/2006/relationships" id="264" r:id="R04f51cfd923c4735"/>
    <p:sldId xmlns:r="http://schemas.openxmlformats.org/officeDocument/2006/relationships" id="265" r:id="R5d9cb6862a2c4978"/>
    <p:sldId xmlns:r="http://schemas.openxmlformats.org/officeDocument/2006/relationships" id="266" r:id="R53526331e2494671"/>
    <p:sldId xmlns:r="http://schemas.openxmlformats.org/officeDocument/2006/relationships" id="267" r:id="R5eeb79a446b24b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82d17e439549fb" /><Relationship Type="http://schemas.openxmlformats.org/officeDocument/2006/relationships/slideMaster" Target="/ppt/slideMasters/slideMaster1.xml" Id="R16710f3b5a784f3a" /><Relationship Type="http://schemas.openxmlformats.org/officeDocument/2006/relationships/notesMaster" Target="/ppt/notesMasters/notesMaster1.xml" Id="Rad4335c3a299475f" /><Relationship Type="http://schemas.openxmlformats.org/officeDocument/2006/relationships/presProps" Target="/ppt/presProps.xml" Id="Rf99b632d251d43dd" /><Relationship Type="http://schemas.openxmlformats.org/officeDocument/2006/relationships/tableStyles" Target="/ppt/tableStyles.xml" Id="Rfae3758f09f04a42" /><Relationship Type="http://schemas.openxmlformats.org/officeDocument/2006/relationships/slide" Target="/ppt/slides/slide1.xml" Id="R45c38ca6d75a483e" /><Relationship Type="http://schemas.openxmlformats.org/officeDocument/2006/relationships/slide" Target="/ppt/slides/slide2.xml" Id="Rfd16193778804d74" /><Relationship Type="http://schemas.openxmlformats.org/officeDocument/2006/relationships/slide" Target="/ppt/slides/slide3.xml" Id="R5b122064f9d14fc3" /><Relationship Type="http://schemas.openxmlformats.org/officeDocument/2006/relationships/slide" Target="/ppt/slides/slide4.xml" Id="R1bdcaf69469a4e26" /><Relationship Type="http://schemas.openxmlformats.org/officeDocument/2006/relationships/slide" Target="/ppt/slides/slide5.xml" Id="Rfde40e498cc846cb" /><Relationship Type="http://schemas.openxmlformats.org/officeDocument/2006/relationships/slide" Target="/ppt/slides/slide6.xml" Id="Rd322f3154dcf4234" /><Relationship Type="http://schemas.openxmlformats.org/officeDocument/2006/relationships/slide" Target="/ppt/slides/slide7.xml" Id="Rc2c1586b4a204740" /><Relationship Type="http://schemas.openxmlformats.org/officeDocument/2006/relationships/slide" Target="/ppt/slides/slide8.xml" Id="Rcc05d8f255fe4564" /><Relationship Type="http://schemas.openxmlformats.org/officeDocument/2006/relationships/slide" Target="/ppt/slides/slide9.xml" Id="R04f51cfd923c4735" /><Relationship Type="http://schemas.openxmlformats.org/officeDocument/2006/relationships/slide" Target="/ppt/slides/slide10.xml" Id="R5d9cb6862a2c4978" /><Relationship Type="http://schemas.openxmlformats.org/officeDocument/2006/relationships/slide" Target="/ppt/slides/slide11.xml" Id="R53526331e2494671" /><Relationship Type="http://schemas.openxmlformats.org/officeDocument/2006/relationships/slide" Target="/ppt/slides/slide12.xml" Id="R5eeb79a446b24b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c9aedc68554d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f8ae68b07241c7" /><Relationship Type="http://schemas.openxmlformats.org/officeDocument/2006/relationships/notesMaster" Target="/ppt/notesMasters/notesMaster1.xml" Id="R340f09b554c74c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df6b27d6a9421a" /><Relationship Type="http://schemas.openxmlformats.org/officeDocument/2006/relationships/notesMaster" Target="/ppt/notesMasters/notesMaster1.xml" Id="R9d4b35608a7b44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ea9f40b8f54e1f" /><Relationship Type="http://schemas.openxmlformats.org/officeDocument/2006/relationships/notesMaster" Target="/ppt/notesMasters/notesMaster1.xml" Id="R0db9f667eff948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3b2e46ad6a4234" /><Relationship Type="http://schemas.openxmlformats.org/officeDocument/2006/relationships/notesMaster" Target="/ppt/notesMasters/notesMaster1.xml" Id="R7da35eff10e145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49274e7eca4e88" /><Relationship Type="http://schemas.openxmlformats.org/officeDocument/2006/relationships/notesMaster" Target="/ppt/notesMasters/notesMaster1.xml" Id="Ra1d166d5126048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dd00de7b56482e" /><Relationship Type="http://schemas.openxmlformats.org/officeDocument/2006/relationships/notesMaster" Target="/ppt/notesMasters/notesMaster1.xml" Id="R1fcba6f739584c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940b4f7f17453c" /><Relationship Type="http://schemas.openxmlformats.org/officeDocument/2006/relationships/notesMaster" Target="/ppt/notesMasters/notesMaster1.xml" Id="R67e99ea3e8174a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acd32c3cb74b9d" /><Relationship Type="http://schemas.openxmlformats.org/officeDocument/2006/relationships/notesMaster" Target="/ppt/notesMasters/notesMaster1.xml" Id="R6d235c67f21a44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42ebe385854da3" /><Relationship Type="http://schemas.openxmlformats.org/officeDocument/2006/relationships/notesMaster" Target="/ppt/notesMasters/notesMaster1.xml" Id="Re995dae7285047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631df8ff104bb4" /><Relationship Type="http://schemas.openxmlformats.org/officeDocument/2006/relationships/notesMaster" Target="/ppt/notesMasters/notesMaster1.xml" Id="Re6de77c70e944f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f31dc142b64281" /><Relationship Type="http://schemas.openxmlformats.org/officeDocument/2006/relationships/notesMaster" Target="/ppt/notesMasters/notesMaster1.xml" Id="R16389008d9b940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7e9171ab074f3e" /><Relationship Type="http://schemas.openxmlformats.org/officeDocument/2006/relationships/notesMaster" Target="/ppt/notesMasters/notesMaster1.xml" Id="R3b6d02746f3242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开场先说明这不是对外路演稿，而是团队统一理解稿。今天只解决一个问题：算法、北斗、后端和前端怎样组成同一个产品。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prototype screenshot: http://127.0.0.1:8766/frontend/index.html</a:t>
            </a:r>
          </a:p>
          <a:p xmlns:a="http://schemas.openxmlformats.org/drawingml/2006/main">
            <a:r>
              <a:t>- Project internal architecture discussion, 2026-08-05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这一页必须让所有队员记住：前端不是项目本体，算法也不是完整产品。三者连接起来，才是竞赛项目。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internal architecture discussion, 2026-08-05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不要把场景写得过宽。主场景只讲输电走廊外部环境与通道风险，光伏、通信塔和边坡作为后续扩展。当前VisDrone数据不能支撑精细电力设备缺陷检测。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D:/Desktop/avalanche-master/beidou_competition_shared/data_contract/public_result.json</a:t>
            </a:r>
          </a:p>
          <a:p xmlns:a="http://schemas.openxmlformats.org/drawingml/2006/main">
            <a:r>
              <a:t>- Project internal scope decision, 2026-08-05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商业落地时，客户提供巡检数据，但不需要懂论文数据格式。近期可以上传图像文件夹和CSV；后期通过无人机平台API自动接入。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internal data contract discussion, 2026-08-05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按顺序讲完整流程。重点提醒团队，上传一批数据不等于马上训练；日常大多数任务只做识别、诊断和决策。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internal workflow definition, 2026-08-05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两个闭环是解释系统的关键。这样队员就不会把前端滑块理解为重新训练模型，也不会认为每次用户上传数据都要运行持续学习。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internal workflow definition, 2026-08-05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这一页建议慢讲。图像回答看到了什么，北斗回答在哪里、什么时候、哪个区域持续失效。两路数据通过样本编号和时间戳关联，北斗间接影响回放资源和复飞决策。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architecture decision on Beidou integration, 2026-08-05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你的核心代码只部署在服务器。前端开发、报告编写和业务后端都通过标准接口合作，既能形成完整产品，也不会污染论文代码或泄露核心实现。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code isolation and collaboration plan, 2026-08-04 to 2026-08-05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当前前端已经有地图、诊断和报告，但还缺任务创建、上传、人工确认等操作功能。队员可以围绕这些外围能力继续开发，不需要接触算法源码。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front-end and backend responsibility definition, 2026-08-05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竞赛时可以展示已完成的离线闭环，但不要说成真实外业平台。下一阶段最值得做的不是继续美化静态大屏，而是补任务和数据进入系统的过程。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formal report screenshot: http://127.0.0.1:8766/frontend/report.html</a:t>
            </a:r>
          </a:p>
          <a:p xmlns:a="http://schemas.openxmlformats.org/drawingml/2006/main">
            <a:r>
              <a:t>- D:/Desktop/avalanche-master/beidou_competition_shared/data_contract/public_result.json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先讲方向：识别率提高、遗忘率下降。再讲边界：这是代表性种子结果和虚拟北斗时空标签，不能说成真实电网外业效果。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D:/Desktop/avalanche-master/beidou_competition_shared/data_contract/public_result.json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最后落到行动：算法、前端、后端、材料可以并行工作，但必须围绕同一数据契约。下一次团队讨论应直接确定任务上传的最小字段、接口和页面流程。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D:/Desktop/avalanche-master/beidou_competition_shared/data_contract/public_result.json</a:t>
            </a:r>
          </a:p>
          <a:p xmlns:a="http://schemas.openxmlformats.org/drawingml/2006/main">
            <a:r>
              <a:t>- Project team collaboration model, 2026-08-05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7e35ca425d48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fcc75c2aaf40e8" /><Relationship Type="http://schemas.openxmlformats.org/officeDocument/2006/relationships/slideLayout" Target="/ppt/slideLayouts/slideLayout1.xml" Id="R54a88b1a7de049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a88b1a7de049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e7fdfa56746eb" /><Relationship Type="http://schemas.openxmlformats.org/officeDocument/2006/relationships/image" Target="/ppt/media/image.png" Id="R2a5029ecd86b4426" /><Relationship Type="http://schemas.openxmlformats.org/officeDocument/2006/relationships/notesSlide" Target="/ppt/notesSlides/notesSlide1.xml" Id="R96bbcbafbb0843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71f15e5884c73" /><Relationship Type="http://schemas.openxmlformats.org/officeDocument/2006/relationships/notesSlide" Target="/ppt/notesSlides/notesSlide2.xml" Id="R2b78f35cce1e45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2ffe1a32d4bb9" /><Relationship Type="http://schemas.openxmlformats.org/officeDocument/2006/relationships/notesSlide" Target="/ppt/notesSlides/notesSlide3.xml" Id="Rbd3e2a3e790a4f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da21f086f43bb" /><Relationship Type="http://schemas.openxmlformats.org/officeDocument/2006/relationships/notesSlide" Target="/ppt/notesSlides/notesSlide4.xml" Id="Rc4ffc550fd9a43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1d25fe9e14d75" /><Relationship Type="http://schemas.openxmlformats.org/officeDocument/2006/relationships/notesSlide" Target="/ppt/notesSlides/notesSlide5.xml" Id="R0811dcd01e1f43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7bad69bd8445c" /><Relationship Type="http://schemas.openxmlformats.org/officeDocument/2006/relationships/notesSlide" Target="/ppt/notesSlides/notesSlide6.xml" Id="R68a27f4a713940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dfd05f7724127" /><Relationship Type="http://schemas.openxmlformats.org/officeDocument/2006/relationships/notesSlide" Target="/ppt/notesSlides/notesSlide7.xml" Id="R00a22af26b2743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a4bc6d2a44149" /><Relationship Type="http://schemas.openxmlformats.org/officeDocument/2006/relationships/notesSlide" Target="/ppt/notesSlides/notesSlide8.xml" Id="Rca1ae43b132048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c26ebf0804657" /><Relationship Type="http://schemas.openxmlformats.org/officeDocument/2006/relationships/notesSlide" Target="/ppt/notesSlides/notesSlide9.xml" Id="R64f6d82f5e264b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cd8b86b514257" /><Relationship Type="http://schemas.openxmlformats.org/officeDocument/2006/relationships/image" Target="/ppt/media/image2.png" Id="R61e252d4fa3c4fa2" /><Relationship Type="http://schemas.openxmlformats.org/officeDocument/2006/relationships/notesSlide" Target="/ppt/notesSlides/notesSlide10.xml" Id="R7cff7a2c20de41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8ddc1a1a14957" /><Relationship Type="http://schemas.openxmlformats.org/officeDocument/2006/relationships/chart" Target="/ppt/slides/charts/chart1.xml" Id="R0d62af7308554b09" /><Relationship Type="http://schemas.openxmlformats.org/officeDocument/2006/relationships/notesSlide" Target="/ppt/notesSlides/notesSlide11.xml" Id="Rd02768bc390948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a64d46c8d4fa4" /><Relationship Type="http://schemas.openxmlformats.org/officeDocument/2006/relationships/notesSlide" Target="/ppt/notesSlides/notesSlide12.xml" Id="R57f6c019638e4b5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ER经验回放</c:v>
          </c:tx>
          <c:spPr>
            <a:solidFill xmlns:a="http://schemas.openxmlformats.org/drawingml/2006/main">
              <a:srgbClr val="A8B7AF"/>
            </a:solidFill>
          </c:spPr>
          <c:cat>
            <c:strLit>
              <c:ptCount val="2"/>
              <c:pt idx="0">
                <c:v>最终识别率</c:v>
              </c:pt>
              <c:pt idx="1">
                <c:v>平均遗忘率</c:v>
              </c:pt>
            </c:strLit>
          </c:cat>
          <c:val>
            <c:numLit>
              <c:formatCode>General</c:formatCode>
              <c:ptCount val="2"/>
              <c:pt idx="0">
                <c:v>31.48</c:v>
              </c:pt>
              <c:pt idx="1">
                <c:v>51.32</c:v>
              </c:pt>
            </c:numLit>
          </c:val>
        </c:ser>
        <c:ser>
          <c:idx val="1"/>
          <c:order val="1"/>
          <c:tx>
            <c:v>三层因果语义回放</c:v>
          </c:tx>
          <c:spPr>
            <a:solidFill xmlns:a="http://schemas.openxmlformats.org/drawingml/2006/main">
              <a:srgbClr val="1F8B59"/>
            </a:solidFill>
          </c:spPr>
          <c:cat>
            <c:strLit>
              <c:ptCount val="2"/>
              <c:pt idx="0">
                <c:v>最终识别率</c:v>
              </c:pt>
              <c:pt idx="1">
                <c:v>平均遗忘率</c:v>
              </c:pt>
            </c:strLit>
          </c:cat>
          <c:val>
            <c:numLit>
              <c:formatCode>General</c:formatCode>
              <c:ptCount val="2"/>
              <c:pt idx="0">
                <c:v>43.59</c:v>
              </c:pt>
              <c:pt idx="1">
                <c:v>32.09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02F2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8D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324B43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8E43C-92F2-401C-8990-3B58E30F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B59"/>
          </a:solidFill>
          <a:ln xmlns:a="http://schemas.openxmlformats.org/drawingml/2006/main" w="0">
            <a:solidFill>
              <a:srgbClr val="1F8B5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2D7BF-5964-45BF-9AF4-0BBD8BF5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北斗巡知 · 团队内部沟通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9306A-81CD-41A7-ADF9-DD318C4A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我们到底</a:t>
            </a:r>
          </a:p>
          <a:p xmlns:a="http://schemas.openxmlformats.org/drawingml/2006/main">
            <a:pPr algn="l">
              <a:defRPr sz="42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在做什么？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49F88-6C0F-4474-B183-6621900F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4810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统一项目定位、业务流程、北斗关系与前后端分工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418CA-9B4C-407A-973F-F2C0F2A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2D4BD-C829-45CE-A285-E3CB8055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主场景：输电走廊外部环境与通道风险巡检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029ecd86b4426"/>
          <a:srcRect xmlns:a="http://schemas.openxmlformats.org/drawingml/2006/main" l="18750" t="0" r="18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400050"/>
            <a:ext cx="5810250" cy="5810250"/>
          </a:xfrm>
          <a:prstGeom xmlns:a="http://schemas.openxmlformats.org/drawingml/2006/main" prst="roundRect">
            <a:avLst>
              <a:gd name="adj" fmla="val 98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10E6E-45B8-4C7C-AF86-05991970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9085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93F12-9FF1-4A68-9DCE-9E3A2DFA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先统一最基本的理解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471B2-DE20-4329-95B9-919E3BCD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一个产品，不是三个互不相干的部分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2183A-B4B8-4F0B-9A1C-B33DE9D9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73456-622F-4FC4-95EC-5EAF9700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北斗巡知是一套软件平台。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3057C-58BB-4827-B26E-6327647D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用户通过前端使用能力，业务后端组织流程，三层持续学习算法提供核心计算。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66888-0046-49F8-BDE0-E22085A1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76675"/>
            <a:ext cx="8096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DC0"/>
          </a:solidFill>
          <a:ln xmlns:a="http://schemas.openxmlformats.org/drawingml/2006/main" w="0">
            <a:solidFill>
              <a:srgbClr val="B9CD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948D0-BE00-4050-86DC-2FB08B61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76675"/>
            <a:ext cx="8096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CDC0"/>
          </a:solidFill>
          <a:ln xmlns:a="http://schemas.openxmlformats.org/drawingml/2006/main" w="0">
            <a:solidFill>
              <a:srgbClr val="B9CD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B8804-0ACC-45D1-9B71-0BD8FFCD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27241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F44E2-EBDA-4683-BF6F-FF86052B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24955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用户操作前端</a:t>
            </a:r>
          </a:p>
          <a:p xmlns:a="http://schemas.openxmlformats.org/drawingml/2006/main">
            <a:pPr algn="ctr">
              <a:def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任务、地图、报告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E6A51-B52C-41B9-9AE4-B780C34E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76600"/>
            <a:ext cx="30861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9CC7A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EBB34-6C88-48E1-AF22-EB9178F0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52800"/>
            <a:ext cx="285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业务后端</a:t>
            </a:r>
          </a:p>
          <a:p xmlns:a="http://schemas.openxmlformats.org/drawingml/2006/main">
            <a:pPr algn="ctr">
              <a:def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接收、校验、调度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78AB5-7851-47DF-A783-7C75B5CF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31242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83727"/>
          </a:solidFill>
          <a:ln xmlns:a="http://schemas.openxmlformats.org/drawingml/2006/main" w="9525">
            <a:solidFill>
              <a:srgbClr val="0837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EB1E6-5F6C-48EC-A122-20A2CC29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52800"/>
            <a:ext cx="28956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核心算法引擎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识别、更新、诊断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A082B-876A-4B47-BB88-132B3294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客户价值在前端被看见，技术壁垒在后端被保护。</a:t>
            </a:r>
          </a:p>
        </p:txBody>
      </p:sp>
    </p:spTree>
    <p:extLst>
      <p:ext uri="{BB962C8B-B14F-4D97-AF65-F5344CB8AC3E}">
        <p14:creationId xmlns:p14="http://schemas.microsoft.com/office/powerpoint/2010/main" val="18532816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AAD3C3-8D09-46AC-9575-12380389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场景越具体，评委越容易理解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66162-F26A-4F9B-BC03-06DA40C3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主场景锁定输电走廊通道风险巡检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0CCA3-95FD-42E4-925F-075A7168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BBAF9-3334-416A-AEF8-D398596F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搭载北斗定位的无人机沿输电走廊重复巡航，持续识别人员、车辆、施工活动和新增异常目标。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ACEB0-1C91-452E-9531-5E7FF884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71825"/>
            <a:ext cx="619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D1C3"/>
          </a:solidFill>
          <a:ln xmlns:a="http://schemas.openxmlformats.org/drawingml/2006/main" w="0">
            <a:solidFill>
              <a:srgbClr val="BDD1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9C1F2-4DB9-4AA0-846E-911D38FE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71825"/>
            <a:ext cx="619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D1C3"/>
          </a:solidFill>
          <a:ln xmlns:a="http://schemas.openxmlformats.org/drawingml/2006/main" w="0">
            <a:solidFill>
              <a:srgbClr val="BDD1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E9181-5225-457D-9BDF-689AE14E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71825"/>
            <a:ext cx="6191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D1C3"/>
          </a:solidFill>
          <a:ln xmlns:a="http://schemas.openxmlformats.org/drawingml/2006/main" w="0">
            <a:solidFill>
              <a:srgbClr val="BDD1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E5C80-BEAF-44F8-92D9-97AB64C6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9812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72B16-A42C-46BE-BFD2-09DD752D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752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北斗导航巡航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671B8-B615-4EBC-9B74-F4DFB6FA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47950"/>
            <a:ext cx="20764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419E5-0CD7-41CC-B502-4918BCC9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184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采集图像和坐标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A2578-8C5E-4FEB-8A35-02D9F82A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47950"/>
            <a:ext cx="20764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9CC7A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E95EF-DEAA-42EB-B358-82A5B240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184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识别沿线目标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BC8A9-FA81-44B0-85AD-1A8EECD4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20764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083727"/>
          </a:solidFill>
          <a:ln xmlns:a="http://schemas.openxmlformats.org/drawingml/2006/main" w="9525">
            <a:solidFill>
              <a:srgbClr val="08372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00BB7-99B1-461D-BAAE-3749C4E9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184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定位薄弱区域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86793-8C5A-4C39-BF7F-E9FB7348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solidFill>
              <a:srgbClr val="CBD8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2C0D3-6D78-4319-9EC4-E1391462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当前验证对象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103CF-3BE9-406E-9469-BCBCFC5C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人员、汽车、卡车、客车、摩托车、自行车、三轮车等沿线环境目标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A1159-200F-48BD-9D63-4D883DE9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67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当前不宣称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1237D6-839C-45CE-BA8B-1C1E3D89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292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绝缘子裂纹、导线断股、毫米级设备缺陷和真实电网外业效果</a:t>
            </a:r>
          </a:p>
        </p:txBody>
      </p:sp>
    </p:spTree>
    <p:extLst>
      <p:ext uri="{BB962C8B-B14F-4D97-AF65-F5344CB8AC3E}">
        <p14:creationId xmlns:p14="http://schemas.microsoft.com/office/powerpoint/2010/main" val="13484049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C40810-D58F-491F-867E-AC97E895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谁提供数据，谁使用系统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3B765-75CD-4E75-B583-7CF89854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数据来自客户的巡检任务，不是前端凭空生成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6C71F-74E6-4A08-B602-FE87BCA2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F5AC2-CF0F-4E6C-82CC-1EFC50A2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3816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8A221-4532-4134-9ED6-71930F6F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一个巡检任务包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1817A-394C-4D4D-84D8-C00B4410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图像或视频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68A52-1E52-4024-AC67-EB2E058C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43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无人机相机采集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22A32-82BF-4565-B018-7828BBE2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solidFill>
              <a:srgbClr val="CB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131D9-E650-44BE-855F-C952E4FF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timestamp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4F773-4A7E-45B8-A3F7-1EE1C47D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670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拍摄时间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D60B4-353B-443B-B386-3B8F2922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F19D5-AD04-4184-A335-9FA282CD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latitude / longitude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9D1E7-01DE-435D-B82C-C8377263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90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北斗经纬度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5448A-E701-4471-AB5B-8EF5720A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solidFill>
              <a:srgbClr val="CBD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42088-2079-4C2A-B00B-C68B7921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position_quality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65A30-C923-43F6-91C5-FC25D058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147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定位质量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67E39-073A-4E25-9B02-B67690C3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solidFill>
              <a:srgbClr val="CB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3005C7-086D-42BE-A9D8-E9B73EDC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mission_id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D2B23E-BE5E-41AE-A83D-BFEB2180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38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任务与航线编号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871F0F-6AD8-4271-B8AC-6D65C379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0">
            <a:solidFill>
              <a:srgbClr val="CBD8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FDEDDF-EF51-45BF-AF69-8851653F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人工标注（可选）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54D18F-8345-404C-A0F6-7DCC169B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625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新类别确认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F26E34-78F9-4D5A-9226-6D87A58E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621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直接用户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83602B-2B41-4030-9D6A-0D8CD742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288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AA5FCC-CF55-4225-8AE4-7BA1C933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098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无人机巡检人员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A33926-F741-4E2B-81B7-440E56D9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创建任务、提交数据、查看异常位置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F64809-215F-4E65-93D9-3BAF90BC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90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FEA6B4-EDDA-47F7-90D9-B4EAA9A1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业务管理人员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9ABAB7-617E-42AC-A9DA-5BBC86D0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338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安排复飞、人工复核并导出报告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F3ED17-728B-413A-BA94-627A526D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529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0D7CA3-1DC2-43AF-B7EC-D5A803CD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339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算法运维人员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A8046F-1C1F-4821-9EA4-5FC7BA1D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9585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审核新类别、批准模型更新与发布</a:t>
            </a:r>
          </a:p>
        </p:txBody>
      </p:sp>
    </p:spTree>
    <p:extLst>
      <p:ext uri="{BB962C8B-B14F-4D97-AF65-F5344CB8AC3E}">
        <p14:creationId xmlns:p14="http://schemas.microsoft.com/office/powerpoint/2010/main" val="7948928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B4529F-3E47-430B-9DA6-16ACED88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数据进入、算法处理、结果返回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39E0B-CF3A-4D54-A7B8-B0E49D03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完整流程从一次巡检任务开始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00E9F-74A9-4F77-B842-D98C8086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3F607-20F4-445D-A5AF-71178F76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3840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98025-84C5-4B22-8259-2CCF2F88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041D0-726B-470B-BCEF-AB7B2AD4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创建任务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C59F1-C1CF-47B5-B071-7B027121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定义航线和目标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AB38E-1EDD-4BFA-80EE-2D49C94B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E0"/>
          </a:solidFill>
          <a:ln xmlns:a="http://schemas.openxmlformats.org/drawingml/2006/main" w="0">
            <a:solidFill>
              <a:srgbClr val="BBD5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B970B-34A8-4CC3-A5C4-2C732E91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3840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0046B-5C99-4A9A-9AC2-818CEB9B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4010B-48AC-4021-9597-F454604E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北斗巡航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3D7FB-521A-466A-8AEF-F4C98A5F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28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采集图像和坐标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61E45-3DD2-40A5-B52C-1EAFDC9C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E0"/>
          </a:solidFill>
          <a:ln xmlns:a="http://schemas.openxmlformats.org/drawingml/2006/main" w="0">
            <a:solidFill>
              <a:srgbClr val="BBD5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4177A-E894-4B2E-80FE-E698E6F4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3840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3EEBF-CAD1-4EFD-A1CA-EA07110F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F6521-9CE3-4769-A267-AE5E09AF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数据接入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60EA2-BD99-4934-9326-F3D73BB1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校验并划分区域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1B6FF-E974-4996-867B-183DB69C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E0"/>
          </a:solidFill>
          <a:ln xmlns:a="http://schemas.openxmlformats.org/drawingml/2006/main" w="0">
            <a:solidFill>
              <a:srgbClr val="BBD5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E739C-70A8-45ED-BA03-DDBC43FB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AD41D-E080-43EE-A874-1B16D7A0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90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模型识别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B34733-9401-4B66-96EA-3149156E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289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类别和置信度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A2F2D4-5E10-4498-AD0E-094356FD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38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5E0"/>
          </a:solidFill>
          <a:ln xmlns:a="http://schemas.openxmlformats.org/drawingml/2006/main" w="0">
            <a:solidFill>
              <a:srgbClr val="BBD5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4CE2DE-48EC-4AEC-A4F6-16421FB8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1965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90CF86-AFFF-43DE-BB2A-C40A1F19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8B0CCF-0074-4B79-A7BF-41286FF0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局部诊断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AADF11-E643-4AA3-91CE-4F8BD82E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识别率、遗忘率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6F1AA6-BA5B-438D-8F81-1B02A1BA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3BF"/>
          </a:solidFill>
          <a:ln xmlns:a="http://schemas.openxmlformats.org/drawingml/2006/main" w="0">
            <a:solidFill>
              <a:srgbClr val="B4D3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9C3E2A-DE6B-4CD9-B819-8317078C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1965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41AB89-B00A-4DF8-8A97-7D516C30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8289BE-5F97-4221-B91F-F69C685F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72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风险调度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E9E811-5FCE-448C-8373-8D925EEB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10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分配回放预算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CAEE67-F4E0-423F-9BF4-55272820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19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3BF"/>
          </a:solidFill>
          <a:ln xmlns:a="http://schemas.openxmlformats.org/drawingml/2006/main" w="0">
            <a:solidFill>
              <a:srgbClr val="B4D3B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DACDDA-0E6D-4D8B-9897-92B6FEFB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19650"/>
            <a:ext cx="409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D3CA"/>
          </a:solidFill>
          <a:ln xmlns:a="http://schemas.openxmlformats.org/drawingml/2006/main" w="0">
            <a:solidFill>
              <a:srgbClr val="C3D3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4CF3E3-B46D-4635-94E7-09CA223B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71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5E43A2-8553-4C33-AEF4-D4077D2A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72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任务决策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18C891-BC38-4856-BFB0-445512B1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10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复飞和人工复核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001E12-2154-45B7-AA5D-92307447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19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3BF"/>
          </a:solidFill>
          <a:ln xmlns:a="http://schemas.openxmlformats.org/drawingml/2006/main" w="0">
            <a:solidFill>
              <a:srgbClr val="B4D3B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2E63FE-2381-473D-B287-49D89B18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71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0D0798-6DB3-4940-91DE-6C2BACF8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72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模型更新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FCE4B5-0C91-4CF3-B18A-00C3DC81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101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新类别确认后启动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9D565F-5723-430B-B788-09932CF1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619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3BF"/>
          </a:solidFill>
          <a:ln xmlns:a="http://schemas.openxmlformats.org/drawingml/2006/main" w="0">
            <a:solidFill>
              <a:srgbClr val="B4D3B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ACFDFA-802C-4A47-9625-64C5851F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注意：第08步不是每次飞行都执行，只有确认新类别或积累纠错样本后才启动训练。</a:t>
            </a:r>
          </a:p>
        </p:txBody>
      </p:sp>
    </p:spTree>
    <p:extLst>
      <p:ext uri="{BB962C8B-B14F-4D97-AF65-F5344CB8AC3E}">
        <p14:creationId xmlns:p14="http://schemas.microsoft.com/office/powerpoint/2010/main" val="1299247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72AB1-95EC-4BCB-B808-2AF8EC69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日常巡检与模型更新不能混为一谈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1565F-353E-40A5-850E-9D0E5ECE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系统同时运行两个闭环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4ECDD-F5A5-429F-BC38-EBF2BAC0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BAED5-2D46-4FE5-97C8-C00B8387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523875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129E6-98E6-444D-AD87-5C6BE7B7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24000"/>
            <a:ext cx="523875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A7CD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3D669-6D60-4949-8DB3-9E0D9795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A. 日常巡检闭环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A0AE2-9063-4027-906B-715AC3B4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E88A8"/>
                </a:solidFill>
                <a:latin typeface="Microsoft YaHei"/>
                <a:ea typeface="Microsoft YaHei"/>
                <a:cs typeface="Microsoft YaHei"/>
              </a:rPr>
              <a:t>每次巡检都执行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3117F-6BA9-4C26-AD82-651E339C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1. 接收图像与北斗坐标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A334F-26D0-4A7A-B4A7-91672E4A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2. 当前模型推理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D07B4-C7EC-428F-9322-62AE7472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3. 分区域风险诊断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E585A-EBF0-45B8-A571-1477ABE9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96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4. 输出复飞与复核任务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EB62E-B35D-40C9-A53C-EFDFCCC6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478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B. 模型更新闭环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171138-FF1B-4022-A159-B79F21B0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满足条件后执行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5197D-296B-42B0-98DC-A0FE022F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1. 发现未知或低置信度目标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5F568-629F-485C-B8DE-CC3012A2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194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2. 人工确认新增类别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1FC14E-C074-49FF-B924-E0E20135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95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3. 三层算法增量训练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269C68-2E04-4B60-9D5C-378494A0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196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4. 验证通过后发布新模型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4559F0-01BE-4682-864E-A46E1D59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前端负责触发与展示，训练仍在服务器后台完成。</a:t>
            </a:r>
          </a:p>
        </p:txBody>
      </p:sp>
    </p:spTree>
    <p:extLst>
      <p:ext uri="{BB962C8B-B14F-4D97-AF65-F5344CB8AC3E}">
        <p14:creationId xmlns:p14="http://schemas.microsoft.com/office/powerpoint/2010/main" val="6747237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3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391885-DE42-4DB4-8127-E8269194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rPr>
              <a:t>项目最重要的技术边界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9086F-722D-4658-8F51-B734565D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北斗不负责分类，而是驱动时空诊断和任务决策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F4DF1-1B4D-48BC-AB3B-3A7137CA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3ABD4-5414-4C73-9B38-C11CCEEA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5745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7058"/>
          </a:solidFill>
          <a:ln xmlns:a="http://schemas.openxmlformats.org/drawingml/2006/main" w="0">
            <a:solidFill>
              <a:srgbClr val="3A70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3D72D-6C88-4CEC-AA30-11BE35F9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45745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7058"/>
          </a:solidFill>
          <a:ln xmlns:a="http://schemas.openxmlformats.org/drawingml/2006/main" w="0">
            <a:solidFill>
              <a:srgbClr val="3A70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536A4-0B66-4ADD-98DB-75F14040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A7058"/>
          </a:solidFill>
          <a:ln xmlns:a="http://schemas.openxmlformats.org/drawingml/2006/main" w="0">
            <a:solidFill>
              <a:srgbClr val="3A70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352D3-6B54-4581-810D-5A1C76B4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6720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7B65"/>
          </a:solidFill>
          <a:ln xmlns:a="http://schemas.openxmlformats.org/drawingml/2006/main" w="0">
            <a:solidFill>
              <a:srgbClr val="477B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C0A19-D282-49B8-B851-FA4FBCB2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6720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7B65"/>
          </a:solidFill>
          <a:ln xmlns:a="http://schemas.openxmlformats.org/drawingml/2006/main" w="0">
            <a:solidFill>
              <a:srgbClr val="477B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E97BA-8A2F-4D6C-8836-732A4769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67200"/>
            <a:ext cx="8382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7B65"/>
          </a:solidFill>
          <a:ln xmlns:a="http://schemas.openxmlformats.org/drawingml/2006/main" w="0">
            <a:solidFill>
              <a:srgbClr val="477B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7F6D1-F39F-4ED1-AD61-8346C270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F4FA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EFE18-BD9A-459E-8244-214C8B59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无人机图像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2DA7B-87B0-4D3D-BF67-EF33DE02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0025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9525">
            <a:solidFill>
              <a:srgbClr val="DDE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BBD5B-8459-415C-9C52-7E5D1026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视觉识别模型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EC938-A006-434D-9114-7909C361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0025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9525">
            <a:solidFill>
              <a:srgbClr val="DDEE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CEDC4-81EB-4F69-B76F-09983505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07645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类别、置信度</a:t>
            </a:r>
          </a:p>
          <a:p xmlns:a="http://schemas.openxmlformats.org/drawingml/2006/main">
            <a:pPr algn="ctr"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语义特征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F8FE7-85E1-4073-A5DD-E743B3B4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0025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8FD1A5"/>
          </a:solidFill>
          <a:ln xmlns:a="http://schemas.openxmlformats.org/drawingml/2006/main" w="9525">
            <a:solidFill>
              <a:srgbClr val="8FD1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00D2EC-E4E7-4C1E-AF8C-1C367BA6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7645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样本编号关联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AD47C-7DAB-4C1E-8645-B70AB9DA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F4FA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DF605-9149-445C-8F83-5ADB5C97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北斗坐标</a:t>
            </a:r>
          </a:p>
          <a:p xmlns:a="http://schemas.openxmlformats.org/drawingml/2006/main">
            <a:pPr algn="ctr"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时间、定位质量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373E6C-605F-4F40-A641-5A9029C9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9525">
            <a:solidFill>
              <a:srgbClr val="DDEE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8D7588-4B3A-4A2B-96FC-811EEC75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862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时空索引</a:t>
            </a:r>
          </a:p>
          <a:p xmlns:a="http://schemas.openxmlformats.org/drawingml/2006/main">
            <a:pPr algn="ctr"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区域划分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9DCD65-CD77-4124-8F24-BB4654DE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1000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9525">
            <a:solidFill>
              <a:srgbClr val="DDE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26344C-9095-41DE-9C9A-26096EF5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862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location_id</a:t>
            </a:r>
          </a:p>
          <a:p xmlns:a="http://schemas.openxmlformats.org/drawingml/2006/main">
            <a:pPr algn="ctr"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定位质量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6EA5BB-6D8C-46CD-8253-100CC34D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10000"/>
            <a:ext cx="195262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8FD1A5"/>
          </a:solidFill>
          <a:ln xmlns:a="http://schemas.openxmlformats.org/drawingml/2006/main" w="9525">
            <a:solidFill>
              <a:srgbClr val="8FD1A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E191C6-FBF1-4910-82F9-D0644548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862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区域风险诊断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185A14-D81D-4A4C-B0E3-9D61E415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816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风险诊断结果 → 回放预算分配 + 重点复飞坐标 + 人工复核任务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E12541-DAF2-49CC-871B-7C2BDCCA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07695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9C9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9C9B8"/>
                </a:solidFill>
                <a:latin typeface="Microsoft YaHei"/>
                <a:ea typeface="Microsoft YaHei"/>
                <a:cs typeface="Microsoft YaHei"/>
              </a:rPr>
              <a:t>不把经纬度直接输入视觉分类网络，避免模型记住“某地经常出现某类目标”的错误捷径。</a:t>
            </a:r>
          </a:p>
        </p:txBody>
      </p:sp>
    </p:spTree>
    <p:extLst>
      <p:ext uri="{BB962C8B-B14F-4D97-AF65-F5344CB8AC3E}">
        <p14:creationId xmlns:p14="http://schemas.microsoft.com/office/powerpoint/2010/main" val="1238930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5A9C40-9AF9-4A67-AA2C-0066FB50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核心代码如何进入产品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6748D-AF9B-4B76-8D8A-2C7ED8ED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三层算法位于模型更新服务，不直接暴露给用户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A5F0F-C7F8-4E7A-B357-B6BE3E12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25661-5C1B-4374-A346-5A486273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3C9"/>
          </a:solidFill>
          <a:ln xmlns:a="http://schemas.openxmlformats.org/drawingml/2006/main" w="0">
            <a:solidFill>
              <a:srgbClr val="C2D3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D5E92-5600-4292-9265-98712EC8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D3C9"/>
          </a:solidFill>
          <a:ln xmlns:a="http://schemas.openxmlformats.org/drawingml/2006/main" w="0">
            <a:solidFill>
              <a:srgbClr val="C2D3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51BD1-CC0B-4CDE-91D9-1F4BFD3C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26289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57B46-1BD9-4E52-96DA-5D97BCFA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36750-6C31-43D1-841C-003FDB3E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新类别确认样本</a:t>
            </a:r>
          </a:p>
          <a:p xmlns:a="http://schemas.openxmlformats.org/drawingml/2006/main">
            <a:pPr algn="l"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历史语义记忆</a:t>
            </a:r>
          </a:p>
          <a:p xmlns:a="http://schemas.openxmlformats.org/drawingml/2006/main">
            <a:pPr algn="l"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区域风险权重</a:t>
            </a:r>
          </a:p>
          <a:p xmlns:a="http://schemas.openxmlformats.org/drawingml/2006/main">
            <a:pPr algn="l"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固定回放预算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3D203-2091-4EF6-9602-C64CC264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657350"/>
            <a:ext cx="4152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727"/>
          </a:solidFill>
          <a:ln xmlns:a="http://schemas.openxmlformats.org/drawingml/2006/main" w="9525">
            <a:solidFill>
              <a:srgbClr val="0837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8843A-7EF9-472A-A591-744D5BD3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621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9D5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9D5AD"/>
                </a:solidFill>
                <a:latin typeface="Microsoft YaHei"/>
                <a:ea typeface="Microsoft YaHei"/>
                <a:cs typeface="Microsoft YaHei"/>
              </a:rPr>
              <a:t>私有算法黑盒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1AE03-5325-468C-930B-92AD65D0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三层因果语义回放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1007C-284A-4C7C-8122-7A60EF1F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059"/>
          </a:solidFill>
          <a:ln xmlns:a="http://schemas.openxmlformats.org/drawingml/2006/main" w="0">
            <a:solidFill>
              <a:srgbClr val="3B705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131A1-406C-48FF-B223-FF4DE93C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323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rPr>
              <a:t>类别增量学习</a:t>
            </a:r>
          </a:p>
          <a:p xmlns:a="http://schemas.openxmlformats.org/drawingml/2006/main">
            <a:pPr algn="ctr">
              <a:def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rPr>
              <a:t>语义回放与因果干扰抑制</a:t>
            </a:r>
          </a:p>
          <a:p xmlns:a="http://schemas.openxmlformats.org/drawingml/2006/main">
            <a:pPr algn="ctr">
              <a:def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rPr>
              <a:t>风险预算调度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F6C8B-3E85-4C4A-963B-BDF3046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6289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A7CDB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B25CA-2FDB-499E-AED3-425DA246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47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0AEAC-A926-4027-BE3C-304F71BF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003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候选新模型</a:t>
            </a:r>
          </a:p>
          <a:p xmlns:a="http://schemas.openxmlformats.org/drawingml/2006/main">
            <a:pPr algn="l"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准确率与遗忘率</a:t>
            </a:r>
          </a:p>
          <a:p xmlns:a="http://schemas.openxmlformats.org/drawingml/2006/main">
            <a:pPr algn="l"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区域诊断指标</a:t>
            </a:r>
          </a:p>
          <a:p xmlns:a="http://schemas.openxmlformats.org/drawingml/2006/main">
            <a:pPr algn="l"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• 模型发布结论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91E06-A1B2-49B4-A21A-55646EA9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队员只需要调用接口或读取脱敏结果，不需要拿到论文训练源码。</a:t>
            </a:r>
          </a:p>
        </p:txBody>
      </p:sp>
    </p:spTree>
    <p:extLst>
      <p:ext uri="{BB962C8B-B14F-4D97-AF65-F5344CB8AC3E}">
        <p14:creationId xmlns:p14="http://schemas.microsoft.com/office/powerpoint/2010/main" val="9570566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875C16-B683-4F49-9782-AAE9ABB4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分工边界必须明确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8EA67-B200-4A21-8C8C-4616539D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前端是用户入口，后端才是计算与数据中心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C6446-C816-4EB2-B6D3-D365B220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44F66-D825-4FC7-A3C9-1FAD6B12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3333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FA25C-77F7-4176-A429-C5C8865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用户前端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F8DA3-D9FB-4308-847E-838A092E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F3702-8309-4253-8532-3DDE0984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创建巡检任务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10C03-FC63-48CA-95E7-AC299055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BBF68-653E-455C-AB09-047B8B79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上传或选择任务数据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CEA11-2C67-4994-819F-C17E8B07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7A076-1725-4FA8-995F-35A6BBA7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查看地图和区域风险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C2D16-89E3-4E0B-BB81-DE86EC2C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FD395-773D-41E9-92D3-D66D5957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确认新类别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8A68E-78BE-4F84-AABF-8B1DF164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6412A-1B59-41C1-A0A7-B67701C9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生成复飞与报告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22B36-19F6-428B-A390-6065F395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00200"/>
            <a:ext cx="36957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E8749-E275-445E-8B3D-13629FED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40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业务后端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7148D-83C5-4B4F-AF24-EE5CCE16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FAB30-B6CE-43FC-A950-3CFD82BC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接收与校验任务包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02B9A6-9059-4201-A0DC-79EE5DB6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194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C9E697-6864-4C92-AED1-3CA0CD29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图像和坐标关联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34D23D-3C92-416D-A2A6-25A857C3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19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55FB37-E4BD-4456-AC09-3E5A5DFF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338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任务队列与状态管理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50A34-D932-4526-B553-CA98BC98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E8A67D-0CDE-4B73-BDFE-E810B947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模型版本管理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20D33-09EB-499F-872C-A77CFA4D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768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224029-2CF3-4854-8141-4DD1C97B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38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结果JSON/API输出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E2BE69-75DF-47DF-8299-8B945DCB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00200"/>
            <a:ext cx="36766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727"/>
          </a:solidFill>
          <a:ln xmlns:a="http://schemas.openxmlformats.org/drawingml/2006/main" w="9525">
            <a:solidFill>
              <a:srgbClr val="0837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B9DD98-9784-4B45-8C4E-8F1FD916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算法后端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CBDC1A-D4F1-4D53-8BD0-80906571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20C7AE-1D03-43E2-A8DE-00F53CFE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289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目标识别推理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6F557C-28DF-417F-8610-F8DEAD2F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F235A2-28DE-4A4F-A5B8-BD7E0910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三层持续学习训练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B1C921-042D-48D0-A399-50833990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114984-356B-4B22-916E-15F22E19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新旧模型验证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D96F37-0618-4CE9-B55F-F4F9DD1F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243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74805D-AE5E-48C4-B4C3-49CCF2E3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分区域诊断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7B8A87-B899-4430-A9C9-524EED3B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768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1CDA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201EBA-7883-4E2C-AAC4-CF95A1C9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387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BE2"/>
                </a:solidFill>
                <a:latin typeface="Microsoft YaHei"/>
                <a:ea typeface="Microsoft YaHei"/>
                <a:cs typeface="Microsoft YaHei"/>
              </a:rPr>
              <a:t>风险预算计算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3D0B84-E94A-4252-A2BC-D2CCAD84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前端不是固定大屏：最终应支持任务创建、数据提交、人工确认与结果闭环。</a:t>
            </a:r>
          </a:p>
        </p:txBody>
      </p:sp>
    </p:spTree>
    <p:extLst>
      <p:ext uri="{BB962C8B-B14F-4D97-AF65-F5344CB8AC3E}">
        <p14:creationId xmlns:p14="http://schemas.microsoft.com/office/powerpoint/2010/main" val="19550727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FDB3F-C1B7-4444-8B24-812770A8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当前状态要诚实，也要能看到演进路线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9A270-28AA-411D-9229-08E5278F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现在完成的是离线原型，下一步补齐用户工作流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B210A-DA74-47DE-953E-CF8B5FDF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2425B-ABCD-447D-A9A9-99820531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41719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85EFD-5237-4E8F-9B2A-02189E8B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2C488-7586-4922-B77F-24D0AACF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公开航拍数据与虚拟北斗坐标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3C826-500D-4521-840D-AE732407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10类5任务类别增量实验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1474E-FA03-4115-9214-5E4BA1C4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ER与三层方法对比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677B6-FDD0-4DEB-B8BA-FD3A25F8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8区域风险诊断与600预算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18241-C255-47F2-83D2-F6A0574E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✓  前端看板和正式PDF报告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252d4fa3c4fa2"/>
          <a:srcRect xmlns:a="http://schemas.openxmlformats.org/drawingml/2006/main" l="0" t="15217" r="0" b="15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05400" y="1504950"/>
            <a:ext cx="6572250" cy="2857500"/>
          </a:xfrm>
          <a:prstGeom xmlns:a="http://schemas.openxmlformats.org/drawingml/2006/main" prst="roundRect">
            <a:avLst>
              <a:gd name="adj" fmla="val 200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D3A26-CFDC-4C8F-826E-3019E1C2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05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下一步优先补齐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3F29A-D8C7-45F6-998B-FA76A784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4350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任务创建与数据上传  /  后端处理状态  /  新类别人工确认  /  模型版本发布</a:t>
            </a:r>
          </a:p>
        </p:txBody>
      </p:sp>
    </p:spTree>
    <p:extLst>
      <p:ext uri="{BB962C8B-B14F-4D97-AF65-F5344CB8AC3E}">
        <p14:creationId xmlns:p14="http://schemas.microsoft.com/office/powerpoint/2010/main" val="19083365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B29D7-2DB2-4277-BC78-198D724D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8B59"/>
                </a:solidFill>
                <a:latin typeface="Microsoft YaHei"/>
                <a:ea typeface="Microsoft YaHei"/>
                <a:cs typeface="Microsoft YaHei"/>
              </a:rPr>
              <a:t>结果用来证明算法有效，不替代产品流程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57518-9097-42BF-A323-D9362841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F26"/>
                </a:solidFill>
                <a:latin typeface="Microsoft YaHei"/>
                <a:ea typeface="Microsoft YaHei"/>
                <a:cs typeface="Microsoft YaHei"/>
              </a:rPr>
              <a:t>当前实验支持“固定预算下更稳”，不支持真实外业结论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0C3C7-411B-4768-AD31-39E043E0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E7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57200" y="1581150"/>
          <a:ext xmlns:a="http://schemas.openxmlformats.org/drawingml/2006/main" cx="622935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62af7308554b0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D4ADF-6A0E-42FC-872B-C789CEE3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00200"/>
            <a:ext cx="4095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8"/>
          </a:solidFill>
          <a:ln xmlns:a="http://schemas.openxmlformats.org/drawingml/2006/main" w="9525">
            <a:solidFill>
              <a:srgbClr val="A7CD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FDF5F-891B-4FD7-A8B1-90026AFD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+12.11pp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2D7D1-D1BC-480C-B0F8-F895380A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最终识别率提升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430AA-9D8D-4C0E-954E-C1F041E1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05150"/>
            <a:ext cx="4095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30E65-FA73-4909-877E-17C8A2E4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147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3727"/>
                </a:solidFill>
                <a:latin typeface="Microsoft YaHei"/>
                <a:ea typeface="Microsoft YaHei"/>
                <a:cs typeface="Microsoft YaHei"/>
              </a:rPr>
              <a:t>-19.23pp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1F34A-6AE2-4D89-ACD3-7FA2BD9A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平均遗忘率下降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9C599-6961-48C3-A2D7-BB54C749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244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24B43"/>
                </a:solidFill>
                <a:latin typeface="Microsoft YaHei"/>
                <a:ea typeface="Microsoft YaHei"/>
                <a:cs typeface="Microsoft YaHei"/>
              </a:rPr>
              <a:t>数据规模：4301条预测 · 10类 · 5任务 · 固定预算600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D7D65-ECB5-4B4F-A1B7-4DF3F55A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864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7838"/>
                </a:solidFill>
                <a:latin typeface="Microsoft YaHei"/>
                <a:ea typeface="Microsoft YaHei"/>
                <a:cs typeface="Microsoft YaHei"/>
              </a:rPr>
              <a:t>边界：公开数据 + 虚拟北斗坐标，不代表真实无人机和北斗终端性能。</a:t>
            </a:r>
          </a:p>
        </p:txBody>
      </p:sp>
    </p:spTree>
    <p:extLst>
      <p:ext uri="{BB962C8B-B14F-4D97-AF65-F5344CB8AC3E}">
        <p14:creationId xmlns:p14="http://schemas.microsoft.com/office/powerpoint/2010/main" val="10555242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3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B4656-9A82-4CF4-8986-D396C40F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FD2AE"/>
                </a:solidFill>
                <a:latin typeface="Microsoft YaHei"/>
                <a:ea typeface="Microsoft YaHei"/>
                <a:cs typeface="Microsoft YaHei"/>
              </a:rPr>
              <a:t>最后统一行动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149DA-A506-41E9-8A37-F5AF1C30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团队按接口协作，所有人围绕同一个闭环推进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2316D-C7BE-47C5-AE47-F4742048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FB29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4ECD0-9361-49C0-961E-7CED7B1D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E312F-B9BE-4428-8D57-829E1858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算法负责人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4C93B-F185-4D39-8AE1-6105EC90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训练、模型验证、脱敏结果输出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B3D91-8A56-4609-8FD8-CA89ADA7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5A004-2BD9-4EEB-B1B7-F8A91BC9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52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2681F-583A-47B8-95CE-E1E04180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后端负责人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0368C-5F8C-4455-A61B-BD4EC37E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任务接入、数据契约、接口和状态管理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2CCB1-E6F9-495D-BC3D-95B17B65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339B8-B822-4857-A872-FB298DDC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3520A-B498-4AE7-9BF4-D6918CD4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前端负责人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21284-7101-47D1-B884-56409E40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任务操作、地图诊断、人工确认和报告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EF70D-D123-4A7B-8203-E13EBA83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452AE-348D-442E-B875-B4E4A54F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52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6519E-47D1-4097-9A08-E13DD760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90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BP与路演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DB77B-0643-4D27-9151-A7BC8AEA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24150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BD4C6"/>
                </a:solidFill>
                <a:latin typeface="Microsoft YaHei"/>
                <a:ea typeface="Microsoft YaHei"/>
                <a:cs typeface="Microsoft YaHei"/>
              </a:rPr>
              <a:t>场景、市场、材料和统一答辩口径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CE58D-B668-4170-8B91-0626203A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62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53"/>
          </a:solidFill>
          <a:ln xmlns:a="http://schemas.openxmlformats.org/drawingml/2006/main" w="0">
            <a:solidFill>
              <a:srgbClr val="356B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F69AF-5C89-48D1-9BA1-A8846A4E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3C99C"/>
                </a:solidFill>
                <a:latin typeface="Microsoft YaHei"/>
                <a:ea typeface="Microsoft YaHei"/>
                <a:cs typeface="Microsoft YaHei"/>
              </a:rPr>
              <a:t>唯一共享接口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A8A7F8-B4DA-441D-83A9-A76EA285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用户任务包 → 后端处理 → 脱敏结果JSON/API → 前端展示与决策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D148E-BDFC-47DA-B338-4B4048A1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E1D4"/>
                </a:solidFill>
                <a:latin typeface="Microsoft YaHei"/>
                <a:ea typeface="Microsoft YaHei"/>
                <a:cs typeface="Microsoft YaHei"/>
              </a:rPr>
              <a:t>统一口径：北斗负责时空索引和任务定位，AI负责识别与持续更新，平台负责把两者变成巡检决策。</a:t>
            </a:r>
          </a:p>
        </p:txBody>
      </p:sp>
    </p:spTree>
    <p:extLst>
      <p:ext uri="{BB962C8B-B14F-4D97-AF65-F5344CB8AC3E}">
        <p14:creationId xmlns:p14="http://schemas.microsoft.com/office/powerpoint/2010/main" val="1083090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2026-08-05T02:59:21.3170000Z</dcterms:created>
  <dcterms:modified xsi:type="dcterms:W3CDTF">2026-08-05T02:59:21.3180000Z</dcterms:modified>
</coreProperties>
</file>