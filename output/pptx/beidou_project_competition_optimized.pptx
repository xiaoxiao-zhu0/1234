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13355810d4560" /><Relationship Type="http://schemas.openxmlformats.org/officeDocument/2006/relationships/extended-properties" Target="/docProps/app.xml" Id="Rdff0081bc5c34e43" /><Relationship Type="http://schemas.openxmlformats.org/officeDocument/2006/relationships/officeDocument" Target="/ppt/presentation.xml" Id="R8daa21029f84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c283ac85b4fa5"/>
  </p:sldMasterIdLst>
  <p:notesMasterIdLst>
    <p:notesMasterId xmlns:r="http://schemas.openxmlformats.org/officeDocument/2006/relationships" r:id="Rceaf7bc46afa4345"/>
  </p:notesMasterIdLst>
  <p:sldIdLst>
    <p:sldId xmlns:r="http://schemas.openxmlformats.org/officeDocument/2006/relationships" id="256" r:id="R3fdbf2305ef54007"/>
    <p:sldId xmlns:r="http://schemas.openxmlformats.org/officeDocument/2006/relationships" id="257" r:id="Rb6a43c55e37f4839"/>
    <p:sldId xmlns:r="http://schemas.openxmlformats.org/officeDocument/2006/relationships" id="258" r:id="R011617f3b0ee43d9"/>
    <p:sldId xmlns:r="http://schemas.openxmlformats.org/officeDocument/2006/relationships" id="259" r:id="R0be881048aa44ee6"/>
    <p:sldId xmlns:r="http://schemas.openxmlformats.org/officeDocument/2006/relationships" id="260" r:id="Rab3b1efc6387434f"/>
    <p:sldId xmlns:r="http://schemas.openxmlformats.org/officeDocument/2006/relationships" id="261" r:id="R5481e04a31544acc"/>
    <p:sldId xmlns:r="http://schemas.openxmlformats.org/officeDocument/2006/relationships" id="262" r:id="Rd7830049c3e64811"/>
    <p:sldId xmlns:r="http://schemas.openxmlformats.org/officeDocument/2006/relationships" id="263" r:id="R0189769aff9b4930"/>
    <p:sldId xmlns:r="http://schemas.openxmlformats.org/officeDocument/2006/relationships" id="264" r:id="R28cafb38489d435b"/>
    <p:sldId xmlns:r="http://schemas.openxmlformats.org/officeDocument/2006/relationships" id="265" r:id="R49e5716b32fb4c51"/>
    <p:sldId xmlns:r="http://schemas.openxmlformats.org/officeDocument/2006/relationships" id="266" r:id="Rcc6cf16790654d79"/>
    <p:sldId xmlns:r="http://schemas.openxmlformats.org/officeDocument/2006/relationships" id="267" r:id="R3c6146551f3f42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8f641e4424b27" /><Relationship Type="http://schemas.openxmlformats.org/officeDocument/2006/relationships/slideMaster" Target="/ppt/slideMasters/slideMaster1.xml" Id="R63ac283ac85b4fa5" /><Relationship Type="http://schemas.openxmlformats.org/officeDocument/2006/relationships/notesMaster" Target="/ppt/notesMasters/notesMaster1.xml" Id="Rceaf7bc46afa4345" /><Relationship Type="http://schemas.openxmlformats.org/officeDocument/2006/relationships/presProps" Target="/ppt/presProps.xml" Id="R07fd6eb9669c49ea" /><Relationship Type="http://schemas.openxmlformats.org/officeDocument/2006/relationships/tableStyles" Target="/ppt/tableStyles.xml" Id="Rdd80c4ad87a945f1" /><Relationship Type="http://schemas.openxmlformats.org/officeDocument/2006/relationships/slide" Target="/ppt/slides/slide1.xml" Id="R3fdbf2305ef54007" /><Relationship Type="http://schemas.openxmlformats.org/officeDocument/2006/relationships/slide" Target="/ppt/slides/slide2.xml" Id="Rb6a43c55e37f4839" /><Relationship Type="http://schemas.openxmlformats.org/officeDocument/2006/relationships/slide" Target="/ppt/slides/slide3.xml" Id="R011617f3b0ee43d9" /><Relationship Type="http://schemas.openxmlformats.org/officeDocument/2006/relationships/slide" Target="/ppt/slides/slide4.xml" Id="R0be881048aa44ee6" /><Relationship Type="http://schemas.openxmlformats.org/officeDocument/2006/relationships/slide" Target="/ppt/slides/slide5.xml" Id="Rab3b1efc6387434f" /><Relationship Type="http://schemas.openxmlformats.org/officeDocument/2006/relationships/slide" Target="/ppt/slides/slide6.xml" Id="R5481e04a31544acc" /><Relationship Type="http://schemas.openxmlformats.org/officeDocument/2006/relationships/slide" Target="/ppt/slides/slide7.xml" Id="Rd7830049c3e64811" /><Relationship Type="http://schemas.openxmlformats.org/officeDocument/2006/relationships/slide" Target="/ppt/slides/slide8.xml" Id="R0189769aff9b4930" /><Relationship Type="http://schemas.openxmlformats.org/officeDocument/2006/relationships/slide" Target="/ppt/slides/slide9.xml" Id="R28cafb38489d435b" /><Relationship Type="http://schemas.openxmlformats.org/officeDocument/2006/relationships/slide" Target="/ppt/slides/slide10.xml" Id="R49e5716b32fb4c51" /><Relationship Type="http://schemas.openxmlformats.org/officeDocument/2006/relationships/slide" Target="/ppt/slides/slide11.xml" Id="Rcc6cf16790654d79" /><Relationship Type="http://schemas.openxmlformats.org/officeDocument/2006/relationships/slide" Target="/ppt/slides/slide12.xml" Id="R3c6146551f3f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9cd567f224f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a7a60d297447e" /><Relationship Type="http://schemas.openxmlformats.org/officeDocument/2006/relationships/notesMaster" Target="/ppt/notesMasters/notesMaster1.xml" Id="R4f64bd3b380e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79106429b4e76" /><Relationship Type="http://schemas.openxmlformats.org/officeDocument/2006/relationships/notesMaster" Target="/ppt/notesMasters/notesMaster1.xml" Id="Rd0b58f98a8fe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c55106c2346eb" /><Relationship Type="http://schemas.openxmlformats.org/officeDocument/2006/relationships/notesMaster" Target="/ppt/notesMasters/notesMaster1.xml" Id="R839a05476520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3da8fa9ba341a4" /><Relationship Type="http://schemas.openxmlformats.org/officeDocument/2006/relationships/notesMaster" Target="/ppt/notesMasters/notesMaster1.xml" Id="Rbd04ea5c2821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9d4683ae3433b" /><Relationship Type="http://schemas.openxmlformats.org/officeDocument/2006/relationships/notesMaster" Target="/ppt/notesMasters/notesMaster1.xml" Id="Rf605d48c115e44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ab88cb0774907" /><Relationship Type="http://schemas.openxmlformats.org/officeDocument/2006/relationships/notesMaster" Target="/ppt/notesMasters/notesMaster1.xml" Id="R0a3b275fcfaf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8813034cc346f4" /><Relationship Type="http://schemas.openxmlformats.org/officeDocument/2006/relationships/notesMaster" Target="/ppt/notesMasters/notesMaster1.xml" Id="R78ddb52b84f6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a566c0e434ee1" /><Relationship Type="http://schemas.openxmlformats.org/officeDocument/2006/relationships/notesMaster" Target="/ppt/notesMasters/notesMaster1.xml" Id="Rc69186cb6e914c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431ff572824227" /><Relationship Type="http://schemas.openxmlformats.org/officeDocument/2006/relationships/notesMaster" Target="/ppt/notesMasters/notesMaster1.xml" Id="R3023304acabb48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99b50d4fb141c0" /><Relationship Type="http://schemas.openxmlformats.org/officeDocument/2006/relationships/notesMaster" Target="/ppt/notesMasters/notesMaster1.xml" Id="Rc19d5ada8ff245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c827f8599f4386" /><Relationship Type="http://schemas.openxmlformats.org/officeDocument/2006/relationships/notesMaster" Target="/ppt/notesMasters/notesMaster1.xml" Id="Re4f0f13ff221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ac16f711c42ae" /><Relationship Type="http://schemas.openxmlformats.org/officeDocument/2006/relationships/notesMaster" Target="/ppt/notesMasters/notesMaster1.xml" Id="Rfb5780a40923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prototype: D:/Desktop/北斗智巡/beidou_competition_shared</a:t>
            </a:r>
          </a:p>
          <a:p xmlns:a="http://schemas.openxmlformats.org/drawingml/2006/main">
            <a:r>
              <a:t>- Cover image: https://commons.wikimedia.org/wiki/File:Aerial_view_of_Porvoo_Ilola_electricity_pylons.jpg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framing and experiment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https://commons.wikimedia.org/wiki/File:Aerial_view_of_Porvoo_Ilola_electricity_pylons.jpg</a:t>
            </a:r>
          </a:p>
          <a:p xmlns:a="http://schemas.openxmlformats.org/drawingml/2006/main">
            <a:r>
              <a:t>- https://commons.wikimedia.org/wiki/File:Mud_Creek_Landslide_(southeast_of_Gorda,_California,_USA).jpg</a:t>
            </a:r>
          </a:p>
          <a:p xmlns:a="http://schemas.openxmlformats.org/drawingml/2006/main">
            <a:r>
              <a:t>- https://commons.wikimedia.org/wiki/File:Aerial_perspective_of_the_bridge_across_Dongshan_river.jpg</a:t>
            </a:r>
          </a:p>
          <a:p xmlns:a="http://schemas.openxmlformats.org/drawingml/2006/main">
            <a:r>
              <a:t>- https://commons.wikimedia.org/wiki/File:Aerial_photo_of_construction_site_of_Akabanedai_tunnel.jpg</a:t>
            </a:r>
          </a:p>
          <a:p xmlns:a="http://schemas.openxmlformats.org/drawingml/2006/main">
            <a:r>
              <a:t>- Evidence boundary: D:/Desktop/北斗智巡/beidou_competition_shared/assets/aerial/README_CN.md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data contract and workflow definition: D:/Desktop/北斗智巡/beidou_competition_shared/data_contract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system workflow definition, 2026-08-06: D:/Desktop/北斗智巡/beidou_competition_shared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system architecture and code-isolation plan, 2026-08-06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Beidou/AI technical boundary and location diagnostics design, 2026-08-06</a:t>
            </a:r>
          </a:p>
          <a:p xmlns:a="http://schemas.openxmlformats.org/drawingml/2006/main">
            <a:r>
              <a:t>- Public result contract: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private algorithm design summary</a:t>
            </a:r>
          </a:p>
          <a:p xmlns:a="http://schemas.openxmlformats.org/drawingml/2006/main">
            <a:r>
              <a:t>- Public audited result: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innovation mapping and data contract: D:/Desktop/北斗智巡/beidou_competition_shared/data_contract/public_result.json</a:t>
            </a:r>
          </a:p>
          <a:p xmlns:a="http://schemas.openxmlformats.org/drawingml/2006/main">
            <a:r>
              <a:t>- Dynamic location-budget training improvement is not claimed on this slide.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prototype screenshot: http://127.0.0.1:8766/frontend/index.html</a:t>
            </a:r>
          </a:p>
          <a:p xmlns:a="http://schemas.openxmlformats.org/drawingml/2006/main">
            <a:r>
              <a:t>- Screenshot generated from the competition prototype on 2026-08-06.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Audited experiment result: D:/Desktop/北斗智巡/beidou_competition_shared/data_contract/public_result.json</a:t>
            </a:r>
          </a:p>
          <a:p xmlns:a="http://schemas.openxmlformats.org/drawingml/2006/main">
            <a:r>
              <a:t>- ER accuracy 31.4811%; three-layer method 43.5945%; average forgetting 51.3232% vs 32.0917%.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phased validation roadmap, 2026-08-06</a:t>
            </a:r>
          </a:p>
          <a:p xmlns:a="http://schemas.openxmlformats.org/drawingml/2006/main">
            <a:r>
              <a:t>- Current evidence status: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ea0cd80e1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12dc47b3c4b9c" /><Relationship Type="http://schemas.openxmlformats.org/officeDocument/2006/relationships/slideLayout" Target="/ppt/slideLayouts/slideLayout1.xml" Id="R5b59e2ce4ac54e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9e2ce4ac54e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0b25f85784a44" /><Relationship Type="http://schemas.openxmlformats.org/officeDocument/2006/relationships/image" Target="/ppt/media/image.jpeg" Id="Rc598b6436d0f49d2" /><Relationship Type="http://schemas.openxmlformats.org/officeDocument/2006/relationships/notesSlide" Target="/ppt/notesSlides/notesSlide1.xml" Id="R1586b64868f740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b218386df4b6a" /><Relationship Type="http://schemas.openxmlformats.org/officeDocument/2006/relationships/notesSlide" Target="/ppt/notesSlides/notesSlide2.xml" Id="Ra60e410b4e9640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36598c3114cd9" /><Relationship Type="http://schemas.openxmlformats.org/officeDocument/2006/relationships/image" Target="/ppt/media/image2.jpeg" Id="Refdf20232d754551" /><Relationship Type="http://schemas.openxmlformats.org/officeDocument/2006/relationships/image" Target="/ppt/media/image3.jpeg" Id="R649bdb5250ef454a" /><Relationship Type="http://schemas.openxmlformats.org/officeDocument/2006/relationships/image" Target="/ppt/media/image4.jpeg" Id="Rb385e2e99dc04bb6" /><Relationship Type="http://schemas.openxmlformats.org/officeDocument/2006/relationships/image" Target="/ppt/media/image5.jpeg" Id="R35a37c3f0c454700" /><Relationship Type="http://schemas.openxmlformats.org/officeDocument/2006/relationships/notesSlide" Target="/ppt/notesSlides/notesSlide3.xml" Id="Re2db1f00c1b145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89da3a8374a9c" /><Relationship Type="http://schemas.openxmlformats.org/officeDocument/2006/relationships/notesSlide" Target="/ppt/notesSlides/notesSlide4.xml" Id="R8d9a7403793842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47ced047b47eb" /><Relationship Type="http://schemas.openxmlformats.org/officeDocument/2006/relationships/notesSlide" Target="/ppt/notesSlides/notesSlide5.xml" Id="R3b0fb7e188ba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3b83f2cc345e4" /><Relationship Type="http://schemas.openxmlformats.org/officeDocument/2006/relationships/notesSlide" Target="/ppt/notesSlides/notesSlide6.xml" Id="R75205d11fac345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973018aa04696" /><Relationship Type="http://schemas.openxmlformats.org/officeDocument/2006/relationships/notesSlide" Target="/ppt/notesSlides/notesSlide7.xml" Id="R5a243bda212c46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497a251e5470f" /><Relationship Type="http://schemas.openxmlformats.org/officeDocument/2006/relationships/notesSlide" Target="/ppt/notesSlides/notesSlide8.xml" Id="R2324163420414f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d08c14b1d4810" /><Relationship Type="http://schemas.openxmlformats.org/officeDocument/2006/relationships/notesSlide" Target="/ppt/notesSlides/notesSlide9.xml" Id="Rcc1adc96fbad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f2d46fa4040f8" /><Relationship Type="http://schemas.openxmlformats.org/officeDocument/2006/relationships/image" Target="/ppt/media/image6.jpeg" Id="R00ad132227b1401f" /><Relationship Type="http://schemas.openxmlformats.org/officeDocument/2006/relationships/notesSlide" Target="/ppt/notesSlides/notesSlide10.xml" Id="R2066655dfebf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d115b4a744921" /><Relationship Type="http://schemas.openxmlformats.org/officeDocument/2006/relationships/chart" Target="/ppt/slides/charts/chart1.xml" Id="Rad681c8e980049fe" /><Relationship Type="http://schemas.openxmlformats.org/officeDocument/2006/relationships/notesSlide" Target="/ppt/notesSlides/notesSlide11.xml" Id="Ra116e797265a49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64eb6123485b" /><Relationship Type="http://schemas.openxmlformats.org/officeDocument/2006/relationships/notesSlide" Target="/ppt/notesSlides/notesSlide12.xml" Id="R21f2e3d0ec5a4ee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ER经验回放</c:v>
          </c:tx>
          <c:spPr>
            <a:solidFill xmlns:a="http://schemas.openxmlformats.org/drawingml/2006/main">
              <a:srgbClr val="A8B7AF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31.48</c:v>
              </c:pt>
              <c:pt idx="1">
                <c:v>51.32</c:v>
              </c:pt>
            </c:numLit>
          </c:val>
        </c:ser>
        <c:ser>
          <c:idx val="1"/>
          <c:order val="1"/>
          <c:tx>
            <c:v>三层稳健知识回放</c:v>
          </c:tx>
          <c:spPr>
            <a:solidFill xmlns:a="http://schemas.openxmlformats.org/drawingml/2006/main">
              <a:srgbClr val="1F8B59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43.59</c:v>
              </c:pt>
              <c:pt idx="1">
                <c:v>32.09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F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24B4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43C-92F2-401C-8990-3B58E30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B59"/>
          </a:solidFill>
          <a:ln xmlns:a="http://schemas.openxmlformats.org/drawingml/2006/main" w="0">
            <a:solidFill>
              <a:srgbClr val="1F8B5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D7BF-5964-45BF-9AF4-0BBD8BF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第十五届中国创新创业大赛 · 北斗时空信息专业赛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06A-81CD-41A7-ADF9-DD318C4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F88-6C0F-4474-B183-662190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面向低空持续巡检的时空风险诊断与模型持续更新平台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18CA-9B4C-407A-973F-F2C0F2A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D4BD-C829-45CE-A285-E3CB805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主场景：输电走廊通道风险巡检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8b6436d0f49d2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0" y="400050"/>
            <a:ext cx="5810250" cy="5810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0E6E-45B8-4C7C-AF86-0599197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08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3F12-9FF1-4A68-9DCE-9E3A2DF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71B2-DE20-4329-95B9-919E3BC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一次巡检越飞越久，模型会在局部区域先失效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183A-B4B8-4F0B-9A1C-B33DE9D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3456-622F-4FC4-95EC-5EAF970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持续出现新目标、跨区域外观变化和有限存储，让传统模型越学越偏。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057C-58BB-4827-B26E-632764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问题不是一次识别，而是长期巡检后的稳定识别。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6888-0046-49F8-BDE0-E22085A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48D0-BE00-4050-86DC-2FB08B6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804-0ACC-45D1-9B71-0BD8FFC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724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44E2-EBDA-4683-BF6F-FF86052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495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新类别持续出现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车辆、施工等目标陆续加入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6A51-B52C-41B9-9AE4-B780C34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0861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BB34-6C88-48E1-AF22-EB9178F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285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同类跨区发生漂移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光照、视角、地貌与定位噪声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8AB5-7851-47DF-A783-7C75B5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1242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B1E6-5F6C-48EC-A122-20A2CC2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895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历史知识被覆盖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均匀回放忽略高风险区域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A082B-876A-4B47-BB88-132B329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全局准确率看似正常，也可能掩盖山区、边坡等局部失效。</a:t>
            </a:r>
          </a:p>
        </p:txBody>
      </p:sp>
    </p:spTree>
    <p:extLst>
      <p:ext uri="{BB962C8B-B14F-4D97-AF65-F5344CB8AC3E}">
        <p14:creationId xmlns:p14="http://schemas.microsoft.com/office/powerpoint/2010/main" val="1853281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AD3C3-8D09-46AC-9575-1238038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162-F26A-4F9B-BC03-06DA40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无人机沿输电走廊持续巡航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CCA3-95FD-42E4-925F-075A71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BAF9-3334-416A-AEF8-D398596F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北斗记录每帧的时间与位置，视觉模型识别沿线目标，系统定位最需要复飞的区域。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CEB0-1C91-452E-9531-5E7FF8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C1F2-4DB9-4AA0-846E-911D38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181-5225-457D-9BDF-689AE14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2B16-A42C-46BE-BFD2-09DD75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输电走廊巡航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19E5-0CD7-41CC-B502-4918BCC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边坡风险观察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95EF-DEAA-42EB-B358-82A5B24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桥梁通道巡检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0BB7-99B1-461D-BAAE-3749C4E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施工活动识别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6793-8C5A-4C39-BF7F-E9FB734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2C0D3-6D78-4319-9EC4-E139146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巡检闭环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03CF-3BE9-406E-9469-BCBCFC5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巡航 → 采集 → 识别 → 分区诊断 → 复飞决策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1159-200F-48BD-9D63-4D883DE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当前验证边界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37D6-839C-45CE-BA8B-1C1E3D8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真实公开航拍图 + 仿真坐标与任务流；暂不宣称真实北斗终端外业性能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f20232d754551"/>
          <a:srcRect xmlns:a="http://schemas.openxmlformats.org/drawingml/2006/main" l="0" t="25641" r="0" b="25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647950"/>
            <a:ext cx="198120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bdb5250ef454a"/>
          <a:srcRect xmlns:a="http://schemas.openxmlformats.org/drawingml/2006/main" l="0" t="26293" r="0" b="26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5e2e99dc04bb6"/>
          <a:srcRect xmlns:a="http://schemas.openxmlformats.org/drawingml/2006/main" l="0" t="19011" r="0" b="19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37c3f0c454700"/>
          <a:srcRect xmlns:a="http://schemas.openxmlformats.org/drawingml/2006/main" l="0" t="28905" r="0" b="28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</p:spTree>
    <p:extLst>
      <p:ext uri="{BB962C8B-B14F-4D97-AF65-F5344CB8AC3E}">
        <p14:creationId xmlns:p14="http://schemas.microsoft.com/office/powerpoint/2010/main" val="1348404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C40810-D58F-491F-867E-AC97E89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数据如何进入系统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B765-75CD-4E75-B583-7CF8985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一份巡检任务包，把图像与北斗信息绑定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6C71F-74E6-4A08-B602-FE87BCA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F5AC2-CF0F-4E6C-82CC-1EFC50A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8A221-4532-4134-9ED6-71930F6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1817A-394C-4D4D-84D8-C00B441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图像 / 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8A52-1E52-4024-AC67-EB2E058C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无人机相机采集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22A32-82BF-4565-B018-7828BBE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131D9-E650-44BE-855F-C952E4F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timestamp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4F773-4A7E-45B8-A3F7-1EE1C47D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670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拍摄时间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D60B4-353B-443B-B386-3B8F292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F19D5-AD04-4184-A335-9FA282CD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latitude / longitude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9D1E7-01DE-435D-B82C-C837726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0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北斗经纬度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5448A-E701-4471-AB5B-8EF5720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42088-2079-4C2A-B00B-C68B792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position_quality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65A30-C923-43F6-91C5-FC25D05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14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定位质量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67E39-073A-4E25-9B02-B67690C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005C7-086D-42BE-A9D8-E9B73ED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mission_id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2B23E-BE5E-41AE-A83D-BFEB218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38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航线与任务编号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71F0F-6AD8-4271-B8AC-6D65C37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DEDDF-EF51-45BF-AF69-8851653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人工标注（可选）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4D18F-8345-404C-A0F6-7DCC169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62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26E34-78F9-4D5A-9226-6D87A58E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三类使用者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3602B-2B41-4030-9D6A-0D8CD742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A5FCC-CF55-4225-8AE4-7BA1C93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巡检人员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33926-F741-4E2B-81B7-440E56D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创建任务、上传数据、查看异常位置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64809-215F-4E65-93D9-3BAF90B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EA6B4-EDDA-47F7-90D9-B4EAA9A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管理人员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ABAB7-617E-42AC-A9DA-5BBC86D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安排复飞、人工复核并导出报告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3ED17-728B-413A-BA94-627A526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D7CA3-1DC2-43AF-B7EC-D5A803C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339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算法运维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A8046F-1C1F-4821-9EA4-5FC7BA1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确认新类别、审核模型更新与发布</a:t>
            </a:r>
          </a:p>
        </p:txBody>
      </p:sp>
    </p:spTree>
    <p:extLst>
      <p:ext uri="{BB962C8B-B14F-4D97-AF65-F5344CB8AC3E}">
        <p14:creationId xmlns:p14="http://schemas.microsoft.com/office/powerpoint/2010/main" val="794892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4529F-3E47-430B-9DA6-16ACED8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9E0B-CF3A-4D54-A7B8-B0E49D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从一次巡航到复飞决策，形成 8 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0E9F-74A9-4F77-B842-D98C808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F607-20F4-445D-A5AF-71178F7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8025-84C5-4B22-8259-2CCF2F8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1D0-726B-470B-BCEF-AB7B2AD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9F1-C1CF-47B5-B071-7B0271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设定航线与目标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AB38E-1EDD-4BFA-80EE-2D49C9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970B-34A8-4CC3-A5C4-2C732E9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046B-5C99-4A9A-9AC2-818CEB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010B-48AC-4021-9597-F454604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D7FB-521A-466A-8AEF-F4C98A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采集图像与坐标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1E45-3DD2-40A5-B52C-1EAFDC9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177A-E894-4B2E-80FE-E698E6F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EEBF-CAD1-4EFD-A1CA-EA07110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6521-9CE3-4769-A267-AE5E09A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时空关联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0EA2-BD99-4934-9326-F3D73BB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按编号和时间戳绑定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B6FF-E974-4996-867B-183DB69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739C-70A8-45ED-BA03-DDBC43F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D41D-E080-43EE-A874-1B16D7A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4733-9401-4B66-96EA-3149156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输出类别与置信度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F2D4-5E10-4498-AD0E-094356F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CE2DE-48EC-4AEC-A4F6-16421FB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0CF86-AFFF-43DE-BB2A-C40A1F1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0CCF-0074-4B79-A7BF-41286FF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DF11-E643-4AA3-91CE-4F8BD82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发现模型薄弱区域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1AA6-BA5B-438D-8F81-1B02A1B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C3E2A-DE6B-4CD9-B819-831707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1AB89-B00A-4DF8-8A97-7D516C3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89BE-5F97-4221-B91F-F69C685F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9E811-5FCE-448C-8373-8D925E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推荐重点回放预算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EE67-F4E0-423F-9BF4-5527282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ACDDA-0E6D-4D8B-9897-92B6FEF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CF3E3-B46D-4635-94E7-09CA223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E43A2-8553-4C33-AEF4-D4077D2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任务决策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C891-BC38-4856-BFB0-445512B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复飞与人工复核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01E12-2154-45B7-AA5D-9230744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E63FE-2381-473D-B287-49D89B1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D0798-6DB3-4940-91DE-6C2BAC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CE4B5-0C91-4CF3-B18A-00C3DC8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确认新类别后触发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D565F-5723-430B-B788-09932CF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CFDFA-802C-4A47-9625-64C585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日常巡检每次执行；模型训练仅在新类别确认或纠错样本积累后启动。</a:t>
            </a:r>
          </a:p>
        </p:txBody>
      </p:sp>
    </p:spTree>
    <p:extLst>
      <p:ext uri="{BB962C8B-B14F-4D97-AF65-F5344CB8AC3E}">
        <p14:creationId xmlns:p14="http://schemas.microsoft.com/office/powerpoint/2010/main" val="1299247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72AB1-95EC-4BCB-B808-2AF8EC6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1565F-353E-40A5-850E-9D0E5EC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系统同时运行两个闭环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ECDD-F5A5-429F-BC38-EBF2BAC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BAED5-2D46-4FE5-97C8-C00B8387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29E6-98E6-444D-AD87-5C6BE7B7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3D669-6D60-4949-8DB3-9E0D9795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A. 日常巡检闭环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A0AE2-9063-4027-906B-715AC3B4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每次飞行都执行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3117F-6BA9-4C26-AD82-651E339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1. 接收图像与北斗坐标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A334F-26D0-4A7A-B4A7-91672E4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2. 当前模型识别目标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D07B4-C7EC-428F-9322-62AE747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3. 生成分区域风险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585A-EBF0-45B8-A571-1477ABE9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4. 输出复飞与复核任务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B62E-B35D-40C9-A53C-EFDFCCC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B. 模型更新闭环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71138-FF1B-4022-A159-B79F21B0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满足条件后执行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5197D-296B-42B0-98DC-A0FE022F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1. 发现未知 / 低置信目标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5F568-629F-485C-B8DE-CC3012A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194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2. 人工确认新增类别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FC14E-C074-49FF-B924-E0E2013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3. 三层稳健知识回放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69C68-2E04-4B60-9D5C-378494A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4. 验证通过后发布模型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559F0-01BE-4682-864E-A46E1D5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前端负责触发与展示；训练在服务器后台完成，核心算法源码不流转。</a:t>
            </a:r>
          </a:p>
        </p:txBody>
      </p:sp>
    </p:spTree>
    <p:extLst>
      <p:ext uri="{BB962C8B-B14F-4D97-AF65-F5344CB8AC3E}">
        <p14:creationId xmlns:p14="http://schemas.microsoft.com/office/powerpoint/2010/main" val="674723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91885-DE42-4DB4-8127-E826919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北斗与 AI 如何融合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086F-722D-4658-8F51-B73456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北斗不分类，它让模型知道在哪里失效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4DF1-1B4D-48BC-AB3B-3A7137C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3ABD4-5414-4C73-9B38-C11CCEE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D72D-6C88-4CEC-AA30-11BE35F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36A4-0B66-4ADD-98DB-75F1404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52D3-6B54-4581-810D-5A1C76B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0A19-D282-49B8-B851-FA4FBCB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97BA-8A2F-4D6C-8836-732A476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7F6D1-F39F-4ED1-AD61-8346C27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FE18-BD9A-459E-8244-214C8B5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航拍图像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A7B-87B0-4D3D-BF67-EF33DE0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BD5B-8459-415C-9C52-7E5D102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视觉识别模型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C938-A006-434D-9114-7909C36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CEDC4-81EB-4F69-B76F-099835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类别 / 置信度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知识表征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8FE7-85E1-4073-A5DD-E743B3B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D2EC-E4E7-4C1E-AF8C-1C367BA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样本编号 + 时间戳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D47C-7DAB-4C1E-8645-B70AB9D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DF605-9149-445C-8F83-5ADB5C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北斗坐标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时间、定位质量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3E6C-605F-4F40-A641-5A9029C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D7588-4B3A-4A2B-96FC-811EEC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区域划分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DCD65-CD77-4124-8F24-BB4654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344C-9095-41DE-9C9A-26096EF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location_id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风险标签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A5BB-6D8C-46CD-8253-100CC3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1C6-FBF1-4910-82F9-D064454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85A14-D81D-4A4C-B0E3-9D61E4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81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诊断结果 → 回放预算建议 + 重点复飞坐标 + 人工复核任务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2541-DAF2-49CC-871B-7C2BDC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rPr>
              <a:t>经纬度不直接输入分类网络，避免模型把地点当成类别捷径。</a:t>
            </a:r>
          </a:p>
        </p:txBody>
      </p:sp>
    </p:spTree>
    <p:extLst>
      <p:ext uri="{BB962C8B-B14F-4D97-AF65-F5344CB8AC3E}">
        <p14:creationId xmlns:p14="http://schemas.microsoft.com/office/powerpoint/2010/main" val="12389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A9C40-9AF9-4A67-AA2C-0066FB5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748D-AF9B-4B76-8D8A-2C7ED8E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三层稳健知识回放，抑制持续学习遗忘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5F0F-C7F8-4E7A-B357-B6BE3E1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5661-5C1B-4374-A346-5A4862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5E92-5600-4292-9265-98712E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1BD1-CC0B-4CDE-91D9-1F4BFD3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57B46-1BD9-4E52-96DA-5D97BC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6750-6C31-43D1-841C-003FDB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新类别确认样本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历史知识表征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增量任务序列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固定存储预算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D203-2091-4EF6-9602-C64CC26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57350"/>
            <a:ext cx="4152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43A-7EF9-472A-A591-744D5BD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rPr>
              <a:t>私有算法黑盒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AE03-5325-468C-930B-92AD65D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007C-284A-4C7C-8122-7A60EF1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059"/>
          </a:solidFill>
          <a:ln xmlns:a="http://schemas.openxmlformats.org/drawingml/2006/main" w="0">
            <a:solidFill>
              <a:srgbClr val="3B70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31A1-406C-48FF-B223-FF4DE93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1 语义层：保留类别关键信息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2 因果层：抑制光照与视角干扰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3 调度层：在固定预算内平衡新旧知识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C8B-3E85-4C4A-963B-BDF304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25CA-2FDB-499E-AED3-425DA24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AEAC-A926-4027-BE3C-304F71B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候选新模型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准确率与遗忘率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分区诊断结果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发布 / 回滚结论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1E06-A1B2-49B4-A21A-55646E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对外提供接口和脱敏结果；训练源码与权重保留在算法负责人侧。</a:t>
            </a:r>
          </a:p>
        </p:txBody>
      </p:sp>
    </p:spTree>
    <p:extLst>
      <p:ext uri="{BB962C8B-B14F-4D97-AF65-F5344CB8AC3E}">
        <p14:creationId xmlns:p14="http://schemas.microsoft.com/office/powerpoint/2010/main" val="95705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项目创新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三项创新把通用持续学习变成北斗巡检方案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时空索引与局部诊断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图像与北斗坐标绑定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按地理区域统计性能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发现局部失效而非只看均值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C2D16-89E3-4E0B-BB81-DE86EC2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D395-773D-41E9-92D3-D66D595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输出重点复飞坐标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8A68E-78BE-4F84-AABF-8B1DF16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6412A-1B59-41C1-A0A7-B67701C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形成可视化风险地图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风险预算与任务调度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固定存储预算约束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高风险区域优先建议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平衡证据留存与训练曝光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0A34-D932-4526-B553-CA98BC9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8A67D-0CDE-4B73-BDFE-E810B94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输出重点样本清单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20D33-09EB-499F-872C-A77CFA4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24029-2CF3-4854-8141-4DD1C97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预留动态预算验证接口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类别增量持续学习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轻量知识表征缓存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因果约束抑制干扰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6F37-0618-4CE9-B55F-F4F9DD1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4805D-AE5E-48C4-B4C3-49CCF2E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新旧知识平衡更新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B8A87-B899-4430-A9C9-524EED3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01EBA-7883-4E2C-AAC4-CF95A1C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核心算法黑盒部署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北斗提供空间上下文，算法保持识别能力，平台把诊断转化为巡检任务。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产品原型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原型已经能把诊断结果变成任务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评委可直接看到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航线与区域风险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样本位置和识别结果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高风险区域排序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重点复飞建议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正式诊断报告导出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d132227b1401f"/>
          <a:srcRect xmlns:a="http://schemas.openxmlformats.org/drawingml/2006/main" l="0" t="15217" r="0" b="15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05400" y="1504950"/>
            <a:ext cx="6572250" cy="28575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地图联动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航线、观察点、分区风险与复飞建议在同一页面呈现</a:t>
            </a:r>
          </a:p>
        </p:txBody>
      </p:sp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B29D7-2DB2-4277-BC78-198D724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7518-9097-42BF-A323-D936284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同一设置下，三层方法更稳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C3C7-411B-4768-AD31-39E043E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62293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681c8e980049f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4ADF-6A0E-42FC-872B-C789CEE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DF5F-891B-4FD7-A8B1-90026A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+12.11pp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D7D1-D1BC-480C-B0F8-F895380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最终识别率提升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430AA-9D8D-4C0E-954E-C1F041E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0E65-FA73-4909-877E-17C8A2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-19.23pp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F34A-6AE2-4D89-ACD3-7FA2BD9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平均遗忘率下降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C599-6961-48C3-A2D7-BB54C74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数据规模：4301 条预测 · 10 类 · 5 任务 · 固定预算 600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7D65-ECB5-4B4F-A1B7-4DF3F5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边界：公开数据 + 虚拟北斗坐标，不代表真实无人机和北斗终端性能。</a:t>
            </a:r>
          </a:p>
        </p:txBody>
      </p:sp>
    </p:spTree>
    <p:extLst>
      <p:ext uri="{BB962C8B-B14F-4D97-AF65-F5344CB8AC3E}">
        <p14:creationId xmlns:p14="http://schemas.microsoft.com/office/powerpoint/2010/main" val="1055524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验证路线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从公开数据仿真走向真实巡检验证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10类5任务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固定预算对比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风险诊断原型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场景适配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接入真实任务包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校准坐标质量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补充电力目标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服务器部署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任务闭环联调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复飞建议验证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规模化推广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多航线与多区域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模型版本管理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行业场景复制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项目主线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 → 场景数据接入 → 工程试点 → 行业复制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北斗负责时空索引和任务定位，AI负责识别与持续更新，平台把两者变成可执行的巡检决策。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2026-08-06T10:11:50.5910000Z</dcterms:created>
  <dcterms:modified xsi:type="dcterms:W3CDTF">2026-08-06T10:11:50.5910000Z</dcterms:modified>
</coreProperties>
</file>